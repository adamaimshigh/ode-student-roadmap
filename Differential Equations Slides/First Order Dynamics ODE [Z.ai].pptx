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image" Target="../media/image-25-13.png"/><Relationship Id="rId14" Type="http://schemas.openxmlformats.org/officeDocument/2006/relationships/image" Target="../media/image-25-14.png"/><Relationship Id="rId15" Type="http://schemas.openxmlformats.org/officeDocument/2006/relationships/slideLayout" Target="../slideLayouts/slideLayout1.xml"/><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
          </a:blip>
          <a:stretch>
            <a:fillRect/>
          </a:stretch>
        </p:blipFill>
        <p:spPr>
          <a:xfrm>
            <a:off x="0" y="0"/>
            <a:ext cx="9144000" cy="5143500"/>
          </a:xfrm>
          <a:prstGeom prst="rect">
            <a:avLst/>
          </a:prstGeom>
        </p:spPr>
      </p:pic>
      <p:sp>
        <p:nvSpPr>
          <p:cNvPr id="3" name="Shape 0"/>
          <p:cNvSpPr/>
          <p:nvPr/>
        </p:nvSpPr>
        <p:spPr>
          <a:xfrm>
            <a:off x="796528" y="3898255"/>
            <a:ext cx="0" cy="745182"/>
          </a:xfrm>
          <a:prstGeom prst="line">
            <a:avLst/>
          </a:prstGeom>
          <a:noFill/>
          <a:ln w="21431">
            <a:solidFill>
              <a:srgbClr val="1A2A4F"/>
            </a:solidFill>
            <a:prstDash val="solid"/>
          </a:ln>
        </p:spPr>
      </p:sp>
      <p:sp>
        <p:nvSpPr>
          <p:cNvPr id="4" name="Text 1"/>
          <p:cNvSpPr/>
          <p:nvPr/>
        </p:nvSpPr>
        <p:spPr>
          <a:xfrm>
            <a:off x="785813" y="600075"/>
            <a:ext cx="8286179" cy="164592"/>
          </a:xfrm>
          <a:prstGeom prst="rect">
            <a:avLst/>
          </a:prstGeom>
          <a:noFill/>
          <a:ln/>
        </p:spPr>
        <p:txBody>
          <a:bodyPr wrap="square" lIns="0" tIns="0" rIns="0" bIns="0" rtlCol="0" anchor="t"/>
          <a:lstStyle/>
          <a:p>
            <a:pPr algn="l" indent="0" marL="0">
              <a:lnSpc>
                <a:spcPts val="1181"/>
              </a:lnSpc>
              <a:buNone/>
            </a:pPr>
            <a:r>
              <a:rPr lang="en-US" sz="800" b="1" spc="173" kern="0" dirty="0">
                <a:solidFill>
                  <a:srgbClr val="1F61C9"/>
                </a:solidFill>
                <a:latin typeface="Liberation Sans Narrow" pitchFamily="34" charset="0"/>
                <a:ea typeface="Liberation Sans Narrow" pitchFamily="34" charset="-122"/>
                <a:cs typeface="Liberation Sans Narrow" pitchFamily="34" charset="-120"/>
              </a:rPr>
              <a:t>STAPLES EDUCATION · MODULE 01</a:t>
            </a:r>
            <a:endParaRPr lang="en-US" sz="800" dirty="0"/>
          </a:p>
        </p:txBody>
      </p:sp>
      <p:sp>
        <p:nvSpPr>
          <p:cNvPr id="5" name="Text 2"/>
          <p:cNvSpPr/>
          <p:nvPr/>
        </p:nvSpPr>
        <p:spPr>
          <a:xfrm>
            <a:off x="785813" y="907256"/>
            <a:ext cx="7672388" cy="1112666"/>
          </a:xfrm>
          <a:prstGeom prst="rect">
            <a:avLst/>
          </a:prstGeom>
          <a:noFill/>
          <a:ln/>
        </p:spPr>
        <p:txBody>
          <a:bodyPr wrap="square" lIns="0" tIns="0" rIns="0" bIns="0" rtlCol="0" anchor="t">
            <a:normAutofit/>
          </a:bodyPr>
          <a:lstStyle/>
          <a:p>
            <a:pPr algn="l" indent="0" marL="0">
              <a:lnSpc>
                <a:spcPts val="4095"/>
              </a:lnSpc>
              <a:buNone/>
            </a:pPr>
            <a:r>
              <a:rPr lang="en-US" sz="3938" b="1" spc="-79" kern="0" dirty="0">
                <a:solidFill>
                  <a:srgbClr val="1A2A4F"/>
                </a:solidFill>
                <a:latin typeface="Carlito" pitchFamily="34" charset="0"/>
                <a:ea typeface="Carlito" pitchFamily="34" charset="-122"/>
                <a:cs typeface="Carlito" pitchFamily="34" charset="-120"/>
              </a:rPr>
              <a:t>Ordinary Differential Equations</a:t>
            </a:r>
            <a:endParaRPr lang="en-US" sz="3938" dirty="0"/>
          </a:p>
        </p:txBody>
      </p:sp>
      <p:sp>
        <p:nvSpPr>
          <p:cNvPr id="6" name="Text 3"/>
          <p:cNvSpPr/>
          <p:nvPr/>
        </p:nvSpPr>
        <p:spPr>
          <a:xfrm>
            <a:off x="785813" y="2047354"/>
            <a:ext cx="8286179" cy="370332"/>
          </a:xfrm>
          <a:prstGeom prst="rect">
            <a:avLst/>
          </a:prstGeom>
          <a:noFill/>
          <a:ln/>
        </p:spPr>
        <p:txBody>
          <a:bodyPr wrap="square" lIns="0" tIns="0" rIns="0" bIns="0" rtlCol="0" anchor="t"/>
          <a:lstStyle/>
          <a:p>
            <a:pPr algn="l" indent="0" marL="0">
              <a:lnSpc>
                <a:spcPts val="2700"/>
              </a:lnSpc>
              <a:buNone/>
            </a:pPr>
            <a:r>
              <a:rPr lang="en-US" sz="1800" i="1" spc="-9" kern="0" dirty="0">
                <a:solidFill>
                  <a:srgbClr val="1F61C9"/>
                </a:solidFill>
                <a:latin typeface="Carlito" pitchFamily="34" charset="0"/>
                <a:ea typeface="Carlito" pitchFamily="34" charset="-122"/>
                <a:cs typeface="Carlito" pitchFamily="34" charset="-120"/>
              </a:rPr>
              <a:t>Mastering First-Order Dynamics</a:t>
            </a:r>
            <a:endParaRPr lang="en-US" sz="1800" dirty="0"/>
          </a:p>
        </p:txBody>
      </p:sp>
      <p:sp>
        <p:nvSpPr>
          <p:cNvPr id="7" name="Text 4"/>
          <p:cNvSpPr/>
          <p:nvPr/>
        </p:nvSpPr>
        <p:spPr>
          <a:xfrm>
            <a:off x="785813" y="2561704"/>
            <a:ext cx="571500" cy="14288"/>
          </a:xfrm>
          <a:prstGeom prst="rect">
            <a:avLst/>
          </a:prstGeom>
          <a:solidFill>
            <a:srgbClr val="1A2A4F"/>
          </a:solidFill>
          <a:ln/>
        </p:spPr>
        <p:txBody>
          <a:bodyPr wrap="square" rtlCol="0" anchor="ctr"/>
          <a:lstStyle/>
          <a:p>
            <a:pPr indent="0" marL="0">
              <a:buNone/>
            </a:pPr>
            <a:endParaRPr lang="en-US" dirty="0"/>
          </a:p>
        </p:txBody>
      </p:sp>
      <p:sp>
        <p:nvSpPr>
          <p:cNvPr id="8" name="Text 5"/>
          <p:cNvSpPr/>
          <p:nvPr/>
        </p:nvSpPr>
        <p:spPr>
          <a:xfrm>
            <a:off x="785813" y="3898255"/>
            <a:ext cx="7429500" cy="804797"/>
          </a:xfrm>
          <a:prstGeom prst="rect">
            <a:avLst/>
          </a:prstGeom>
          <a:noFill/>
          <a:ln/>
        </p:spPr>
        <p:txBody>
          <a:bodyPr wrap="square" lIns="171450" tIns="57150" rIns="0" bIns="57150" rtlCol="0" anchor="t"/>
          <a:lstStyle/>
          <a:p>
            <a:pPr algn="l" indent="0" marL="0">
              <a:lnSpc>
                <a:spcPts val="1657"/>
              </a:lnSpc>
              <a:buNone/>
            </a:pPr>
            <a:r>
              <a:rPr lang="en-US" sz="1069" i="1" dirty="0">
                <a:solidFill>
                  <a:srgbClr val="14171F"/>
                </a:solidFill>
                <a:latin typeface="Tinos" pitchFamily="34" charset="0"/>
                <a:ea typeface="Tinos" pitchFamily="34" charset="-122"/>
                <a:cs typeface="Tinos" pitchFamily="34" charset="-120"/>
              </a:rPr>
              <a:t>"In your prior mathematical experience, an equation asked: 'What number is this?' A differential equation asks: 'How is this system changing?' The philosophical leap from algebra to differential equations is the leap from statics to dynamics. Nature does not hand us finished states; she hands us laws of change."</a:t>
            </a:r>
            <a:endParaRPr lang="en-US" sz="1069" dirty="0"/>
          </a:p>
        </p:txBody>
      </p:sp>
      <p:sp>
        <p:nvSpPr>
          <p:cNvPr id="9" name="Text 6"/>
          <p:cNvSpPr/>
          <p:nvPr/>
        </p:nvSpPr>
        <p:spPr>
          <a:xfrm>
            <a:off x="6998250" y="457200"/>
            <a:ext cx="1459950" cy="146809"/>
          </a:xfrm>
          <a:prstGeom prst="rect">
            <a:avLst/>
          </a:prstGeom>
          <a:noFill/>
          <a:ln/>
        </p:spPr>
        <p:txBody>
          <a:bodyPr wrap="none" lIns="0" tIns="0" rIns="0" bIns="0" rtlCol="0" anchor="t">
            <a:normAutofit/>
          </a:bodyPr>
          <a:lstStyle/>
          <a:p>
            <a:pPr algn="r" indent="0" marL="0">
              <a:lnSpc>
                <a:spcPts val="1260"/>
              </a:lnSpc>
              <a:buNone/>
            </a:pPr>
            <a:r>
              <a:rPr lang="en-US" sz="900" dirty="0">
                <a:solidFill>
                  <a:srgbClr val="14171F"/>
                </a:solidFill>
                <a:latin typeface="Carlito" pitchFamily="34" charset="0"/>
                <a:ea typeface="Carlito" pitchFamily="34" charset="-122"/>
                <a:cs typeface="Carlito" pitchFamily="34" charset="-120"/>
              </a:rPr>
              <a:t>Author: Adam Staples</a:t>
            </a:r>
            <a:endParaRPr lang="en-US" sz="900" dirty="0"/>
          </a:p>
        </p:txBody>
      </p:sp>
      <p:sp>
        <p:nvSpPr>
          <p:cNvPr id="10" name="Text 7"/>
          <p:cNvSpPr/>
          <p:nvPr/>
        </p:nvSpPr>
        <p:spPr>
          <a:xfrm>
            <a:off x="6998250" y="631441"/>
            <a:ext cx="1459950" cy="153570"/>
          </a:xfrm>
          <a:prstGeom prst="rect">
            <a:avLst/>
          </a:prstGeom>
          <a:noFill/>
          <a:ln/>
        </p:spPr>
        <p:txBody>
          <a:bodyPr wrap="none" lIns="0" tIns="0" rIns="0" bIns="0" rtlCol="0" anchor="t"/>
          <a:lstStyle/>
          <a:p>
            <a:pPr algn="r" indent="0" marL="0">
              <a:lnSpc>
                <a:spcPts val="1103"/>
              </a:lnSpc>
              <a:buNone/>
            </a:pPr>
            <a:r>
              <a:rPr lang="en-US" sz="800" dirty="0">
                <a:solidFill>
                  <a:srgbClr val="4A5160"/>
                </a:solidFill>
                <a:latin typeface="Carlito" pitchFamily="34" charset="0"/>
                <a:ea typeface="Carlito" pitchFamily="34" charset="-122"/>
                <a:cs typeface="Carlito" pitchFamily="34" charset="-120"/>
              </a:rPr>
              <a:t>Staples Education</a:t>
            </a:r>
            <a:endParaRPr lang="en-US" sz="800" dirty="0"/>
          </a:p>
        </p:txBody>
      </p:sp>
      <p:sp>
        <p:nvSpPr>
          <p:cNvPr id="11" name="Text 8"/>
          <p:cNvSpPr/>
          <p:nvPr/>
        </p:nvSpPr>
        <p:spPr>
          <a:xfrm>
            <a:off x="8232279" y="4857750"/>
            <a:ext cx="560542" cy="164592"/>
          </a:xfrm>
          <a:prstGeom prst="rect">
            <a:avLst/>
          </a:prstGeom>
          <a:noFill/>
          <a:ln/>
        </p:spPr>
        <p:txBody>
          <a:bodyPr wrap="none" lIns="0" tIns="0" rIns="0" bIns="0" rtlCol="0" anchor="t"/>
          <a:lstStyle/>
          <a:p>
            <a:pPr algn="l" indent="0" marL="0">
              <a:lnSpc>
                <a:spcPts val="1013"/>
              </a:lnSpc>
              <a:buNone/>
            </a:pPr>
            <a:r>
              <a:rPr lang="en-US" sz="800" spc="41" kern="0" dirty="0">
                <a:solidFill>
                  <a:srgbClr val="4A5160"/>
                </a:solidFill>
                <a:latin typeface="Liberation Sans Narrow" pitchFamily="34" charset="0"/>
                <a:ea typeface="Liberation Sans Narrow" pitchFamily="34" charset="-122"/>
                <a:cs typeface="Liberation Sans Narrow" pitchFamily="34" charset="-120"/>
              </a:rPr>
              <a:t>01 / 20</a:t>
            </a:r>
            <a:endParaRPr lang="en-US" sz="800" dirty="0"/>
          </a:p>
        </p:txBody>
      </p:sp>
      <p:pic>
        <p:nvPicPr>
          <p:cNvPr id="12"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A4F"/>
        </a:solidFill>
      </p:bgPr>
    </p:bg>
    <p:spTree>
      <p:nvGrpSpPr>
        <p:cNvPr id="1" name=""/>
        <p:cNvGrpSpPr/>
        <p:nvPr/>
      </p:nvGrpSpPr>
      <p:grpSpPr>
        <a:xfrm>
          <a:off x="0" y="0"/>
          <a:ext cx="0" cy="0"/>
          <a:chOff x="0" y="0"/>
          <a:chExt cx="0" cy="0"/>
        </a:xfrm>
      </p:grpSpPr>
      <p:sp>
        <p:nvSpPr>
          <p:cNvPr id="2" name="Text 0"/>
          <p:cNvSpPr/>
          <p:nvPr/>
        </p:nvSpPr>
        <p:spPr>
          <a:xfrm>
            <a:off x="5948958" y="257175"/>
            <a:ext cx="3195042" cy="2160270"/>
          </a:xfrm>
          <a:prstGeom prst="rect">
            <a:avLst/>
          </a:prstGeom>
          <a:noFill/>
          <a:ln/>
        </p:spPr>
        <p:txBody>
          <a:bodyPr wrap="none" lIns="0" tIns="0" rIns="0" bIns="0" rtlCol="0" anchor="t"/>
          <a:lstStyle/>
          <a:p>
            <a:pPr algn="l" indent="0" marL="0">
              <a:lnSpc>
                <a:spcPts val="15750"/>
              </a:lnSpc>
              <a:buNone/>
            </a:pPr>
            <a:r>
              <a:rPr lang="en-US" sz="15750" b="1" spc="-630" kern="0" dirty="0">
                <a:solidFill>
                  <a:srgbClr val="FFFFFF">
                    <a:alpha val="12000"/>
                  </a:srgbClr>
                </a:solidFill>
                <a:latin typeface="Liberation Sans Narrow" pitchFamily="34" charset="0"/>
                <a:ea typeface="Liberation Sans Narrow" pitchFamily="34" charset="-122"/>
                <a:cs typeface="Liberation Sans Narrow" pitchFamily="34" charset="-120"/>
              </a:rPr>
              <a:t>01</a:t>
            </a:r>
            <a:endParaRPr lang="en-US" sz="15750" dirty="0"/>
          </a:p>
        </p:txBody>
      </p:sp>
      <p:sp>
        <p:nvSpPr>
          <p:cNvPr id="3" name="Text 1"/>
          <p:cNvSpPr/>
          <p:nvPr/>
        </p:nvSpPr>
        <p:spPr>
          <a:xfrm>
            <a:off x="685800" y="457200"/>
            <a:ext cx="1712516" cy="164592"/>
          </a:xfrm>
          <a:prstGeom prst="rect">
            <a:avLst/>
          </a:prstGeom>
          <a:noFill/>
          <a:ln/>
        </p:spPr>
        <p:txBody>
          <a:bodyPr wrap="none" lIns="0" tIns="0" rIns="0" bIns="0" rtlCol="0" anchor="t"/>
          <a:lstStyle/>
          <a:p>
            <a:pPr algn="l" indent="0" marL="0">
              <a:lnSpc>
                <a:spcPts val="1181"/>
              </a:lnSpc>
              <a:buNone/>
            </a:pPr>
            <a:r>
              <a:rPr lang="en-US" sz="800" spc="173" kern="0" dirty="0">
                <a:solidFill>
                  <a:srgbClr val="FFFFFF">
                    <a:alpha val="85000"/>
                  </a:srgbClr>
                </a:solidFill>
                <a:latin typeface="Liberation Sans Narrow" pitchFamily="34" charset="0"/>
                <a:ea typeface="Liberation Sans Narrow" pitchFamily="34" charset="-122"/>
                <a:cs typeface="Liberation Sans Narrow" pitchFamily="34" charset="-120"/>
              </a:rPr>
              <a:t>CHAPTER 01 / 05</a:t>
            </a:r>
            <a:endParaRPr lang="en-US" sz="800" dirty="0"/>
          </a:p>
        </p:txBody>
      </p:sp>
      <p:sp>
        <p:nvSpPr>
          <p:cNvPr id="4" name="Text 2"/>
          <p:cNvSpPr/>
          <p:nvPr/>
        </p:nvSpPr>
        <p:spPr>
          <a:xfrm>
            <a:off x="685800" y="2000250"/>
            <a:ext cx="6572250" cy="1066392"/>
          </a:xfrm>
          <a:prstGeom prst="rect">
            <a:avLst/>
          </a:prstGeom>
          <a:noFill/>
          <a:ln/>
        </p:spPr>
        <p:txBody>
          <a:bodyPr wrap="square" lIns="0" tIns="0" rIns="0" bIns="0" rtlCol="0" anchor="t"/>
          <a:lstStyle/>
          <a:p>
            <a:pPr algn="l" indent="0" marL="0">
              <a:lnSpc>
                <a:spcPts val="3888"/>
              </a:lnSpc>
              <a:buNone/>
            </a:pPr>
            <a:r>
              <a:rPr lang="en-US" sz="3600" b="1" spc="-65" kern="0" dirty="0">
                <a:solidFill>
                  <a:srgbClr val="FFFFFF"/>
                </a:solidFill>
                <a:latin typeface="Carlito" pitchFamily="34" charset="0"/>
                <a:ea typeface="Carlito" pitchFamily="34" charset="-122"/>
                <a:cs typeface="Carlito" pitchFamily="34" charset="-120"/>
              </a:rPr>
              <a:t>Foundations &amp; Conceptualization</a:t>
            </a:r>
            <a:endParaRPr lang="en-US" sz="3600" dirty="0"/>
          </a:p>
        </p:txBody>
      </p:sp>
      <p:sp>
        <p:nvSpPr>
          <p:cNvPr id="5" name="Text 3"/>
          <p:cNvSpPr/>
          <p:nvPr/>
        </p:nvSpPr>
        <p:spPr>
          <a:xfrm>
            <a:off x="685800" y="3144813"/>
            <a:ext cx="6286500" cy="536933"/>
          </a:xfrm>
          <a:prstGeom prst="rect">
            <a:avLst/>
          </a:prstGeom>
          <a:noFill/>
          <a:ln/>
        </p:spPr>
        <p:txBody>
          <a:bodyPr wrap="square" lIns="0" tIns="0" rIns="0" bIns="0" rtlCol="0" anchor="t"/>
          <a:lstStyle/>
          <a:p>
            <a:pPr algn="l" indent="0" marL="0">
              <a:lnSpc>
                <a:spcPts val="1958"/>
              </a:lnSpc>
              <a:buNone/>
            </a:pPr>
            <a:r>
              <a:rPr lang="en-US" sz="1350" i="1" dirty="0">
                <a:solidFill>
                  <a:srgbClr val="FFFFFF">
                    <a:alpha val="80000"/>
                  </a:srgbClr>
                </a:solidFill>
                <a:latin typeface="Carlito" pitchFamily="34" charset="0"/>
                <a:ea typeface="Carlito" pitchFamily="34" charset="-122"/>
                <a:cs typeface="Carlito" pitchFamily="34" charset="-120"/>
              </a:rPr>
              <a:t>The native language of science — what an ODE is, why it differs from algebra, and the vocabulary we will use throughout the course.</a:t>
            </a:r>
            <a:endParaRPr lang="en-US" sz="1350" dirty="0"/>
          </a:p>
        </p:txBody>
      </p:sp>
      <p:sp>
        <p:nvSpPr>
          <p:cNvPr id="6" name="Text 4"/>
          <p:cNvSpPr/>
          <p:nvPr/>
        </p:nvSpPr>
        <p:spPr>
          <a:xfrm>
            <a:off x="685800" y="3870573"/>
            <a:ext cx="571500" cy="21431"/>
          </a:xfrm>
          <a:prstGeom prst="rect">
            <a:avLst/>
          </a:prstGeom>
          <a:solidFill>
            <a:srgbClr val="E07B00"/>
          </a:solidFill>
          <a:ln/>
        </p:spPr>
        <p:txBody>
          <a:bodyPr wrap="square" rtlCol="0" anchor="ctr"/>
          <a:lstStyle/>
          <a:p>
            <a:pPr indent="0" marL="0">
              <a:buNone/>
            </a:pPr>
            <a:endParaRPr lang="en-US" dirty="0"/>
          </a:p>
        </p:txBody>
      </p:sp>
      <p:sp>
        <p:nvSpPr>
          <p:cNvPr id="7" name="Text 5"/>
          <p:cNvSpPr/>
          <p:nvPr/>
        </p:nvSpPr>
        <p:spPr>
          <a:xfrm>
            <a:off x="7564338" y="4604147"/>
            <a:ext cx="1211015" cy="164592"/>
          </a:xfrm>
          <a:prstGeom prst="rect">
            <a:avLst/>
          </a:prstGeom>
          <a:noFill/>
          <a:ln/>
        </p:spPr>
        <p:txBody>
          <a:bodyPr wrap="none" lIns="0" tIns="0" rIns="0" bIns="0" rtlCol="0" anchor="t"/>
          <a:lstStyle/>
          <a:p>
            <a:pPr algn="l" indent="0" marL="0">
              <a:lnSpc>
                <a:spcPts val="1097"/>
              </a:lnSpc>
              <a:buNone/>
            </a:pPr>
            <a:r>
              <a:rPr lang="en-US" sz="800" spc="146" kern="0" dirty="0">
                <a:solidFill>
                  <a:srgbClr val="FFFFFF">
                    <a:alpha val="60000"/>
                  </a:srgbClr>
                </a:solidFill>
                <a:latin typeface="Liberation Sans Narrow" pitchFamily="34" charset="0"/>
                <a:ea typeface="Liberation Sans Narrow" pitchFamily="34" charset="-122"/>
                <a:cs typeface="Liberation Sans Narrow" pitchFamily="34" charset="-120"/>
              </a:rPr>
              <a:t>SLIDES 03–05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3997223"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Carlito" pitchFamily="34" charset="0"/>
                <a:ea typeface="Carlito" pitchFamily="34" charset="-122"/>
                <a:cs typeface="Carlito" pitchFamily="34" charset="-120"/>
              </a:rPr>
              <a:t>MODULE 1 · FOUNDATIONS &amp; CONCEPTUALIZATION</a:t>
            </a:r>
            <a:endParaRPr lang="en-US" sz="844" dirty="0"/>
          </a:p>
        </p:txBody>
      </p:sp>
      <p:sp>
        <p:nvSpPr>
          <p:cNvPr id="3" name="Text 1"/>
          <p:cNvSpPr/>
          <p:nvPr/>
        </p:nvSpPr>
        <p:spPr>
          <a:xfrm>
            <a:off x="685800" y="701873"/>
            <a:ext cx="7943850" cy="319339"/>
          </a:xfrm>
          <a:prstGeom prst="rect">
            <a:avLst/>
          </a:prstGeom>
          <a:noFill/>
          <a:ln/>
        </p:spPr>
        <p:txBody>
          <a:bodyPr wrap="square" lIns="0" tIns="0" rIns="0" bIns="0" rtlCol="0" anchor="t"/>
          <a:lstStyle/>
          <a:p>
            <a:pPr algn="l" indent="0" marL="0">
              <a:lnSpc>
                <a:spcPts val="2329"/>
              </a:lnSpc>
              <a:buNone/>
            </a:pPr>
            <a:r>
              <a:rPr lang="en-US" sz="2025" b="1" spc="-24" kern="0" dirty="0">
                <a:solidFill>
                  <a:srgbClr val="1A2A4F"/>
                </a:solidFill>
                <a:latin typeface="Carlito" pitchFamily="34" charset="0"/>
                <a:ea typeface="Carlito" pitchFamily="34" charset="-122"/>
                <a:cs typeface="Carlito" pitchFamily="34" charset="-120"/>
              </a:rPr>
              <a:t>The Native Language of Science</a:t>
            </a:r>
            <a:endParaRPr lang="en-US" sz="2025" dirty="0"/>
          </a:p>
        </p:txBody>
      </p:sp>
      <p:sp>
        <p:nvSpPr>
          <p:cNvPr id="4" name="Text 2"/>
          <p:cNvSpPr/>
          <p:nvPr/>
        </p:nvSpPr>
        <p:spPr>
          <a:xfrm>
            <a:off x="685800" y="1097570"/>
            <a:ext cx="7858125" cy="394442"/>
          </a:xfrm>
          <a:prstGeom prst="rect">
            <a:avLst/>
          </a:prstGeom>
          <a:noFill/>
          <a:ln/>
        </p:spPr>
        <p:txBody>
          <a:bodyPr wrap="square" lIns="0" tIns="0" rIns="0" bIns="0" rtlCol="0" anchor="t"/>
          <a:lstStyle/>
          <a:p>
            <a:pPr algn="l" indent="0" marL="0">
              <a:lnSpc>
                <a:spcPts val="1439"/>
              </a:lnSpc>
              <a:buNone/>
            </a:pPr>
            <a:r>
              <a:rPr lang="en-US" sz="928" dirty="0">
                <a:solidFill>
                  <a:srgbClr val="14171F"/>
                </a:solidFill>
                <a:latin typeface="Carlito" pitchFamily="34" charset="0"/>
                <a:ea typeface="Carlito" pitchFamily="34" charset="-122"/>
                <a:cs typeface="Carlito" pitchFamily="34" charset="-120"/>
              </a:rPr>
              <a:t>To do science quantitatively, one must learn the grammar of rate laws. Where algebra asks for an unknown number, a differential equation asks for an unknown function — the trajectory of a system evolving in time. Three canonical examples span the sciences:</a:t>
            </a:r>
            <a:endParaRPr lang="en-US" sz="928" dirty="0"/>
          </a:p>
        </p:txBody>
      </p:sp>
      <p:sp>
        <p:nvSpPr>
          <p:cNvPr id="5" name="Text 3"/>
          <p:cNvSpPr/>
          <p:nvPr/>
        </p:nvSpPr>
        <p:spPr>
          <a:xfrm>
            <a:off x="685800" y="1591382"/>
            <a:ext cx="2562151" cy="1510345"/>
          </a:xfrm>
          <a:prstGeom prst="roundRect">
            <a:avLst>
              <a:gd name="adj" fmla="val 3784"/>
            </a:avLst>
          </a:prstGeom>
          <a:solidFill>
            <a:srgbClr val="F6F7FB"/>
          </a:solidFill>
          <a:ln/>
        </p:spPr>
        <p:txBody>
          <a:bodyPr wrap="square" rtlCol="0" anchor="ctr"/>
          <a:lstStyle/>
          <a:p>
            <a:pPr indent="0" marL="0">
              <a:buNone/>
            </a:pPr>
            <a:endParaRPr lang="en-US" dirty="0"/>
          </a:p>
        </p:txBody>
      </p:sp>
      <p:sp>
        <p:nvSpPr>
          <p:cNvPr id="6" name="Shape 4"/>
          <p:cNvSpPr/>
          <p:nvPr/>
        </p:nvSpPr>
        <p:spPr>
          <a:xfrm>
            <a:off x="685800" y="1602098"/>
            <a:ext cx="2562151" cy="0"/>
          </a:xfrm>
          <a:prstGeom prst="line">
            <a:avLst/>
          </a:prstGeom>
          <a:noFill/>
          <a:ln w="21431">
            <a:solidFill>
              <a:srgbClr val="1F61C9"/>
            </a:solidFill>
            <a:prstDash val="solid"/>
          </a:ln>
        </p:spPr>
      </p:sp>
      <p:sp>
        <p:nvSpPr>
          <p:cNvPr id="7" name="Shape 5"/>
          <p:cNvSpPr/>
          <p:nvPr/>
        </p:nvSpPr>
        <p:spPr>
          <a:xfrm>
            <a:off x="3244379" y="1591382"/>
            <a:ext cx="0" cy="1510345"/>
          </a:xfrm>
          <a:prstGeom prst="line">
            <a:avLst/>
          </a:prstGeom>
          <a:noFill/>
          <a:ln w="7144">
            <a:solidFill>
              <a:srgbClr val="E3E6EE"/>
            </a:solidFill>
            <a:prstDash val="solid"/>
          </a:ln>
        </p:spPr>
      </p:sp>
      <p:sp>
        <p:nvSpPr>
          <p:cNvPr id="8" name="Shape 6"/>
          <p:cNvSpPr/>
          <p:nvPr/>
        </p:nvSpPr>
        <p:spPr>
          <a:xfrm>
            <a:off x="685800" y="3098155"/>
            <a:ext cx="2562151" cy="0"/>
          </a:xfrm>
          <a:prstGeom prst="line">
            <a:avLst/>
          </a:prstGeom>
          <a:noFill/>
          <a:ln w="7144">
            <a:solidFill>
              <a:srgbClr val="E3E6EE"/>
            </a:solidFill>
            <a:prstDash val="solid"/>
          </a:ln>
        </p:spPr>
      </p:sp>
      <p:sp>
        <p:nvSpPr>
          <p:cNvPr id="9" name="Shape 7"/>
          <p:cNvSpPr/>
          <p:nvPr/>
        </p:nvSpPr>
        <p:spPr>
          <a:xfrm>
            <a:off x="689372" y="1591382"/>
            <a:ext cx="0" cy="1510345"/>
          </a:xfrm>
          <a:prstGeom prst="line">
            <a:avLst/>
          </a:prstGeom>
          <a:noFill/>
          <a:ln w="7144">
            <a:solidFill>
              <a:srgbClr val="E3E6EE"/>
            </a:solidFill>
            <a:prstDash val="solid"/>
          </a:ln>
        </p:spPr>
      </p:sp>
      <p:sp>
        <p:nvSpPr>
          <p:cNvPr id="10" name="Text 8"/>
          <p:cNvSpPr/>
          <p:nvPr/>
        </p:nvSpPr>
        <p:spPr>
          <a:xfrm>
            <a:off x="821531" y="1712826"/>
            <a:ext cx="2400416" cy="158306"/>
          </a:xfrm>
          <a:prstGeom prst="rect">
            <a:avLst/>
          </a:prstGeom>
          <a:noFill/>
          <a:ln/>
        </p:spPr>
        <p:txBody>
          <a:bodyPr wrap="square" lIns="0" tIns="0" rIns="0" bIns="0" rtlCol="0" anchor="t">
            <a:normAutofit/>
          </a:bodyPr>
          <a:lstStyle/>
          <a:p>
            <a:pPr algn="l" indent="0" marL="0">
              <a:lnSpc>
                <a:spcPts val="1013"/>
              </a:lnSpc>
              <a:buNone/>
            </a:pPr>
            <a:r>
              <a:rPr lang="en-US" sz="800" b="1" spc="81" kern="0" dirty="0">
                <a:solidFill>
                  <a:srgbClr val="1F61C9"/>
                </a:solidFill>
                <a:latin typeface="Carlito" pitchFamily="34" charset="0"/>
                <a:ea typeface="Carlito" pitchFamily="34" charset="-122"/>
                <a:cs typeface="Carlito" pitchFamily="34" charset="-120"/>
              </a:rPr>
              <a:t>PHYSICS · NEWTONIAN MECHANICS</a:t>
            </a:r>
            <a:endParaRPr lang="en-US" sz="800" dirty="0"/>
          </a:p>
        </p:txBody>
      </p:sp>
      <p:sp>
        <p:nvSpPr>
          <p:cNvPr id="11" name="Text 9"/>
          <p:cNvSpPr/>
          <p:nvPr/>
        </p:nvSpPr>
        <p:spPr>
          <a:xfrm>
            <a:off x="821531" y="1898563"/>
            <a:ext cx="2290688" cy="162141"/>
          </a:xfrm>
          <a:prstGeom prst="rect">
            <a:avLst/>
          </a:prstGeom>
          <a:noFill/>
          <a:ln/>
        </p:spPr>
        <p:txBody>
          <a:bodyPr wrap="none" lIns="0" tIns="0" rIns="0" bIns="0" rtlCol="0" anchor="t"/>
          <a:lstStyle/>
          <a:p>
            <a:pPr algn="l" indent="0" marL="0">
              <a:lnSpc>
                <a:spcPts val="1183"/>
              </a:lnSpc>
              <a:buNone/>
            </a:pPr>
            <a:r>
              <a:rPr lang="en-US" sz="816" dirty="0">
                <a:solidFill>
                  <a:srgbClr val="14171F"/>
                </a:solidFill>
                <a:latin typeface="Carlito" pitchFamily="34" charset="0"/>
                <a:ea typeface="Carlito" pitchFamily="34" charset="-122"/>
                <a:cs typeface="Carlito" pitchFamily="34" charset="-120"/>
              </a:rPr>
              <a:t>A falling object obeys</a:t>
            </a:r>
            <a:endParaRPr lang="en-US" sz="816" dirty="0"/>
          </a:p>
        </p:txBody>
      </p:sp>
      <p:pic>
        <p:nvPicPr>
          <p:cNvPr id="12" name="Image 0" descr="/tmp/h2p-svg-1781853761979-kgq28c.png">    </p:cNvPr>
          <p:cNvPicPr>
            <a:picLocks noChangeAspect="1"/>
          </p:cNvPicPr>
          <p:nvPr/>
        </p:nvPicPr>
        <p:blipFill>
          <a:blip r:embed="rId1"/>
          <a:stretch>
            <a:fillRect/>
          </a:stretch>
        </p:blipFill>
        <p:spPr>
          <a:xfrm>
            <a:off x="1381758" y="2186880"/>
            <a:ext cx="1170124" cy="333970"/>
          </a:xfrm>
          <a:prstGeom prst="rect">
            <a:avLst/>
          </a:prstGeom>
        </p:spPr>
      </p:pic>
      <p:sp>
        <p:nvSpPr>
          <p:cNvPr id="13" name="Text 10"/>
          <p:cNvSpPr/>
          <p:nvPr/>
        </p:nvSpPr>
        <p:spPr>
          <a:xfrm>
            <a:off x="821531" y="2687613"/>
            <a:ext cx="2290688" cy="292671"/>
          </a:xfrm>
          <a:prstGeom prst="rect">
            <a:avLst/>
          </a:prstGeom>
          <a:noFill/>
          <a:ln/>
        </p:spPr>
        <p:txBody>
          <a:bodyPr wrap="square" lIns="0" tIns="0" rIns="0" bIns="0" rtlCol="0" anchor="t"/>
          <a:lstStyle/>
          <a:p>
            <a:pPr algn="l" indent="0" marL="0">
              <a:lnSpc>
                <a:spcPts val="1101"/>
              </a:lnSpc>
              <a:buNone/>
            </a:pPr>
            <a:r>
              <a:rPr lang="en-US" sz="800" dirty="0">
                <a:solidFill>
                  <a:srgbClr val="4A5160"/>
                </a:solidFill>
                <a:latin typeface="Carlito" pitchFamily="34" charset="0"/>
                <a:ea typeface="Carlito" pitchFamily="34" charset="-122"/>
                <a:cs typeface="Carlito" pitchFamily="34" charset="-120"/>
              </a:rPr>
              <a:t>The unknown is the function v(t), not a static number.</a:t>
            </a:r>
            <a:endParaRPr lang="en-US" sz="800" dirty="0"/>
          </a:p>
        </p:txBody>
      </p:sp>
      <p:sp>
        <p:nvSpPr>
          <p:cNvPr id="14" name="Text 11"/>
          <p:cNvSpPr/>
          <p:nvPr/>
        </p:nvSpPr>
        <p:spPr>
          <a:xfrm>
            <a:off x="3376538" y="1591382"/>
            <a:ext cx="2562262" cy="1510345"/>
          </a:xfrm>
          <a:prstGeom prst="roundRect">
            <a:avLst>
              <a:gd name="adj" fmla="val 3784"/>
            </a:avLst>
          </a:prstGeom>
          <a:solidFill>
            <a:srgbClr val="F6F7FB"/>
          </a:solidFill>
          <a:ln/>
        </p:spPr>
        <p:txBody>
          <a:bodyPr wrap="square" rtlCol="0" anchor="ctr"/>
          <a:lstStyle/>
          <a:p>
            <a:pPr indent="0" marL="0">
              <a:buNone/>
            </a:pPr>
            <a:endParaRPr lang="en-US" dirty="0"/>
          </a:p>
        </p:txBody>
      </p:sp>
      <p:sp>
        <p:nvSpPr>
          <p:cNvPr id="15" name="Shape 12"/>
          <p:cNvSpPr/>
          <p:nvPr/>
        </p:nvSpPr>
        <p:spPr>
          <a:xfrm>
            <a:off x="3376538" y="1602098"/>
            <a:ext cx="2562262" cy="0"/>
          </a:xfrm>
          <a:prstGeom prst="line">
            <a:avLst/>
          </a:prstGeom>
          <a:noFill/>
          <a:ln w="21431">
            <a:solidFill>
              <a:srgbClr val="1F61C9"/>
            </a:solidFill>
            <a:prstDash val="solid"/>
          </a:ln>
        </p:spPr>
      </p:sp>
      <p:sp>
        <p:nvSpPr>
          <p:cNvPr id="16" name="Shape 13"/>
          <p:cNvSpPr/>
          <p:nvPr/>
        </p:nvSpPr>
        <p:spPr>
          <a:xfrm>
            <a:off x="5935228" y="1591382"/>
            <a:ext cx="0" cy="1510345"/>
          </a:xfrm>
          <a:prstGeom prst="line">
            <a:avLst/>
          </a:prstGeom>
          <a:noFill/>
          <a:ln w="7144">
            <a:solidFill>
              <a:srgbClr val="E3E6EE"/>
            </a:solidFill>
            <a:prstDash val="solid"/>
          </a:ln>
        </p:spPr>
      </p:sp>
      <p:sp>
        <p:nvSpPr>
          <p:cNvPr id="17" name="Shape 14"/>
          <p:cNvSpPr/>
          <p:nvPr/>
        </p:nvSpPr>
        <p:spPr>
          <a:xfrm>
            <a:off x="3376538" y="3098155"/>
            <a:ext cx="2562262" cy="0"/>
          </a:xfrm>
          <a:prstGeom prst="line">
            <a:avLst/>
          </a:prstGeom>
          <a:noFill/>
          <a:ln w="7144">
            <a:solidFill>
              <a:srgbClr val="E3E6EE"/>
            </a:solidFill>
            <a:prstDash val="solid"/>
          </a:ln>
        </p:spPr>
      </p:sp>
      <p:sp>
        <p:nvSpPr>
          <p:cNvPr id="18" name="Shape 15"/>
          <p:cNvSpPr/>
          <p:nvPr/>
        </p:nvSpPr>
        <p:spPr>
          <a:xfrm>
            <a:off x="3380110" y="1591382"/>
            <a:ext cx="0" cy="1510345"/>
          </a:xfrm>
          <a:prstGeom prst="line">
            <a:avLst/>
          </a:prstGeom>
          <a:noFill/>
          <a:ln w="7144">
            <a:solidFill>
              <a:srgbClr val="E3E6EE"/>
            </a:solidFill>
            <a:prstDash val="solid"/>
          </a:ln>
        </p:spPr>
      </p:sp>
      <p:sp>
        <p:nvSpPr>
          <p:cNvPr id="19" name="Text 16"/>
          <p:cNvSpPr/>
          <p:nvPr/>
        </p:nvSpPr>
        <p:spPr>
          <a:xfrm>
            <a:off x="3512269" y="1712826"/>
            <a:ext cx="2400528" cy="158306"/>
          </a:xfrm>
          <a:prstGeom prst="rect">
            <a:avLst/>
          </a:prstGeom>
          <a:noFill/>
          <a:ln/>
        </p:spPr>
        <p:txBody>
          <a:bodyPr wrap="square" lIns="0" tIns="0" rIns="0" bIns="0" rtlCol="0" anchor="t">
            <a:normAutofit/>
          </a:bodyPr>
          <a:lstStyle/>
          <a:p>
            <a:pPr algn="l" indent="0" marL="0">
              <a:lnSpc>
                <a:spcPts val="1013"/>
              </a:lnSpc>
              <a:buNone/>
            </a:pPr>
            <a:r>
              <a:rPr lang="en-US" sz="800" b="1" spc="81" kern="0" dirty="0">
                <a:solidFill>
                  <a:srgbClr val="1F61C9"/>
                </a:solidFill>
                <a:latin typeface="Carlito" pitchFamily="34" charset="0"/>
                <a:ea typeface="Carlito" pitchFamily="34" charset="-122"/>
                <a:cs typeface="Carlito" pitchFamily="34" charset="-120"/>
              </a:rPr>
              <a:t>BIOLOGY · POPULATION DYNAMICS</a:t>
            </a:r>
            <a:endParaRPr lang="en-US" sz="800" dirty="0"/>
          </a:p>
        </p:txBody>
      </p:sp>
      <p:sp>
        <p:nvSpPr>
          <p:cNvPr id="20" name="Text 17"/>
          <p:cNvSpPr/>
          <p:nvPr/>
        </p:nvSpPr>
        <p:spPr>
          <a:xfrm>
            <a:off x="3512269" y="1898563"/>
            <a:ext cx="2290800" cy="324282"/>
          </a:xfrm>
          <a:prstGeom prst="rect">
            <a:avLst/>
          </a:prstGeom>
          <a:noFill/>
          <a:ln/>
        </p:spPr>
        <p:txBody>
          <a:bodyPr wrap="square" lIns="0" tIns="0" rIns="0" bIns="0" rtlCol="0" anchor="t"/>
          <a:lstStyle/>
          <a:p>
            <a:pPr algn="l" indent="0" marL="0">
              <a:lnSpc>
                <a:spcPts val="1183"/>
              </a:lnSpc>
              <a:buNone/>
            </a:pPr>
            <a:r>
              <a:rPr lang="en-US" sz="816" dirty="0">
                <a:solidFill>
                  <a:srgbClr val="14171F"/>
                </a:solidFill>
                <a:latin typeface="Carlito" pitchFamily="34" charset="0"/>
                <a:ea typeface="Carlito" pitchFamily="34" charset="-122"/>
                <a:cs typeface="Carlito" pitchFamily="34" charset="-120"/>
              </a:rPr>
              <a:t>A population with abundant resources grows proportional to its size:</a:t>
            </a:r>
            <a:endParaRPr lang="en-US" sz="816" dirty="0"/>
          </a:p>
        </p:txBody>
      </p:sp>
      <p:pic>
        <p:nvPicPr>
          <p:cNvPr id="21" name="Image 1" descr="/tmp/h2p-svg-1781853761981-k1l0u5.png">    </p:cNvPr>
          <p:cNvPicPr>
            <a:picLocks noChangeAspect="1"/>
          </p:cNvPicPr>
          <p:nvPr/>
        </p:nvPicPr>
        <p:blipFill>
          <a:blip r:embed="rId2"/>
          <a:stretch>
            <a:fillRect/>
          </a:stretch>
        </p:blipFill>
        <p:spPr>
          <a:xfrm>
            <a:off x="4314490" y="2337011"/>
            <a:ext cx="686358" cy="333970"/>
          </a:xfrm>
          <a:prstGeom prst="rect">
            <a:avLst/>
          </a:prstGeom>
        </p:spPr>
      </p:pic>
      <p:sp>
        <p:nvSpPr>
          <p:cNvPr id="22" name="Text 18"/>
          <p:cNvSpPr/>
          <p:nvPr/>
        </p:nvSpPr>
        <p:spPr>
          <a:xfrm>
            <a:off x="3512269" y="2837743"/>
            <a:ext cx="2400528" cy="142540"/>
          </a:xfrm>
          <a:prstGeom prst="rect">
            <a:avLst/>
          </a:prstGeom>
          <a:noFill/>
          <a:ln/>
        </p:spPr>
        <p:txBody>
          <a:bodyPr wrap="square" lIns="0" tIns="0" rIns="0" bIns="0" rtlCol="0" anchor="t"/>
          <a:lstStyle/>
          <a:p>
            <a:pPr algn="l" indent="0" marL="0">
              <a:lnSpc>
                <a:spcPts val="1101"/>
              </a:lnSpc>
              <a:buNone/>
            </a:pPr>
            <a:r>
              <a:rPr lang="en-US" sz="800" dirty="0">
                <a:solidFill>
                  <a:srgbClr val="4A5160"/>
                </a:solidFill>
                <a:latin typeface="Carlito" pitchFamily="34" charset="0"/>
                <a:ea typeface="Carlito" pitchFamily="34" charset="-122"/>
                <a:cs typeface="Carlito" pitchFamily="34" charset="-120"/>
              </a:rPr>
              <a:t>The unknown is the trajectory P(t).</a:t>
            </a:r>
            <a:endParaRPr lang="en-US" sz="800" dirty="0"/>
          </a:p>
        </p:txBody>
      </p:sp>
      <p:sp>
        <p:nvSpPr>
          <p:cNvPr id="23" name="Text 19"/>
          <p:cNvSpPr/>
          <p:nvPr/>
        </p:nvSpPr>
        <p:spPr>
          <a:xfrm>
            <a:off x="6067388" y="1591382"/>
            <a:ext cx="2562151" cy="1510345"/>
          </a:xfrm>
          <a:prstGeom prst="roundRect">
            <a:avLst>
              <a:gd name="adj" fmla="val 3784"/>
            </a:avLst>
          </a:prstGeom>
          <a:solidFill>
            <a:srgbClr val="F6F7FB"/>
          </a:solidFill>
          <a:ln/>
        </p:spPr>
        <p:txBody>
          <a:bodyPr wrap="square" rtlCol="0" anchor="ctr"/>
          <a:lstStyle/>
          <a:p>
            <a:pPr indent="0" marL="0">
              <a:buNone/>
            </a:pPr>
            <a:endParaRPr lang="en-US" dirty="0"/>
          </a:p>
        </p:txBody>
      </p:sp>
      <p:sp>
        <p:nvSpPr>
          <p:cNvPr id="24" name="Shape 20"/>
          <p:cNvSpPr/>
          <p:nvPr/>
        </p:nvSpPr>
        <p:spPr>
          <a:xfrm>
            <a:off x="6067388" y="1602098"/>
            <a:ext cx="2562151" cy="0"/>
          </a:xfrm>
          <a:prstGeom prst="line">
            <a:avLst/>
          </a:prstGeom>
          <a:noFill/>
          <a:ln w="21431">
            <a:solidFill>
              <a:srgbClr val="1F61C9"/>
            </a:solidFill>
            <a:prstDash val="solid"/>
          </a:ln>
        </p:spPr>
      </p:sp>
      <p:sp>
        <p:nvSpPr>
          <p:cNvPr id="25" name="Shape 21"/>
          <p:cNvSpPr/>
          <p:nvPr/>
        </p:nvSpPr>
        <p:spPr>
          <a:xfrm>
            <a:off x="8625967" y="1591382"/>
            <a:ext cx="0" cy="1510345"/>
          </a:xfrm>
          <a:prstGeom prst="line">
            <a:avLst/>
          </a:prstGeom>
          <a:noFill/>
          <a:ln w="7144">
            <a:solidFill>
              <a:srgbClr val="E3E6EE"/>
            </a:solidFill>
            <a:prstDash val="solid"/>
          </a:ln>
        </p:spPr>
      </p:sp>
      <p:sp>
        <p:nvSpPr>
          <p:cNvPr id="26" name="Shape 22"/>
          <p:cNvSpPr/>
          <p:nvPr/>
        </p:nvSpPr>
        <p:spPr>
          <a:xfrm>
            <a:off x="6067388" y="3098155"/>
            <a:ext cx="2562151" cy="0"/>
          </a:xfrm>
          <a:prstGeom prst="line">
            <a:avLst/>
          </a:prstGeom>
          <a:noFill/>
          <a:ln w="7144">
            <a:solidFill>
              <a:srgbClr val="E3E6EE"/>
            </a:solidFill>
            <a:prstDash val="solid"/>
          </a:ln>
        </p:spPr>
      </p:sp>
      <p:sp>
        <p:nvSpPr>
          <p:cNvPr id="27" name="Shape 23"/>
          <p:cNvSpPr/>
          <p:nvPr/>
        </p:nvSpPr>
        <p:spPr>
          <a:xfrm>
            <a:off x="6070960" y="1591382"/>
            <a:ext cx="0" cy="1510345"/>
          </a:xfrm>
          <a:prstGeom prst="line">
            <a:avLst/>
          </a:prstGeom>
          <a:noFill/>
          <a:ln w="7144">
            <a:solidFill>
              <a:srgbClr val="E3E6EE"/>
            </a:solidFill>
            <a:prstDash val="solid"/>
          </a:ln>
        </p:spPr>
      </p:sp>
      <p:sp>
        <p:nvSpPr>
          <p:cNvPr id="28" name="Text 24"/>
          <p:cNvSpPr/>
          <p:nvPr/>
        </p:nvSpPr>
        <p:spPr>
          <a:xfrm>
            <a:off x="6203119" y="1712826"/>
            <a:ext cx="2400416" cy="158306"/>
          </a:xfrm>
          <a:prstGeom prst="rect">
            <a:avLst/>
          </a:prstGeom>
          <a:noFill/>
          <a:ln/>
        </p:spPr>
        <p:txBody>
          <a:bodyPr wrap="square" lIns="0" tIns="0" rIns="0" bIns="0" rtlCol="0" anchor="t">
            <a:normAutofit/>
          </a:bodyPr>
          <a:lstStyle/>
          <a:p>
            <a:pPr algn="l" indent="0" marL="0">
              <a:lnSpc>
                <a:spcPts val="1013"/>
              </a:lnSpc>
              <a:buNone/>
            </a:pPr>
            <a:r>
              <a:rPr lang="en-US" sz="800" b="1" spc="81" kern="0" dirty="0">
                <a:solidFill>
                  <a:srgbClr val="1F61C9"/>
                </a:solidFill>
                <a:latin typeface="Carlito" pitchFamily="34" charset="0"/>
                <a:ea typeface="Carlito" pitchFamily="34" charset="-122"/>
                <a:cs typeface="Carlito" pitchFamily="34" charset="-120"/>
              </a:rPr>
              <a:t>FINANCE · CONTINUOUS COMPOUNDING</a:t>
            </a:r>
            <a:endParaRPr lang="en-US" sz="800" dirty="0"/>
          </a:p>
        </p:txBody>
      </p:sp>
      <p:sp>
        <p:nvSpPr>
          <p:cNvPr id="29" name="Text 25"/>
          <p:cNvSpPr/>
          <p:nvPr/>
        </p:nvSpPr>
        <p:spPr>
          <a:xfrm>
            <a:off x="6203119" y="1898563"/>
            <a:ext cx="2400416" cy="169856"/>
          </a:xfrm>
          <a:prstGeom prst="rect">
            <a:avLst/>
          </a:prstGeom>
          <a:noFill/>
          <a:ln/>
        </p:spPr>
        <p:txBody>
          <a:bodyPr wrap="square" lIns="0" tIns="0" rIns="0" bIns="0" rtlCol="0" anchor="t"/>
          <a:lstStyle/>
          <a:p>
            <a:pPr algn="l" indent="0" marL="0">
              <a:lnSpc>
                <a:spcPts val="1183"/>
              </a:lnSpc>
              <a:buNone/>
            </a:pPr>
            <a:r>
              <a:rPr lang="en-US" sz="816" dirty="0">
                <a:solidFill>
                  <a:srgbClr val="14171F"/>
                </a:solidFill>
                <a:latin typeface="Carlito" pitchFamily="34" charset="0"/>
                <a:ea typeface="Carlito" pitchFamily="34" charset="-122"/>
                <a:cs typeface="Carlito" pitchFamily="34" charset="-120"/>
              </a:rPr>
              <a:t>A bank balance accrues interest at rate r:</a:t>
            </a:r>
            <a:endParaRPr lang="en-US" sz="816" dirty="0"/>
          </a:p>
        </p:txBody>
      </p:sp>
      <p:pic>
        <p:nvPicPr>
          <p:cNvPr id="30" name="Image 2" descr="/tmp/h2p-svg-1781853761981-m9amrz.png">    </p:cNvPr>
          <p:cNvPicPr>
            <a:picLocks noChangeAspect="1"/>
          </p:cNvPicPr>
          <p:nvPr/>
        </p:nvPicPr>
        <p:blipFill>
          <a:blip r:embed="rId3"/>
          <a:stretch>
            <a:fillRect/>
          </a:stretch>
        </p:blipFill>
        <p:spPr>
          <a:xfrm>
            <a:off x="7004000" y="2194024"/>
            <a:ext cx="688925" cy="333970"/>
          </a:xfrm>
          <a:prstGeom prst="rect">
            <a:avLst/>
          </a:prstGeom>
        </p:spPr>
      </p:pic>
      <p:sp>
        <p:nvSpPr>
          <p:cNvPr id="31" name="Text 26"/>
          <p:cNvSpPr/>
          <p:nvPr/>
        </p:nvSpPr>
        <p:spPr>
          <a:xfrm>
            <a:off x="6203119" y="2694756"/>
            <a:ext cx="2290688" cy="162179"/>
          </a:xfrm>
          <a:prstGeom prst="rect">
            <a:avLst/>
          </a:prstGeom>
          <a:noFill/>
          <a:ln/>
        </p:spPr>
        <p:txBody>
          <a:bodyPr wrap="none" lIns="0" tIns="0" rIns="0" bIns="0" rtlCol="0" anchor="t"/>
          <a:lstStyle/>
          <a:p>
            <a:pPr algn="l" indent="0" marL="0">
              <a:lnSpc>
                <a:spcPts val="1101"/>
              </a:lnSpc>
              <a:buNone/>
            </a:pPr>
            <a:r>
              <a:rPr lang="en-US" sz="800" dirty="0">
                <a:solidFill>
                  <a:srgbClr val="4A5160"/>
                </a:solidFill>
                <a:latin typeface="Carlito" pitchFamily="34" charset="0"/>
                <a:ea typeface="Carlito" pitchFamily="34" charset="-122"/>
                <a:cs typeface="Carlito" pitchFamily="34" charset="-120"/>
              </a:rPr>
              <a:t>The unknown is B(t).</a:t>
            </a:r>
            <a:endParaRPr lang="en-US" sz="800" dirty="0"/>
          </a:p>
        </p:txBody>
      </p:sp>
      <p:sp>
        <p:nvSpPr>
          <p:cNvPr id="32" name="Text 27"/>
          <p:cNvSpPr/>
          <p:nvPr/>
        </p:nvSpPr>
        <p:spPr>
          <a:xfrm>
            <a:off x="685800" y="3230314"/>
            <a:ext cx="7943850" cy="553641"/>
          </a:xfrm>
          <a:prstGeom prst="roundRect">
            <a:avLst>
              <a:gd name="adj" fmla="val 6882"/>
            </a:avLst>
          </a:prstGeom>
          <a:solidFill>
            <a:srgbClr val="F6F7FB"/>
          </a:solidFill>
          <a:ln/>
        </p:spPr>
        <p:txBody>
          <a:bodyPr wrap="square" rtlCol="0" anchor="ctr"/>
          <a:lstStyle/>
          <a:p>
            <a:pPr indent="0" marL="0">
              <a:buNone/>
            </a:pPr>
            <a:endParaRPr lang="en-US" dirty="0"/>
          </a:p>
        </p:txBody>
      </p:sp>
      <p:sp>
        <p:nvSpPr>
          <p:cNvPr id="33" name="Shape 28"/>
          <p:cNvSpPr/>
          <p:nvPr/>
        </p:nvSpPr>
        <p:spPr>
          <a:xfrm>
            <a:off x="700088" y="3230314"/>
            <a:ext cx="0" cy="553641"/>
          </a:xfrm>
          <a:prstGeom prst="line">
            <a:avLst/>
          </a:prstGeom>
          <a:noFill/>
          <a:ln w="28575">
            <a:solidFill>
              <a:srgbClr val="1F61C9"/>
            </a:solidFill>
            <a:prstDash val="solid"/>
          </a:ln>
        </p:spPr>
      </p:sp>
      <p:sp>
        <p:nvSpPr>
          <p:cNvPr id="34" name="Text 29"/>
          <p:cNvSpPr/>
          <p:nvPr/>
        </p:nvSpPr>
        <p:spPr>
          <a:xfrm>
            <a:off x="871538" y="3330327"/>
            <a:ext cx="7600950" cy="154734"/>
          </a:xfrm>
          <a:prstGeom prst="rect">
            <a:avLst/>
          </a:prstGeom>
          <a:noFill/>
          <a:ln/>
        </p:spPr>
        <p:txBody>
          <a:bodyPr wrap="none" lIns="0" tIns="0" rIns="0" bIns="0" rtlCol="0" anchor="t">
            <a:normAutofit/>
          </a:bodyPr>
          <a:lstStyle/>
          <a:p>
            <a:pPr algn="l" indent="0" marL="0">
              <a:lnSpc>
                <a:spcPts val="1097"/>
              </a:lnSpc>
              <a:buNone/>
            </a:pPr>
            <a:r>
              <a:rPr lang="en-US" sz="800" b="1" spc="102" kern="0" dirty="0">
                <a:solidFill>
                  <a:srgbClr val="1F61C9"/>
                </a:solidFill>
                <a:latin typeface="Carlito" pitchFamily="34" charset="0"/>
                <a:ea typeface="Carlito" pitchFamily="34" charset="-122"/>
                <a:cs typeface="Carlito" pitchFamily="34" charset="-120"/>
              </a:rPr>
              <a:t>THE CORE QUESTION</a:t>
            </a:r>
            <a:endParaRPr lang="en-US" sz="800" dirty="0"/>
          </a:p>
        </p:txBody>
      </p:sp>
      <p:sp>
        <p:nvSpPr>
          <p:cNvPr id="35" name="Text 30"/>
          <p:cNvSpPr/>
          <p:nvPr/>
        </p:nvSpPr>
        <p:spPr>
          <a:xfrm>
            <a:off x="871538" y="3512493"/>
            <a:ext cx="7600950" cy="171450"/>
          </a:xfrm>
          <a:prstGeom prst="rect">
            <a:avLst/>
          </a:prstGeom>
          <a:noFill/>
          <a:ln/>
        </p:spPr>
        <p:txBody>
          <a:bodyPr wrap="square" lIns="0" tIns="0" rIns="0" bIns="0" rtlCol="0" anchor="t"/>
          <a:lstStyle/>
          <a:p>
            <a:pPr algn="l" indent="0" marL="0">
              <a:lnSpc>
                <a:spcPts val="1350"/>
              </a:lnSpc>
              <a:buNone/>
            </a:pPr>
            <a:r>
              <a:rPr lang="en-US" sz="900" dirty="0">
                <a:solidFill>
                  <a:srgbClr val="14171F"/>
                </a:solidFill>
                <a:latin typeface="Carlito" pitchFamily="34" charset="0"/>
                <a:ea typeface="Carlito" pitchFamily="34" charset="-122"/>
                <a:cs typeface="Carlito" pitchFamily="34" charset="-120"/>
              </a:rPr>
              <a:t>Given a rule for how a function changes, can we discover the function itself?</a:t>
            </a:r>
            <a:endParaRPr lang="en-US" sz="900" dirty="0"/>
          </a:p>
        </p:txBody>
      </p:sp>
      <p:sp>
        <p:nvSpPr>
          <p:cNvPr id="36" name="Text 31"/>
          <p:cNvSpPr/>
          <p:nvPr/>
        </p:nvSpPr>
        <p:spPr>
          <a:xfrm>
            <a:off x="8299363" y="4857750"/>
            <a:ext cx="460337"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 / 38</a:t>
            </a:r>
            <a:endParaRPr lang="en-US" sz="800" dirty="0"/>
          </a:p>
        </p:txBody>
      </p:sp>
      <p:pic>
        <p:nvPicPr>
          <p:cNvPr id="37" name="Image 3" descr="preencoded.png">    </p:cNvPr>
          <p:cNvPicPr>
            <a:picLocks noChangeAspect="1"/>
          </p:cNvPicPr>
          <p:nvPr/>
        </p:nvPicPr>
        <p:blipFill>
          <a:blip r:embed="rId4"/>
          <a:stretch>
            <a:fillRect/>
          </a:stretch>
        </p:blipFill>
        <p:spPr>
          <a:xfrm>
            <a:off x="0" y="0"/>
            <a:ext cx="17145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81950"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1 · CONCEPT FORMATION</a:t>
            </a:r>
            <a:endParaRPr lang="en-US" sz="844" dirty="0"/>
          </a:p>
        </p:txBody>
      </p:sp>
      <p:sp>
        <p:nvSpPr>
          <p:cNvPr id="3" name="Text 1"/>
          <p:cNvSpPr/>
          <p:nvPr/>
        </p:nvSpPr>
        <p:spPr>
          <a:xfrm>
            <a:off x="685800" y="701873"/>
            <a:ext cx="7943850" cy="319339"/>
          </a:xfrm>
          <a:prstGeom prst="rect">
            <a:avLst/>
          </a:prstGeom>
          <a:noFill/>
          <a:ln/>
        </p:spPr>
        <p:txBody>
          <a:bodyPr wrap="square" lIns="0" tIns="0" rIns="0" bIns="0" rtlCol="0" anchor="t"/>
          <a:lstStyle/>
          <a:p>
            <a:pPr algn="l" indent="0" marL="0">
              <a:lnSpc>
                <a:spcPts val="2329"/>
              </a:lnSpc>
              <a:buNone/>
            </a:pPr>
            <a:r>
              <a:rPr lang="en-US" sz="2025" b="1" spc="-24" kern="0" dirty="0">
                <a:solidFill>
                  <a:srgbClr val="1A2A4F"/>
                </a:solidFill>
                <a:latin typeface="Carlito" pitchFamily="34" charset="0"/>
                <a:ea typeface="Carlito" pitchFamily="34" charset="-122"/>
                <a:cs typeface="Carlito" pitchFamily="34" charset="-120"/>
              </a:rPr>
              <a:t>Core Vocabulary &amp; Classification</a:t>
            </a:r>
            <a:endParaRPr lang="en-US" sz="2025" dirty="0"/>
          </a:p>
        </p:txBody>
      </p:sp>
      <p:sp>
        <p:nvSpPr>
          <p:cNvPr id="4" name="Text 2"/>
          <p:cNvSpPr/>
          <p:nvPr/>
        </p:nvSpPr>
        <p:spPr>
          <a:xfrm>
            <a:off x="685800" y="1068995"/>
            <a:ext cx="7858125" cy="185287"/>
          </a:xfrm>
          <a:prstGeom prst="rect">
            <a:avLst/>
          </a:prstGeom>
          <a:noFill/>
          <a:ln/>
        </p:spPr>
        <p:txBody>
          <a:bodyPr wrap="square" lIns="0" tIns="0" rIns="0" bIns="0" rtlCol="0" anchor="t"/>
          <a:lstStyle/>
          <a:p>
            <a:pPr algn="l" indent="0" marL="0">
              <a:lnSpc>
                <a:spcPts val="1351"/>
              </a:lnSpc>
              <a:buNone/>
            </a:pPr>
            <a:r>
              <a:rPr lang="en-US" sz="872" i="1" dirty="0">
                <a:solidFill>
                  <a:srgbClr val="4A5160"/>
                </a:solidFill>
                <a:latin typeface="Carlito" pitchFamily="34" charset="0"/>
                <a:ea typeface="Carlito" pitchFamily="34" charset="-122"/>
                <a:cs typeface="Carlito" pitchFamily="34" charset="-120"/>
              </a:rPr>
              <a:t>To build knowledge, we must isolate distinguishing characteristics (differentia) from the broader genus.</a:t>
            </a:r>
            <a:endParaRPr lang="en-US" sz="872" dirty="0"/>
          </a:p>
        </p:txBody>
      </p:sp>
      <p:sp>
        <p:nvSpPr>
          <p:cNvPr id="5" name="Text 3"/>
          <p:cNvSpPr/>
          <p:nvPr/>
        </p:nvSpPr>
        <p:spPr>
          <a:xfrm>
            <a:off x="689372" y="1358429"/>
            <a:ext cx="3907631" cy="2024583"/>
          </a:xfrm>
          <a:prstGeom prst="roundRect">
            <a:avLst>
              <a:gd name="adj" fmla="val 3764"/>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6" name="Text 4"/>
          <p:cNvSpPr/>
          <p:nvPr/>
        </p:nvSpPr>
        <p:spPr>
          <a:xfrm>
            <a:off x="821531" y="1462013"/>
            <a:ext cx="3753041" cy="185166"/>
          </a:xfrm>
          <a:prstGeom prst="rect">
            <a:avLst/>
          </a:prstGeom>
          <a:noFill/>
          <a:ln/>
        </p:spPr>
        <p:txBody>
          <a:bodyPr wrap="square" lIns="0" tIns="0" rIns="0" bIns="0" rtlCol="0" anchor="t"/>
          <a:lstStyle/>
          <a:p>
            <a:pPr algn="l" indent="0" marL="0">
              <a:lnSpc>
                <a:spcPts val="1350"/>
              </a:lnSpc>
              <a:buNone/>
            </a:pPr>
            <a:r>
              <a:rPr lang="en-US" sz="900" b="1" spc="18" kern="0" dirty="0">
                <a:solidFill>
                  <a:srgbClr val="1F61C9"/>
                </a:solidFill>
                <a:latin typeface="Carlito" pitchFamily="34" charset="0"/>
                <a:ea typeface="Carlito" pitchFamily="34" charset="-122"/>
                <a:cs typeface="Carlito" pitchFamily="34" charset="-120"/>
              </a:rPr>
              <a:t>ODE vs PDE · </a:t>
            </a:r>
            <a:pPr algn="l" indent="0" marL="0">
              <a:lnSpc>
                <a:spcPts val="1350"/>
              </a:lnSpc>
              <a:buNone/>
            </a:pPr>
            <a:r>
              <a:rPr lang="en-US" sz="800" b="1" spc="7" kern="0" dirty="0">
                <a:solidFill>
                  <a:srgbClr val="4A5160"/>
                </a:solidFill>
                <a:latin typeface="Carlito" pitchFamily="34" charset="0"/>
                <a:ea typeface="Carlito" pitchFamily="34" charset="-122"/>
                <a:cs typeface="Carlito" pitchFamily="34" charset="-120"/>
              </a:rPr>
              <a:t>Genus: Differential Equation</a:t>
            </a:r>
            <a:endParaRPr lang="en-US" sz="900" dirty="0"/>
          </a:p>
        </p:txBody>
      </p:sp>
      <p:sp>
        <p:nvSpPr>
          <p:cNvPr id="7" name="Text 5"/>
          <p:cNvSpPr/>
          <p:nvPr/>
        </p:nvSpPr>
        <p:spPr>
          <a:xfrm>
            <a:off x="821531" y="1690613"/>
            <a:ext cx="3643313" cy="189747"/>
          </a:xfrm>
          <a:prstGeom prst="rect">
            <a:avLst/>
          </a:prstGeom>
          <a:noFill/>
          <a:ln/>
        </p:spPr>
        <p:txBody>
          <a:bodyPr wrap="square" lIns="0" tIns="0" rIns="0" bIns="0" rtlCol="0" anchor="t"/>
          <a:lstStyle/>
          <a:p>
            <a:pPr algn="l" indent="0" marL="0">
              <a:lnSpc>
                <a:spcPts val="1264"/>
              </a:lnSpc>
              <a:buNone/>
            </a:pPr>
            <a:r>
              <a:rPr lang="en-US" sz="816" dirty="0">
                <a:solidFill>
                  <a:srgbClr val="1A2A4F"/>
                </a:solidFill>
                <a:latin typeface="Carlito" pitchFamily="34" charset="0"/>
                <a:ea typeface="Carlito" pitchFamily="34" charset="-122"/>
                <a:cs typeface="Carlito" pitchFamily="34" charset="-120"/>
              </a:rPr>
              <a:t>ODE:</a:t>
            </a:r>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 Derivatives with respect to one independent variable (</a:t>
            </a:r>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dydx).</a:t>
            </a:r>
            <a:endParaRPr lang="en-US" sz="816" dirty="0"/>
          </a:p>
        </p:txBody>
      </p:sp>
      <p:sp>
        <p:nvSpPr>
          <p:cNvPr id="8" name="Text 6"/>
          <p:cNvSpPr/>
          <p:nvPr/>
        </p:nvSpPr>
        <p:spPr>
          <a:xfrm>
            <a:off x="821531" y="1909167"/>
            <a:ext cx="3643313" cy="179018"/>
          </a:xfrm>
          <a:prstGeom prst="rect">
            <a:avLst/>
          </a:prstGeom>
          <a:noFill/>
          <a:ln/>
        </p:spPr>
        <p:txBody>
          <a:bodyPr wrap="square" lIns="0" tIns="0" rIns="0" bIns="0" rtlCol="0" anchor="t"/>
          <a:lstStyle/>
          <a:p>
            <a:pPr algn="l" indent="0" marL="0">
              <a:lnSpc>
                <a:spcPts val="1264"/>
              </a:lnSpc>
              <a:buNone/>
            </a:pPr>
            <a:r>
              <a:rPr lang="en-US" sz="816" dirty="0">
                <a:solidFill>
                  <a:srgbClr val="1A2A4F"/>
                </a:solidFill>
                <a:latin typeface="Carlito" pitchFamily="34" charset="0"/>
                <a:ea typeface="Carlito" pitchFamily="34" charset="-122"/>
                <a:cs typeface="Carlito" pitchFamily="34" charset="-120"/>
              </a:rPr>
              <a:t>PDE:</a:t>
            </a:r>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 Partial derivatives with respect to two or more variables (</a:t>
            </a:r>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∂u∂t).</a:t>
            </a:r>
            <a:endParaRPr lang="en-US" sz="816" dirty="0"/>
          </a:p>
        </p:txBody>
      </p:sp>
      <p:sp>
        <p:nvSpPr>
          <p:cNvPr id="9" name="Text 7"/>
          <p:cNvSpPr/>
          <p:nvPr/>
        </p:nvSpPr>
        <p:spPr>
          <a:xfrm>
            <a:off x="4718447" y="1358429"/>
            <a:ext cx="3907631" cy="799319"/>
          </a:xfrm>
          <a:prstGeom prst="roundRect">
            <a:avLst>
              <a:gd name="adj" fmla="val 9533"/>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0" name="Text 8"/>
          <p:cNvSpPr/>
          <p:nvPr/>
        </p:nvSpPr>
        <p:spPr>
          <a:xfrm>
            <a:off x="4850606" y="1462013"/>
            <a:ext cx="3643313" cy="185166"/>
          </a:xfrm>
          <a:prstGeom prst="rect">
            <a:avLst/>
          </a:prstGeom>
          <a:noFill/>
          <a:ln/>
        </p:spPr>
        <p:txBody>
          <a:bodyPr wrap="none" lIns="0" tIns="0" rIns="0" bIns="0" rtlCol="0" anchor="t"/>
          <a:lstStyle/>
          <a:p>
            <a:pPr algn="l" indent="0" marL="0">
              <a:lnSpc>
                <a:spcPts val="1350"/>
              </a:lnSpc>
              <a:buNone/>
            </a:pPr>
            <a:r>
              <a:rPr lang="en-US" sz="900" b="1" spc="18" kern="0" dirty="0">
                <a:solidFill>
                  <a:srgbClr val="1F61C9"/>
                </a:solidFill>
                <a:latin typeface="Carlito" pitchFamily="34" charset="0"/>
                <a:ea typeface="Carlito" pitchFamily="34" charset="-122"/>
                <a:cs typeface="Carlito" pitchFamily="34" charset="-120"/>
              </a:rPr>
              <a:t>Order · </a:t>
            </a:r>
            <a:pPr algn="l" indent="0" marL="0">
              <a:lnSpc>
                <a:spcPts val="1350"/>
              </a:lnSpc>
              <a:buNone/>
            </a:pPr>
            <a:r>
              <a:rPr lang="en-US" sz="800" b="1" spc="7" kern="0" dirty="0">
                <a:solidFill>
                  <a:srgbClr val="4A5160"/>
                </a:solidFill>
                <a:latin typeface="Carlito" pitchFamily="34" charset="0"/>
                <a:ea typeface="Carlito" pitchFamily="34" charset="-122"/>
                <a:cs typeface="Carlito" pitchFamily="34" charset="-120"/>
              </a:rPr>
              <a:t>Differentia</a:t>
            </a:r>
            <a:endParaRPr lang="en-US" sz="900" dirty="0"/>
          </a:p>
        </p:txBody>
      </p:sp>
      <p:sp>
        <p:nvSpPr>
          <p:cNvPr id="11" name="Text 9"/>
          <p:cNvSpPr/>
          <p:nvPr/>
        </p:nvSpPr>
        <p:spPr>
          <a:xfrm>
            <a:off x="4850606" y="1690613"/>
            <a:ext cx="3643313" cy="349262"/>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The order of the highest derivative present. A first-order ODE contains only dydx; a second-order ODE contains d2ydx2, etc.</a:t>
            </a:r>
            <a:endParaRPr lang="en-US" sz="816" dirty="0"/>
          </a:p>
        </p:txBody>
      </p:sp>
      <p:sp>
        <p:nvSpPr>
          <p:cNvPr id="12" name="Text 10"/>
          <p:cNvSpPr/>
          <p:nvPr/>
        </p:nvSpPr>
        <p:spPr>
          <a:xfrm>
            <a:off x="4718447" y="2279191"/>
            <a:ext cx="3907631" cy="1103821"/>
          </a:xfrm>
          <a:prstGeom prst="roundRect">
            <a:avLst>
              <a:gd name="adj" fmla="val 6903"/>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3" name="Text 11"/>
          <p:cNvSpPr/>
          <p:nvPr/>
        </p:nvSpPr>
        <p:spPr>
          <a:xfrm>
            <a:off x="4850606" y="2382775"/>
            <a:ext cx="3643313" cy="185166"/>
          </a:xfrm>
          <a:prstGeom prst="rect">
            <a:avLst/>
          </a:prstGeom>
          <a:noFill/>
          <a:ln/>
        </p:spPr>
        <p:txBody>
          <a:bodyPr wrap="none" lIns="0" tIns="0" rIns="0" bIns="0" rtlCol="0" anchor="t"/>
          <a:lstStyle/>
          <a:p>
            <a:pPr algn="l" indent="0" marL="0">
              <a:lnSpc>
                <a:spcPts val="1350"/>
              </a:lnSpc>
              <a:buNone/>
            </a:pPr>
            <a:r>
              <a:rPr lang="en-US" sz="900" b="1" spc="18" kern="0" dirty="0">
                <a:solidFill>
                  <a:srgbClr val="1F61C9"/>
                </a:solidFill>
                <a:latin typeface="Carlito" pitchFamily="34" charset="0"/>
                <a:ea typeface="Carlito" pitchFamily="34" charset="-122"/>
                <a:cs typeface="Carlito" pitchFamily="34" charset="-120"/>
              </a:rPr>
              <a:t>Linearity · </a:t>
            </a:r>
            <a:pPr algn="l" indent="0" marL="0">
              <a:lnSpc>
                <a:spcPts val="1350"/>
              </a:lnSpc>
              <a:buNone/>
            </a:pPr>
            <a:r>
              <a:rPr lang="en-US" sz="800" b="1" spc="7" kern="0" dirty="0">
                <a:solidFill>
                  <a:srgbClr val="4A5160"/>
                </a:solidFill>
                <a:latin typeface="Carlito" pitchFamily="34" charset="0"/>
                <a:ea typeface="Carlito" pitchFamily="34" charset="-122"/>
                <a:cs typeface="Carlito" pitchFamily="34" charset="-120"/>
              </a:rPr>
              <a:t>Differentia</a:t>
            </a:r>
            <a:endParaRPr lang="en-US" sz="900" dirty="0"/>
          </a:p>
        </p:txBody>
      </p:sp>
      <p:sp>
        <p:nvSpPr>
          <p:cNvPr id="14" name="Text 12"/>
          <p:cNvSpPr/>
          <p:nvPr/>
        </p:nvSpPr>
        <p:spPr>
          <a:xfrm>
            <a:off x="4850606" y="2611375"/>
            <a:ext cx="3643313" cy="653765"/>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An ODE is linear if y and its derivatives appear only to the first power, are not multiplied together, and are not inside transcendental functions (e.g., no sin⁡(y) or ey′). Coefficients may be any function of x.</a:t>
            </a:r>
            <a:endParaRPr lang="en-US" sz="816" dirty="0"/>
          </a:p>
        </p:txBody>
      </p:sp>
      <p:sp>
        <p:nvSpPr>
          <p:cNvPr id="15" name="Text 13"/>
          <p:cNvSpPr/>
          <p:nvPr/>
        </p:nvSpPr>
        <p:spPr>
          <a:xfrm>
            <a:off x="685800" y="3500884"/>
            <a:ext cx="7943850" cy="517364"/>
          </a:xfrm>
          <a:prstGeom prst="roundRect">
            <a:avLst>
              <a:gd name="adj" fmla="val 7364"/>
            </a:avLst>
          </a:prstGeom>
          <a:solidFill>
            <a:srgbClr val="FCEFD9"/>
          </a:solidFill>
          <a:ln/>
        </p:spPr>
        <p:txBody>
          <a:bodyPr wrap="square" rtlCol="0" anchor="ctr"/>
          <a:lstStyle/>
          <a:p>
            <a:pPr indent="0" marL="0">
              <a:buNone/>
            </a:pPr>
            <a:endParaRPr lang="en-US" dirty="0"/>
          </a:p>
        </p:txBody>
      </p:sp>
      <p:sp>
        <p:nvSpPr>
          <p:cNvPr id="16" name="Shape 14"/>
          <p:cNvSpPr/>
          <p:nvPr/>
        </p:nvSpPr>
        <p:spPr>
          <a:xfrm>
            <a:off x="700088" y="3500884"/>
            <a:ext cx="0" cy="517364"/>
          </a:xfrm>
          <a:prstGeom prst="line">
            <a:avLst/>
          </a:prstGeom>
          <a:noFill/>
          <a:ln w="28575">
            <a:solidFill>
              <a:srgbClr val="E07B00"/>
            </a:solidFill>
            <a:prstDash val="solid"/>
          </a:ln>
        </p:spPr>
      </p:sp>
      <p:sp>
        <p:nvSpPr>
          <p:cNvPr id="17" name="Text 15"/>
          <p:cNvSpPr/>
          <p:nvPr/>
        </p:nvSpPr>
        <p:spPr>
          <a:xfrm>
            <a:off x="857250" y="3586609"/>
            <a:ext cx="7629525" cy="140446"/>
          </a:xfrm>
          <a:prstGeom prst="rect">
            <a:avLst/>
          </a:prstGeom>
          <a:noFill/>
          <a:ln/>
        </p:spPr>
        <p:txBody>
          <a:bodyPr wrap="none" lIns="0" tIns="0" rIns="0" bIns="0" rtlCol="0" anchor="t">
            <a:normAutofit/>
          </a:bodyPr>
          <a:lstStyle/>
          <a:p>
            <a:pPr algn="l" indent="0" marL="0">
              <a:lnSpc>
                <a:spcPts val="1097"/>
              </a:lnSpc>
              <a:buNone/>
            </a:pPr>
            <a:r>
              <a:rPr lang="en-US" sz="800" b="1" spc="102" kern="0" dirty="0">
                <a:solidFill>
                  <a:srgbClr val="E07B00"/>
                </a:solidFill>
                <a:latin typeface="Carlito" pitchFamily="34" charset="0"/>
                <a:ea typeface="Carlito" pitchFamily="34" charset="-122"/>
                <a:cs typeface="Carlito" pitchFamily="34" charset="-120"/>
              </a:rPr>
              <a:t>COMMON PITFALL</a:t>
            </a:r>
            <a:endParaRPr lang="en-US" sz="800" dirty="0"/>
          </a:p>
        </p:txBody>
      </p:sp>
      <p:sp>
        <p:nvSpPr>
          <p:cNvPr id="18" name="Text 16"/>
          <p:cNvSpPr/>
          <p:nvPr/>
        </p:nvSpPr>
        <p:spPr>
          <a:xfrm>
            <a:off x="857250" y="3754487"/>
            <a:ext cx="7629525" cy="163748"/>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Always rationalize first to read the true order and degree. Note: x+y≠x+y. A radical containing y or y′ makes an equation nonlinear.</a:t>
            </a:r>
            <a:endParaRPr lang="en-US" sz="816" dirty="0"/>
          </a:p>
        </p:txBody>
      </p:sp>
      <p:sp>
        <p:nvSpPr>
          <p:cNvPr id="19" name="Text 17"/>
          <p:cNvSpPr/>
          <p:nvPr/>
        </p:nvSpPr>
        <p:spPr>
          <a:xfrm>
            <a:off x="8299363" y="4857750"/>
            <a:ext cx="460337"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4 / 38</a:t>
            </a:r>
            <a:endParaRPr lang="en-US" sz="800" dirty="0"/>
          </a:p>
        </p:txBody>
      </p:sp>
      <p:pic>
        <p:nvPicPr>
          <p:cNvPr id="20" name="Image 0" descr="preencoded.png">    </p:cNvPr>
          <p:cNvPicPr>
            <a:picLocks noChangeAspect="1"/>
          </p:cNvPicPr>
          <p:nvPr/>
        </p:nvPicPr>
        <p:blipFill>
          <a:blip r:embed="rId1"/>
          <a:stretch>
            <a:fillRect/>
          </a:stretch>
        </p:blipFill>
        <p:spPr>
          <a:xfrm>
            <a:off x="0" y="0"/>
            <a:ext cx="17145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849614"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1 · EPISTEMOLOGY</a:t>
            </a:r>
            <a:endParaRPr lang="en-US" sz="844" dirty="0"/>
          </a:p>
        </p:txBody>
      </p:sp>
      <p:sp>
        <p:nvSpPr>
          <p:cNvPr id="3" name="Text 1"/>
          <p:cNvSpPr/>
          <p:nvPr/>
        </p:nvSpPr>
        <p:spPr>
          <a:xfrm>
            <a:off x="685800" y="701873"/>
            <a:ext cx="8341042" cy="311115"/>
          </a:xfrm>
          <a:prstGeom prst="rect">
            <a:avLst/>
          </a:prstGeom>
          <a:noFill/>
          <a:ln/>
        </p:spPr>
        <p:txBody>
          <a:bodyPr wrap="none" lIns="0" tIns="0" rIns="0" bIns="0" rtlCol="0" anchor="t">
            <a:normAutofit/>
          </a:bodyPr>
          <a:lstStyle/>
          <a:p>
            <a:pPr algn="l" indent="0" marL="0">
              <a:lnSpc>
                <a:spcPts val="2329"/>
              </a:lnSpc>
              <a:buNone/>
            </a:pPr>
            <a:r>
              <a:rPr lang="en-US" sz="2025" b="1" spc="-24" kern="0" dirty="0">
                <a:solidFill>
                  <a:srgbClr val="1A2A4F"/>
                </a:solidFill>
                <a:latin typeface="Carlito" pitchFamily="34" charset="0"/>
                <a:ea typeface="Carlito" pitchFamily="34" charset="-122"/>
                <a:cs typeface="Carlito" pitchFamily="34" charset="-120"/>
              </a:rPr>
              <a:t>The Anatomy of a Solution</a:t>
            </a:r>
            <a:endParaRPr lang="en-US" sz="2025" dirty="0"/>
          </a:p>
        </p:txBody>
      </p:sp>
      <p:sp>
        <p:nvSpPr>
          <p:cNvPr id="4" name="Text 2"/>
          <p:cNvSpPr/>
          <p:nvPr/>
        </p:nvSpPr>
        <p:spPr>
          <a:xfrm>
            <a:off x="685800" y="1040420"/>
            <a:ext cx="8458200" cy="231458"/>
          </a:xfrm>
          <a:prstGeom prst="rect">
            <a:avLst/>
          </a:prstGeom>
          <a:noFill/>
          <a:ln/>
        </p:spPr>
        <p:txBody>
          <a:bodyPr wrap="square" lIns="0" tIns="0" rIns="0" bIns="0" rtlCol="0" anchor="t"/>
          <a:lstStyle/>
          <a:p>
            <a:pPr algn="l" indent="0" marL="0">
              <a:lnSpc>
                <a:spcPts val="1688"/>
              </a:lnSpc>
              <a:buNone/>
            </a:pPr>
            <a:r>
              <a:rPr lang="en-US" sz="1125" i="1" spc="-6" kern="0" dirty="0">
                <a:solidFill>
                  <a:srgbClr val="1F61C9"/>
                </a:solidFill>
                <a:latin typeface="Carlito" pitchFamily="34" charset="0"/>
                <a:ea typeface="Carlito" pitchFamily="34" charset="-122"/>
                <a:cs typeface="Carlito" pitchFamily="34" charset="-120"/>
              </a:rPr>
              <a:t>Measurement Omission &amp; The Constant C</a:t>
            </a:r>
            <a:endParaRPr lang="en-US" sz="1125" dirty="0"/>
          </a:p>
        </p:txBody>
      </p:sp>
      <p:sp>
        <p:nvSpPr>
          <p:cNvPr id="5" name="Text 3"/>
          <p:cNvSpPr/>
          <p:nvPr/>
        </p:nvSpPr>
        <p:spPr>
          <a:xfrm>
            <a:off x="685800" y="1369033"/>
            <a:ext cx="8458200" cy="231819"/>
          </a:xfrm>
          <a:prstGeom prst="rect">
            <a:avLst/>
          </a:prstGeom>
          <a:noFill/>
          <a:ln/>
        </p:spPr>
        <p:txBody>
          <a:bodyPr wrap="square" lIns="0" tIns="0" rIns="0" bIns="0" rtlCol="0" anchor="t"/>
          <a:lstStyle/>
          <a:p>
            <a:pPr algn="l" indent="0" marL="0">
              <a:lnSpc>
                <a:spcPts val="1439"/>
              </a:lnSpc>
              <a:buNone/>
            </a:pPr>
            <a:r>
              <a:rPr lang="en-US" sz="928" dirty="0">
                <a:solidFill>
                  <a:srgbClr val="14171F"/>
                </a:solidFill>
                <a:latin typeface="Carlito" pitchFamily="34" charset="0"/>
                <a:ea typeface="Carlito" pitchFamily="34" charset="-122"/>
                <a:cs typeface="Carlito" pitchFamily="34" charset="-120"/>
              </a:rPr>
              <a:t>Consider dydx=2x. Integrating yields:</a:t>
            </a:r>
            <a:endParaRPr lang="en-US" sz="928" dirty="0"/>
          </a:p>
        </p:txBody>
      </p:sp>
      <p:sp>
        <p:nvSpPr>
          <p:cNvPr id="6" name="Text 4"/>
          <p:cNvSpPr/>
          <p:nvPr/>
        </p:nvSpPr>
        <p:spPr>
          <a:xfrm>
            <a:off x="685800" y="1697980"/>
            <a:ext cx="7943850" cy="860375"/>
          </a:xfrm>
          <a:prstGeom prst="roundRect">
            <a:avLst>
              <a:gd name="adj" fmla="val 4428"/>
            </a:avLst>
          </a:prstGeom>
          <a:solidFill>
            <a:srgbClr val="F3ECF8"/>
          </a:solidFill>
          <a:ln/>
        </p:spPr>
        <p:txBody>
          <a:bodyPr wrap="square" rtlCol="0" anchor="ctr"/>
          <a:lstStyle/>
          <a:p>
            <a:pPr indent="0" marL="0">
              <a:buNone/>
            </a:pPr>
            <a:endParaRPr lang="en-US" dirty="0"/>
          </a:p>
        </p:txBody>
      </p:sp>
      <p:sp>
        <p:nvSpPr>
          <p:cNvPr id="7" name="Shape 5"/>
          <p:cNvSpPr/>
          <p:nvPr/>
        </p:nvSpPr>
        <p:spPr>
          <a:xfrm>
            <a:off x="700088" y="1697980"/>
            <a:ext cx="0" cy="860375"/>
          </a:xfrm>
          <a:prstGeom prst="line">
            <a:avLst/>
          </a:prstGeom>
          <a:noFill/>
          <a:ln w="28575">
            <a:solidFill>
              <a:srgbClr val="6B2FA0"/>
            </a:solidFill>
            <a:prstDash val="solid"/>
          </a:ln>
        </p:spPr>
      </p:sp>
      <p:pic>
        <p:nvPicPr>
          <p:cNvPr id="8" name="Image 0" descr="/tmp/h2p-svg-1781853762148-ylxlzv.png">    </p:cNvPr>
          <p:cNvPicPr>
            <a:picLocks noChangeAspect="1"/>
          </p:cNvPicPr>
          <p:nvPr/>
        </p:nvPicPr>
        <p:blipFill>
          <a:blip r:embed="rId1"/>
          <a:stretch>
            <a:fillRect/>
          </a:stretch>
        </p:blipFill>
        <p:spPr>
          <a:xfrm>
            <a:off x="3522762" y="1894768"/>
            <a:ext cx="2298502" cy="466799"/>
          </a:xfrm>
          <a:prstGeom prst="rect">
            <a:avLst/>
          </a:prstGeom>
        </p:spPr>
      </p:pic>
      <p:sp>
        <p:nvSpPr>
          <p:cNvPr id="9" name="Text 6"/>
          <p:cNvSpPr/>
          <p:nvPr/>
        </p:nvSpPr>
        <p:spPr>
          <a:xfrm>
            <a:off x="685800" y="2658368"/>
            <a:ext cx="7715250" cy="398661"/>
          </a:xfrm>
          <a:prstGeom prst="rect">
            <a:avLst/>
          </a:prstGeom>
          <a:noFill/>
          <a:ln/>
        </p:spPr>
        <p:txBody>
          <a:bodyPr wrap="square" lIns="0" tIns="0" rIns="0" bIns="0" rtlCol="0" anchor="t"/>
          <a:lstStyle/>
          <a:p>
            <a:pPr algn="l" indent="0" marL="0">
              <a:lnSpc>
                <a:spcPts val="1395"/>
              </a:lnSpc>
              <a:buNone/>
            </a:pPr>
            <a:r>
              <a:rPr lang="en-US" sz="872" i="1" dirty="0">
                <a:solidFill>
                  <a:srgbClr val="4A5160"/>
                </a:solidFill>
                <a:latin typeface="Carlito" pitchFamily="34" charset="0"/>
                <a:ea typeface="Carlito" pitchFamily="34" charset="-122"/>
                <a:cs typeface="Carlito" pitchFamily="34" charset="-120"/>
              </a:rPr>
              <a:t>Why does the constant C exist? It is an act of measurement omission. The rate law dydx=2x specifies the shape of the curve, but omits the specific quantitative measurement of its vertical position.</a:t>
            </a:r>
            <a:endParaRPr lang="en-US" sz="872" dirty="0"/>
          </a:p>
        </p:txBody>
      </p:sp>
      <p:sp>
        <p:nvSpPr>
          <p:cNvPr id="10" name="Text 7"/>
          <p:cNvSpPr/>
          <p:nvPr/>
        </p:nvSpPr>
        <p:spPr>
          <a:xfrm>
            <a:off x="689372" y="3145371"/>
            <a:ext cx="3900488" cy="920539"/>
          </a:xfrm>
          <a:prstGeom prst="roundRect">
            <a:avLst>
              <a:gd name="adj" fmla="val 8278"/>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1" name="Text 8"/>
          <p:cNvSpPr/>
          <p:nvPr/>
        </p:nvSpPr>
        <p:spPr>
          <a:xfrm>
            <a:off x="835819" y="3248955"/>
            <a:ext cx="3607594" cy="185166"/>
          </a:xfrm>
          <a:prstGeom prst="rect">
            <a:avLst/>
          </a:prstGeom>
          <a:noFill/>
          <a:ln/>
        </p:spPr>
        <p:txBody>
          <a:bodyPr wrap="none" lIns="0" tIns="0" rIns="0" bIns="0" rtlCol="0" anchor="t"/>
          <a:lstStyle/>
          <a:p>
            <a:pPr algn="l" indent="0" marL="0">
              <a:lnSpc>
                <a:spcPts val="1350"/>
              </a:lnSpc>
              <a:buNone/>
            </a:pPr>
            <a:r>
              <a:rPr lang="en-US" sz="900" b="1" spc="9" kern="0" dirty="0">
                <a:solidFill>
                  <a:srgbClr val="1F61C9"/>
                </a:solidFill>
                <a:latin typeface="Carlito" pitchFamily="34" charset="0"/>
                <a:ea typeface="Carlito" pitchFamily="34" charset="-122"/>
                <a:cs typeface="Carlito" pitchFamily="34" charset="-120"/>
              </a:rPr>
              <a:t>General Solution</a:t>
            </a:r>
            <a:endParaRPr lang="en-US" sz="900" dirty="0"/>
          </a:p>
        </p:txBody>
      </p:sp>
      <p:sp>
        <p:nvSpPr>
          <p:cNvPr id="12" name="Text 9"/>
          <p:cNvSpPr/>
          <p:nvPr/>
        </p:nvSpPr>
        <p:spPr>
          <a:xfrm>
            <a:off x="835819" y="3463268"/>
            <a:ext cx="3607594" cy="484770"/>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A family of functions containing n arbitrary constants (for an nth-order ODE). It represents all possible trajectories — every curve consistent with the rate law, regardless of starting position.</a:t>
            </a:r>
            <a:endParaRPr lang="en-US" sz="816" dirty="0"/>
          </a:p>
        </p:txBody>
      </p:sp>
      <p:sp>
        <p:nvSpPr>
          <p:cNvPr id="13" name="Text 10"/>
          <p:cNvSpPr/>
          <p:nvPr/>
        </p:nvSpPr>
        <p:spPr>
          <a:xfrm>
            <a:off x="4725591" y="3145371"/>
            <a:ext cx="3900488" cy="920539"/>
          </a:xfrm>
          <a:prstGeom prst="roundRect">
            <a:avLst>
              <a:gd name="adj" fmla="val 8278"/>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4" name="Text 11"/>
          <p:cNvSpPr/>
          <p:nvPr/>
        </p:nvSpPr>
        <p:spPr>
          <a:xfrm>
            <a:off x="4872038" y="3248955"/>
            <a:ext cx="3717322" cy="185166"/>
          </a:xfrm>
          <a:prstGeom prst="rect">
            <a:avLst/>
          </a:prstGeom>
          <a:noFill/>
          <a:ln/>
        </p:spPr>
        <p:txBody>
          <a:bodyPr wrap="square" lIns="0" tIns="0" rIns="0" bIns="0" rtlCol="0" anchor="t"/>
          <a:lstStyle/>
          <a:p>
            <a:pPr algn="l" indent="0" marL="0">
              <a:lnSpc>
                <a:spcPts val="1350"/>
              </a:lnSpc>
              <a:buNone/>
            </a:pPr>
            <a:r>
              <a:rPr lang="en-US" sz="900" b="1" spc="9" kern="0" dirty="0">
                <a:solidFill>
                  <a:srgbClr val="1F61C9"/>
                </a:solidFill>
                <a:latin typeface="Carlito" pitchFamily="34" charset="0"/>
                <a:ea typeface="Carlito" pitchFamily="34" charset="-122"/>
                <a:cs typeface="Carlito" pitchFamily="34" charset="-120"/>
              </a:rPr>
              <a:t>Initial Value Problem (IVP)</a:t>
            </a:r>
            <a:endParaRPr lang="en-US" sz="900" dirty="0"/>
          </a:p>
        </p:txBody>
      </p:sp>
      <p:sp>
        <p:nvSpPr>
          <p:cNvPr id="15" name="Text 12"/>
          <p:cNvSpPr/>
          <p:nvPr/>
        </p:nvSpPr>
        <p:spPr>
          <a:xfrm>
            <a:off x="4872038" y="3463268"/>
            <a:ext cx="3607594" cy="350200"/>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An ODE paired with data y(x0)=y0. This supplies the omitted measurement, collapsing the infinite family into one specific curve.</a:t>
            </a:r>
            <a:endParaRPr lang="en-US" sz="816" dirty="0"/>
          </a:p>
        </p:txBody>
      </p:sp>
      <p:sp>
        <p:nvSpPr>
          <p:cNvPr id="16" name="Text 13"/>
          <p:cNvSpPr/>
          <p:nvPr/>
        </p:nvSpPr>
        <p:spPr>
          <a:xfrm>
            <a:off x="8299363" y="4857750"/>
            <a:ext cx="460337"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5 / 38</a:t>
            </a:r>
            <a:endParaRPr lang="en-US" sz="800" dirty="0"/>
          </a:p>
        </p:txBody>
      </p:sp>
      <p:pic>
        <p:nvPicPr>
          <p:cNvPr id="17"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A4F"/>
        </a:solidFill>
      </p:bgPr>
    </p:bg>
    <p:spTree>
      <p:nvGrpSpPr>
        <p:cNvPr id="1" name=""/>
        <p:cNvGrpSpPr/>
        <p:nvPr/>
      </p:nvGrpSpPr>
      <p:grpSpPr>
        <a:xfrm>
          <a:off x="0" y="0"/>
          <a:ext cx="0" cy="0"/>
          <a:chOff x="0" y="0"/>
          <a:chExt cx="0" cy="0"/>
        </a:xfrm>
      </p:grpSpPr>
      <p:sp>
        <p:nvSpPr>
          <p:cNvPr id="2" name="Text 0"/>
          <p:cNvSpPr/>
          <p:nvPr/>
        </p:nvSpPr>
        <p:spPr>
          <a:xfrm>
            <a:off x="5948958" y="257175"/>
            <a:ext cx="3195042" cy="2160270"/>
          </a:xfrm>
          <a:prstGeom prst="rect">
            <a:avLst/>
          </a:prstGeom>
          <a:noFill/>
          <a:ln/>
        </p:spPr>
        <p:txBody>
          <a:bodyPr wrap="none" lIns="0" tIns="0" rIns="0" bIns="0" rtlCol="0" anchor="t"/>
          <a:lstStyle/>
          <a:p>
            <a:pPr algn="l" indent="0" marL="0">
              <a:lnSpc>
                <a:spcPts val="15750"/>
              </a:lnSpc>
              <a:buNone/>
            </a:pPr>
            <a:r>
              <a:rPr lang="en-US" sz="15750" b="1" spc="-630" kern="0" dirty="0">
                <a:solidFill>
                  <a:srgbClr val="FFFFFF">
                    <a:alpha val="12000"/>
                  </a:srgbClr>
                </a:solidFill>
                <a:latin typeface="Liberation Sans Narrow" pitchFamily="34" charset="0"/>
                <a:ea typeface="Liberation Sans Narrow" pitchFamily="34" charset="-122"/>
                <a:cs typeface="Liberation Sans Narrow" pitchFamily="34" charset="-120"/>
              </a:rPr>
              <a:t>02</a:t>
            </a:r>
            <a:endParaRPr lang="en-US" sz="15750" dirty="0"/>
          </a:p>
        </p:txBody>
      </p:sp>
      <p:sp>
        <p:nvSpPr>
          <p:cNvPr id="3" name="Text 1"/>
          <p:cNvSpPr/>
          <p:nvPr/>
        </p:nvSpPr>
        <p:spPr>
          <a:xfrm>
            <a:off x="685800" y="457200"/>
            <a:ext cx="1712516" cy="164592"/>
          </a:xfrm>
          <a:prstGeom prst="rect">
            <a:avLst/>
          </a:prstGeom>
          <a:noFill/>
          <a:ln/>
        </p:spPr>
        <p:txBody>
          <a:bodyPr wrap="none" lIns="0" tIns="0" rIns="0" bIns="0" rtlCol="0" anchor="t"/>
          <a:lstStyle/>
          <a:p>
            <a:pPr algn="l" indent="0" marL="0">
              <a:lnSpc>
                <a:spcPts val="1181"/>
              </a:lnSpc>
              <a:buNone/>
            </a:pPr>
            <a:r>
              <a:rPr lang="en-US" sz="800" spc="173" kern="0" dirty="0">
                <a:solidFill>
                  <a:srgbClr val="FFFFFF">
                    <a:alpha val="85000"/>
                  </a:srgbClr>
                </a:solidFill>
                <a:latin typeface="Liberation Sans Narrow" pitchFamily="34" charset="0"/>
                <a:ea typeface="Liberation Sans Narrow" pitchFamily="34" charset="-122"/>
                <a:cs typeface="Liberation Sans Narrow" pitchFamily="34" charset="-120"/>
              </a:rPr>
              <a:t>CHAPTER 02 / 05</a:t>
            </a:r>
            <a:endParaRPr lang="en-US" sz="800" dirty="0"/>
          </a:p>
        </p:txBody>
      </p:sp>
      <p:sp>
        <p:nvSpPr>
          <p:cNvPr id="4" name="Text 2"/>
          <p:cNvSpPr/>
          <p:nvPr/>
        </p:nvSpPr>
        <p:spPr>
          <a:xfrm>
            <a:off x="685800" y="2000250"/>
            <a:ext cx="6572250" cy="1066392"/>
          </a:xfrm>
          <a:prstGeom prst="rect">
            <a:avLst/>
          </a:prstGeom>
          <a:noFill/>
          <a:ln/>
        </p:spPr>
        <p:txBody>
          <a:bodyPr wrap="square" lIns="0" tIns="0" rIns="0" bIns="0" rtlCol="0" anchor="t"/>
          <a:lstStyle/>
          <a:p>
            <a:pPr algn="l" indent="0" marL="0">
              <a:lnSpc>
                <a:spcPts val="3888"/>
              </a:lnSpc>
              <a:buNone/>
            </a:pPr>
            <a:r>
              <a:rPr lang="en-US" sz="3600" b="1" spc="-65" kern="0" dirty="0">
                <a:solidFill>
                  <a:srgbClr val="FFFFFF"/>
                </a:solidFill>
                <a:latin typeface="Carlito" pitchFamily="34" charset="0"/>
                <a:ea typeface="Carlito" pitchFamily="34" charset="-122"/>
                <a:cs typeface="Carlito" pitchFamily="34" charset="-120"/>
              </a:rPr>
              <a:t>Qualitative Analysis &amp; Slope Fields</a:t>
            </a:r>
            <a:endParaRPr lang="en-US" sz="3600" dirty="0"/>
          </a:p>
        </p:txBody>
      </p:sp>
      <p:sp>
        <p:nvSpPr>
          <p:cNvPr id="5" name="Text 3"/>
          <p:cNvSpPr/>
          <p:nvPr/>
        </p:nvSpPr>
        <p:spPr>
          <a:xfrm>
            <a:off x="685800" y="3144813"/>
            <a:ext cx="6286500" cy="805400"/>
          </a:xfrm>
          <a:prstGeom prst="rect">
            <a:avLst/>
          </a:prstGeom>
          <a:noFill/>
          <a:ln/>
        </p:spPr>
        <p:txBody>
          <a:bodyPr wrap="square" lIns="0" tIns="0" rIns="0" bIns="0" rtlCol="0" anchor="t"/>
          <a:lstStyle/>
          <a:p>
            <a:pPr algn="l" indent="0" marL="0">
              <a:lnSpc>
                <a:spcPts val="1958"/>
              </a:lnSpc>
              <a:buNone/>
            </a:pPr>
            <a:r>
              <a:rPr lang="en-US" sz="1350" i="1" dirty="0">
                <a:solidFill>
                  <a:srgbClr val="FFFFFF">
                    <a:alpha val="80000"/>
                  </a:srgbClr>
                </a:solidFill>
                <a:latin typeface="Carlito" pitchFamily="34" charset="0"/>
                <a:ea typeface="Carlito" pitchFamily="34" charset="-122"/>
                <a:cs typeface="Carlito" pitchFamily="34" charset="-120"/>
              </a:rPr>
              <a:t>Before we manipulate symbols, we must see the mathematics. The geometry of rate laws — equilibria, stability, and long-term behavior — visible at a glance.</a:t>
            </a:r>
            <a:endParaRPr lang="en-US" sz="1350" dirty="0"/>
          </a:p>
        </p:txBody>
      </p:sp>
      <p:sp>
        <p:nvSpPr>
          <p:cNvPr id="6" name="Text 4"/>
          <p:cNvSpPr/>
          <p:nvPr/>
        </p:nvSpPr>
        <p:spPr>
          <a:xfrm>
            <a:off x="685800" y="4119153"/>
            <a:ext cx="571500" cy="21431"/>
          </a:xfrm>
          <a:prstGeom prst="rect">
            <a:avLst/>
          </a:prstGeom>
          <a:solidFill>
            <a:srgbClr val="E07B00"/>
          </a:solidFill>
          <a:ln/>
        </p:spPr>
        <p:txBody>
          <a:bodyPr wrap="square" rtlCol="0" anchor="ctr"/>
          <a:lstStyle/>
          <a:p>
            <a:pPr indent="0" marL="0">
              <a:buNone/>
            </a:pPr>
            <a:endParaRPr lang="en-US" dirty="0"/>
          </a:p>
        </p:txBody>
      </p:sp>
      <p:sp>
        <p:nvSpPr>
          <p:cNvPr id="7" name="Text 5"/>
          <p:cNvSpPr/>
          <p:nvPr/>
        </p:nvSpPr>
        <p:spPr>
          <a:xfrm>
            <a:off x="7862255" y="4604147"/>
            <a:ext cx="871756" cy="164592"/>
          </a:xfrm>
          <a:prstGeom prst="rect">
            <a:avLst/>
          </a:prstGeom>
          <a:noFill/>
          <a:ln/>
        </p:spPr>
        <p:txBody>
          <a:bodyPr wrap="none" lIns="0" tIns="0" rIns="0" bIns="0" rtlCol="0" anchor="t"/>
          <a:lstStyle/>
          <a:p>
            <a:pPr algn="l" indent="0" marL="0">
              <a:lnSpc>
                <a:spcPts val="1097"/>
              </a:lnSpc>
              <a:buNone/>
            </a:pPr>
            <a:r>
              <a:rPr lang="en-US" sz="800" spc="146" kern="0" dirty="0">
                <a:solidFill>
                  <a:srgbClr val="FFFFFF">
                    <a:alpha val="60000"/>
                  </a:srgbClr>
                </a:solidFill>
                <a:latin typeface="Liberation Sans Narrow" pitchFamily="34" charset="0"/>
                <a:ea typeface="Liberation Sans Narrow" pitchFamily="34" charset="-122"/>
                <a:cs typeface="Liberation Sans Narrow" pitchFamily="34" charset="-120"/>
              </a:rPr>
              <a:t>SLIDE 07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883816"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2 · QUALITATIVE ANALYSIS</a:t>
            </a:r>
            <a:endParaRPr lang="en-US" sz="844" dirty="0"/>
          </a:p>
        </p:txBody>
      </p:sp>
      <p:sp>
        <p:nvSpPr>
          <p:cNvPr id="3" name="Text 1"/>
          <p:cNvSpPr/>
          <p:nvPr/>
        </p:nvSpPr>
        <p:spPr>
          <a:xfrm>
            <a:off x="685800" y="730448"/>
            <a:ext cx="8341042" cy="319339"/>
          </a:xfrm>
          <a:prstGeom prst="rect">
            <a:avLst/>
          </a:prstGeom>
          <a:noFill/>
          <a:ln/>
        </p:spPr>
        <p:txBody>
          <a:bodyPr wrap="none" lIns="0" tIns="0" rIns="0" bIns="0" rtlCol="0" anchor="t"/>
          <a:lstStyle/>
          <a:p>
            <a:pPr algn="l" indent="0" marL="0">
              <a:lnSpc>
                <a:spcPts val="2329"/>
              </a:lnSpc>
              <a:buNone/>
            </a:pPr>
            <a:r>
              <a:rPr lang="en-US" sz="2025" b="1" spc="-24" kern="0" dirty="0">
                <a:solidFill>
                  <a:srgbClr val="1A2A4F"/>
                </a:solidFill>
                <a:latin typeface="Carlito" pitchFamily="34" charset="0"/>
                <a:ea typeface="Carlito" pitchFamily="34" charset="-122"/>
                <a:cs typeface="Carlito" pitchFamily="34" charset="-120"/>
              </a:rPr>
              <a:t>Geometry Before Algebra</a:t>
            </a:r>
            <a:endParaRPr lang="en-US" sz="2025" dirty="0"/>
          </a:p>
        </p:txBody>
      </p:sp>
      <p:sp>
        <p:nvSpPr>
          <p:cNvPr id="4" name="Text 2"/>
          <p:cNvSpPr/>
          <p:nvPr/>
        </p:nvSpPr>
        <p:spPr>
          <a:xfrm>
            <a:off x="685800" y="1111858"/>
            <a:ext cx="7858125" cy="462794"/>
          </a:xfrm>
          <a:prstGeom prst="rect">
            <a:avLst/>
          </a:prstGeom>
          <a:noFill/>
          <a:ln/>
        </p:spPr>
        <p:txBody>
          <a:bodyPr wrap="square" lIns="0" tIns="0" rIns="0" bIns="0" rtlCol="0" anchor="t"/>
          <a:lstStyle/>
          <a:p>
            <a:pPr algn="l" indent="0" marL="0">
              <a:lnSpc>
                <a:spcPts val="1530"/>
              </a:lnSpc>
              <a:buNone/>
            </a:pPr>
            <a:r>
              <a:rPr lang="en-US" sz="900" dirty="0">
                <a:solidFill>
                  <a:srgbClr val="14171F"/>
                </a:solidFill>
                <a:latin typeface="Carlito" pitchFamily="34" charset="0"/>
                <a:ea typeface="Carlito" pitchFamily="34" charset="-122"/>
                <a:cs typeface="Carlito" pitchFamily="34" charset="-120"/>
              </a:rPr>
              <a:t>For dydx=f(x,y), the right-hand side assigns a slope to every point in the plane. We can sketch the entire family of solution curves before performing any integration.</a:t>
            </a:r>
            <a:endParaRPr lang="en-US" sz="900" dirty="0"/>
          </a:p>
        </p:txBody>
      </p:sp>
      <p:sp>
        <p:nvSpPr>
          <p:cNvPr id="5" name="Text 3"/>
          <p:cNvSpPr/>
          <p:nvPr/>
        </p:nvSpPr>
        <p:spPr>
          <a:xfrm>
            <a:off x="685800" y="1697534"/>
            <a:ext cx="640080" cy="246888"/>
          </a:xfrm>
          <a:prstGeom prst="rect">
            <a:avLst/>
          </a:prstGeom>
          <a:noFill/>
          <a:ln/>
        </p:spPr>
        <p:txBody>
          <a:bodyPr wrap="none" lIns="0" tIns="14288" rIns="0" bIns="0" rtlCol="0" anchor="t"/>
          <a:lstStyle/>
          <a:p>
            <a:pPr algn="l" indent="0" marL="0">
              <a:lnSpc>
                <a:spcPts val="1688"/>
              </a:lnSpc>
              <a:buNone/>
            </a:pPr>
            <a:r>
              <a:rPr lang="en-US" sz="1688" b="1" spc="-34" kern="0" dirty="0">
                <a:solidFill>
                  <a:srgbClr val="1F61C9"/>
                </a:solidFill>
                <a:latin typeface="Liberation Sans Narrow" pitchFamily="34" charset="0"/>
                <a:ea typeface="Liberation Sans Narrow" pitchFamily="34" charset="-122"/>
                <a:cs typeface="Liberation Sans Narrow" pitchFamily="34" charset="-120"/>
              </a:rPr>
              <a:t>1</a:t>
            </a:r>
            <a:endParaRPr lang="en-US" sz="1688" dirty="0"/>
          </a:p>
        </p:txBody>
      </p:sp>
      <p:sp>
        <p:nvSpPr>
          <p:cNvPr id="6" name="Text 4"/>
          <p:cNvSpPr/>
          <p:nvPr/>
        </p:nvSpPr>
        <p:spPr>
          <a:xfrm>
            <a:off x="1185863" y="1697534"/>
            <a:ext cx="4465529" cy="140446"/>
          </a:xfrm>
          <a:prstGeom prst="rect">
            <a:avLst/>
          </a:prstGeom>
          <a:noFill/>
          <a:ln/>
        </p:spPr>
        <p:txBody>
          <a:bodyPr wrap="none" lIns="0" tIns="0" rIns="0" bIns="0" rtlCol="0" anchor="t">
            <a:normAutofit/>
          </a:bodyPr>
          <a:lstStyle/>
          <a:p>
            <a:pPr algn="l" indent="0" marL="0">
              <a:lnSpc>
                <a:spcPts val="1097"/>
              </a:lnSpc>
              <a:buNone/>
            </a:pPr>
            <a:r>
              <a:rPr lang="en-US" sz="800" b="1" spc="51" kern="0" dirty="0">
                <a:solidFill>
                  <a:srgbClr val="1A2A4F"/>
                </a:solidFill>
                <a:latin typeface="Carlito" pitchFamily="34" charset="0"/>
                <a:ea typeface="Carlito" pitchFamily="34" charset="-122"/>
                <a:cs typeface="Carlito" pitchFamily="34" charset="-120"/>
              </a:rPr>
              <a:t>WORKS WHEN ALGEBRA FAILS</a:t>
            </a:r>
            <a:endParaRPr lang="en-US" sz="800" dirty="0"/>
          </a:p>
        </p:txBody>
      </p:sp>
      <p:sp>
        <p:nvSpPr>
          <p:cNvPr id="7" name="Text 5"/>
          <p:cNvSpPr/>
          <p:nvPr/>
        </p:nvSpPr>
        <p:spPr>
          <a:xfrm>
            <a:off x="1185863" y="1865412"/>
            <a:ext cx="3836417" cy="419517"/>
          </a:xfrm>
          <a:prstGeom prst="rect">
            <a:avLst/>
          </a:prstGeom>
          <a:noFill/>
          <a:ln/>
        </p:spPr>
        <p:txBody>
          <a:bodyPr wrap="square" lIns="0" tIns="0" rIns="0" bIns="0" rtlCol="0" anchor="t"/>
          <a:lstStyle/>
          <a:p>
            <a:pPr algn="l" indent="0" marL="0">
              <a:lnSpc>
                <a:spcPts val="1530"/>
              </a:lnSpc>
              <a:buNone/>
            </a:pPr>
            <a:r>
              <a:rPr lang="en-US" sz="900" dirty="0">
                <a:solidFill>
                  <a:srgbClr val="14171F"/>
                </a:solidFill>
                <a:latin typeface="Carlito" pitchFamily="34" charset="0"/>
                <a:ea typeface="Carlito" pitchFamily="34" charset="-122"/>
                <a:cs typeface="Carlito" pitchFamily="34" charset="-120"/>
              </a:rPr>
              <a:t>Many ODEs (e.g., y′=sin⁡(xy)) have no closed-form solution, yet their qualitative behavior is fully visible from the slope field alone.</a:t>
            </a:r>
            <a:endParaRPr lang="en-US" sz="900" dirty="0"/>
          </a:p>
        </p:txBody>
      </p:sp>
      <p:sp>
        <p:nvSpPr>
          <p:cNvPr id="8" name="Text 6"/>
          <p:cNvSpPr/>
          <p:nvPr/>
        </p:nvSpPr>
        <p:spPr>
          <a:xfrm>
            <a:off x="685800" y="2368153"/>
            <a:ext cx="640080" cy="246888"/>
          </a:xfrm>
          <a:prstGeom prst="rect">
            <a:avLst/>
          </a:prstGeom>
          <a:noFill/>
          <a:ln/>
        </p:spPr>
        <p:txBody>
          <a:bodyPr wrap="none" lIns="0" tIns="14288" rIns="0" bIns="0" rtlCol="0" anchor="t"/>
          <a:lstStyle/>
          <a:p>
            <a:pPr algn="l" indent="0" marL="0">
              <a:lnSpc>
                <a:spcPts val="1688"/>
              </a:lnSpc>
              <a:buNone/>
            </a:pPr>
            <a:r>
              <a:rPr lang="en-US" sz="1688" b="1" spc="-34" kern="0" dirty="0">
                <a:solidFill>
                  <a:srgbClr val="1F61C9"/>
                </a:solidFill>
                <a:latin typeface="Liberation Sans Narrow" pitchFamily="34" charset="0"/>
                <a:ea typeface="Liberation Sans Narrow" pitchFamily="34" charset="-122"/>
                <a:cs typeface="Liberation Sans Narrow" pitchFamily="34" charset="-120"/>
              </a:rPr>
              <a:t>2</a:t>
            </a:r>
            <a:endParaRPr lang="en-US" sz="1688" dirty="0"/>
          </a:p>
        </p:txBody>
      </p:sp>
      <p:sp>
        <p:nvSpPr>
          <p:cNvPr id="9" name="Text 7"/>
          <p:cNvSpPr/>
          <p:nvPr/>
        </p:nvSpPr>
        <p:spPr>
          <a:xfrm>
            <a:off x="1185863" y="2368153"/>
            <a:ext cx="4741751" cy="140446"/>
          </a:xfrm>
          <a:prstGeom prst="rect">
            <a:avLst/>
          </a:prstGeom>
          <a:noFill/>
          <a:ln/>
        </p:spPr>
        <p:txBody>
          <a:bodyPr wrap="none" lIns="0" tIns="0" rIns="0" bIns="0" rtlCol="0" anchor="t">
            <a:normAutofit/>
          </a:bodyPr>
          <a:lstStyle/>
          <a:p>
            <a:pPr algn="l" indent="0" marL="0">
              <a:lnSpc>
                <a:spcPts val="1097"/>
              </a:lnSpc>
              <a:buNone/>
            </a:pPr>
            <a:r>
              <a:rPr lang="en-US" sz="800" b="1" spc="51" kern="0" dirty="0">
                <a:solidFill>
                  <a:srgbClr val="1A2A4F"/>
                </a:solidFill>
                <a:latin typeface="Carlito" pitchFamily="34" charset="0"/>
                <a:ea typeface="Carlito" pitchFamily="34" charset="-122"/>
                <a:cs typeface="Carlito" pitchFamily="34" charset="-120"/>
              </a:rPr>
              <a:t>REVEALS EQUILIBRIA</a:t>
            </a:r>
            <a:endParaRPr lang="en-US" sz="800" dirty="0"/>
          </a:p>
        </p:txBody>
      </p:sp>
      <p:sp>
        <p:nvSpPr>
          <p:cNvPr id="10" name="Text 8"/>
          <p:cNvSpPr/>
          <p:nvPr/>
        </p:nvSpPr>
        <p:spPr>
          <a:xfrm>
            <a:off x="1185863" y="2536031"/>
            <a:ext cx="3836417" cy="419517"/>
          </a:xfrm>
          <a:prstGeom prst="rect">
            <a:avLst/>
          </a:prstGeom>
          <a:noFill/>
          <a:ln/>
        </p:spPr>
        <p:txBody>
          <a:bodyPr wrap="square" lIns="0" tIns="0" rIns="0" bIns="0" rtlCol="0" anchor="t"/>
          <a:lstStyle/>
          <a:p>
            <a:pPr algn="l" indent="0" marL="0">
              <a:lnSpc>
                <a:spcPts val="1530"/>
              </a:lnSpc>
              <a:buNone/>
            </a:pPr>
            <a:r>
              <a:rPr lang="en-US" sz="900" dirty="0">
                <a:solidFill>
                  <a:srgbClr val="14171F"/>
                </a:solidFill>
                <a:latin typeface="Carlito" pitchFamily="34" charset="0"/>
                <a:ea typeface="Carlito" pitchFamily="34" charset="-122"/>
                <a:cs typeface="Carlito" pitchFamily="34" charset="-120"/>
              </a:rPr>
              <a:t>A constant function y=c is a solution when f(x,c)=0. These appear as horizontal flow lines in the slope field.</a:t>
            </a:r>
            <a:endParaRPr lang="en-US" sz="900" dirty="0"/>
          </a:p>
        </p:txBody>
      </p:sp>
      <p:sp>
        <p:nvSpPr>
          <p:cNvPr id="11" name="Text 9"/>
          <p:cNvSpPr/>
          <p:nvPr/>
        </p:nvSpPr>
        <p:spPr>
          <a:xfrm>
            <a:off x="685800" y="3038773"/>
            <a:ext cx="640080" cy="246888"/>
          </a:xfrm>
          <a:prstGeom prst="rect">
            <a:avLst/>
          </a:prstGeom>
          <a:noFill/>
          <a:ln/>
        </p:spPr>
        <p:txBody>
          <a:bodyPr wrap="none" lIns="0" tIns="14288" rIns="0" bIns="0" rtlCol="0" anchor="t"/>
          <a:lstStyle/>
          <a:p>
            <a:pPr algn="l" indent="0" marL="0">
              <a:lnSpc>
                <a:spcPts val="1688"/>
              </a:lnSpc>
              <a:buNone/>
            </a:pPr>
            <a:r>
              <a:rPr lang="en-US" sz="1688" b="1" spc="-34" kern="0" dirty="0">
                <a:solidFill>
                  <a:srgbClr val="1F61C9"/>
                </a:solidFill>
                <a:latin typeface="Liberation Sans Narrow" pitchFamily="34" charset="0"/>
                <a:ea typeface="Liberation Sans Narrow" pitchFamily="34" charset="-122"/>
                <a:cs typeface="Liberation Sans Narrow" pitchFamily="34" charset="-120"/>
              </a:rPr>
              <a:t>3</a:t>
            </a:r>
            <a:endParaRPr lang="en-US" sz="1688" dirty="0"/>
          </a:p>
        </p:txBody>
      </p:sp>
      <p:sp>
        <p:nvSpPr>
          <p:cNvPr id="12" name="Text 10"/>
          <p:cNvSpPr/>
          <p:nvPr/>
        </p:nvSpPr>
        <p:spPr>
          <a:xfrm>
            <a:off x="1185863" y="3038773"/>
            <a:ext cx="4143330" cy="140446"/>
          </a:xfrm>
          <a:prstGeom prst="rect">
            <a:avLst/>
          </a:prstGeom>
          <a:noFill/>
          <a:ln/>
        </p:spPr>
        <p:txBody>
          <a:bodyPr wrap="square" lIns="0" tIns="0" rIns="0" bIns="0" rtlCol="0" anchor="t">
            <a:normAutofit/>
          </a:bodyPr>
          <a:lstStyle/>
          <a:p>
            <a:pPr algn="l" indent="0" marL="0">
              <a:lnSpc>
                <a:spcPts val="1097"/>
              </a:lnSpc>
              <a:buNone/>
            </a:pPr>
            <a:r>
              <a:rPr lang="en-US" sz="800" b="1" spc="51" kern="0" dirty="0">
                <a:solidFill>
                  <a:srgbClr val="1A2A4F"/>
                </a:solidFill>
                <a:latin typeface="Carlito" pitchFamily="34" charset="0"/>
                <a:ea typeface="Carlito" pitchFamily="34" charset="-122"/>
                <a:cs typeface="Carlito" pitchFamily="34" charset="-120"/>
              </a:rPr>
              <a:t>EXPOSES LONG-TERM BEHAVIOR</a:t>
            </a:r>
            <a:endParaRPr lang="en-US" sz="800" dirty="0"/>
          </a:p>
        </p:txBody>
      </p:sp>
      <p:sp>
        <p:nvSpPr>
          <p:cNvPr id="13" name="Text 11"/>
          <p:cNvSpPr/>
          <p:nvPr/>
        </p:nvSpPr>
        <p:spPr>
          <a:xfrm>
            <a:off x="1185863" y="3206651"/>
            <a:ext cx="3836417" cy="419517"/>
          </a:xfrm>
          <a:prstGeom prst="rect">
            <a:avLst/>
          </a:prstGeom>
          <a:noFill/>
          <a:ln/>
        </p:spPr>
        <p:txBody>
          <a:bodyPr wrap="square" lIns="0" tIns="0" rIns="0" bIns="0" rtlCol="0" anchor="t"/>
          <a:lstStyle/>
          <a:p>
            <a:pPr algn="l" indent="0" marL="0">
              <a:lnSpc>
                <a:spcPts val="1530"/>
              </a:lnSpc>
              <a:buNone/>
            </a:pPr>
            <a:r>
              <a:rPr lang="en-US" sz="900" dirty="0">
                <a:solidFill>
                  <a:srgbClr val="14171F"/>
                </a:solidFill>
                <a:latin typeface="Carlito" pitchFamily="34" charset="0"/>
                <a:ea typeface="Carlito" pitchFamily="34" charset="-122"/>
                <a:cs typeface="Carlito" pitchFamily="34" charset="-120"/>
              </a:rPr>
              <a:t>Stability and divergence are visible at a glance. Solutions either converge to equilibria, diverge to infinity, or oscillate.</a:t>
            </a:r>
            <a:endParaRPr lang="en-US" sz="900" dirty="0"/>
          </a:p>
        </p:txBody>
      </p:sp>
      <p:sp>
        <p:nvSpPr>
          <p:cNvPr id="14" name="Text 12"/>
          <p:cNvSpPr/>
          <p:nvPr/>
        </p:nvSpPr>
        <p:spPr>
          <a:xfrm>
            <a:off x="5225876" y="1701105"/>
            <a:ext cx="3400202" cy="3041786"/>
          </a:xfrm>
          <a:prstGeom prst="roundRect">
            <a:avLst>
              <a:gd name="adj" fmla="val 2505"/>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5" name="Text 13"/>
          <p:cNvSpPr/>
          <p:nvPr/>
        </p:nvSpPr>
        <p:spPr>
          <a:xfrm>
            <a:off x="5343748" y="1804690"/>
            <a:ext cx="3164458" cy="133302"/>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SLOPE FIELD · DY/DX = Y</a:t>
            </a:r>
            <a:endParaRPr lang="en-US" sz="800" dirty="0"/>
          </a:p>
        </p:txBody>
      </p:sp>
      <p:pic>
        <p:nvPicPr>
          <p:cNvPr id="16" name="Image 0" descr="/tmp/h2p-svg-1781853762192-ots7u6.png">    </p:cNvPr>
          <p:cNvPicPr>
            <a:picLocks noChangeAspect="1"/>
          </p:cNvPicPr>
          <p:nvPr/>
        </p:nvPicPr>
        <p:blipFill>
          <a:blip r:embed="rId1"/>
          <a:stretch>
            <a:fillRect/>
          </a:stretch>
        </p:blipFill>
        <p:spPr>
          <a:xfrm>
            <a:off x="5640102" y="1979712"/>
            <a:ext cx="2571750" cy="2000250"/>
          </a:xfrm>
          <a:prstGeom prst="rect">
            <a:avLst/>
          </a:prstGeom>
        </p:spPr>
      </p:pic>
      <p:sp>
        <p:nvSpPr>
          <p:cNvPr id="17" name="Shape 14"/>
          <p:cNvSpPr/>
          <p:nvPr/>
        </p:nvSpPr>
        <p:spPr>
          <a:xfrm>
            <a:off x="5343748" y="4040684"/>
            <a:ext cx="3164458" cy="0"/>
          </a:xfrm>
          <a:prstGeom prst="line">
            <a:avLst/>
          </a:prstGeom>
          <a:noFill/>
          <a:ln w="7144">
            <a:solidFill>
              <a:srgbClr val="E3E6EE"/>
            </a:solidFill>
            <a:prstDash val="solid"/>
          </a:ln>
        </p:spPr>
      </p:sp>
      <p:sp>
        <p:nvSpPr>
          <p:cNvPr id="18" name="Text 15"/>
          <p:cNvSpPr/>
          <p:nvPr/>
        </p:nvSpPr>
        <p:spPr>
          <a:xfrm>
            <a:off x="5343748" y="4037112"/>
            <a:ext cx="3164458" cy="616483"/>
          </a:xfrm>
          <a:prstGeom prst="rect">
            <a:avLst/>
          </a:prstGeom>
          <a:noFill/>
          <a:ln/>
        </p:spPr>
        <p:txBody>
          <a:bodyPr wrap="square" lIns="0" tIns="57150" rIns="0" bIns="0" rtlCol="0" anchor="t"/>
          <a:lstStyle/>
          <a:p>
            <a:pPr algn="l" indent="0" marL="0">
              <a:lnSpc>
                <a:spcPts val="1339"/>
              </a:lnSpc>
              <a:buNone/>
            </a:pPr>
            <a:r>
              <a:rPr lang="en-US" sz="800" dirty="0">
                <a:solidFill>
                  <a:srgbClr val="14171F"/>
                </a:solidFill>
                <a:latin typeface="Carlito" pitchFamily="34" charset="0"/>
                <a:ea typeface="Carlito" pitchFamily="34" charset="-122"/>
                <a:cs typeface="Carlito" pitchFamily="34" charset="-120"/>
              </a:rPr>
              <a:t>Example: dydx=y. Slope equals the y-coordinate. At y=0, all slopes are horizontal — an unstable equilibrium. For y&gt;0, solutions grow exponentially.</a:t>
            </a:r>
            <a:endParaRPr lang="en-US" sz="800" dirty="0"/>
          </a:p>
        </p:txBody>
      </p:sp>
      <p:sp>
        <p:nvSpPr>
          <p:cNvPr id="19" name="Text 16"/>
          <p:cNvSpPr/>
          <p:nvPr/>
        </p:nvSpPr>
        <p:spPr>
          <a:xfrm>
            <a:off x="8299363" y="4857750"/>
            <a:ext cx="460337"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7 / 38</a:t>
            </a:r>
            <a:endParaRPr lang="en-US" sz="800" dirty="0"/>
          </a:p>
        </p:txBody>
      </p:sp>
      <p:pic>
        <p:nvPicPr>
          <p:cNvPr id="20"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A2A4F"/>
          </a:solidFill>
          <a:ln/>
        </p:spPr>
        <p:txBody>
          <a:bodyPr wrap="square" rtlCol="0" anchor="ctr"/>
          <a:lstStyle/>
          <a:p>
            <a:pPr indent="0" marL="0">
              <a:buNone/>
            </a:pPr>
            <a:endParaRPr lang="en-US" dirty="0"/>
          </a:p>
        </p:txBody>
      </p:sp>
      <p:sp>
        <p:nvSpPr>
          <p:cNvPr id="3" name="Text 1"/>
          <p:cNvSpPr/>
          <p:nvPr/>
        </p:nvSpPr>
        <p:spPr>
          <a:xfrm>
            <a:off x="6020395" y="428625"/>
            <a:ext cx="3123605" cy="1836230"/>
          </a:xfrm>
          <a:prstGeom prst="rect">
            <a:avLst/>
          </a:prstGeom>
          <a:noFill/>
          <a:ln/>
        </p:spPr>
        <p:txBody>
          <a:bodyPr wrap="none" lIns="0" tIns="0" rIns="0" bIns="0" rtlCol="0" anchor="t"/>
          <a:lstStyle/>
          <a:p>
            <a:pPr algn="l" indent="0" marL="0">
              <a:lnSpc>
                <a:spcPts val="13388"/>
              </a:lnSpc>
              <a:buNone/>
            </a:pPr>
            <a:r>
              <a:rPr lang="en-US" sz="15750" b="1" spc="-630" kern="0" dirty="0">
                <a:solidFill>
                  <a:srgbClr val="FFFFFF">
                    <a:alpha val="12000"/>
                  </a:srgbClr>
                </a:solidFill>
                <a:latin typeface="Liberation Sans Narrow" pitchFamily="34" charset="0"/>
                <a:ea typeface="Liberation Sans Narrow" pitchFamily="34" charset="-122"/>
                <a:cs typeface="Liberation Sans Narrow" pitchFamily="34" charset="-120"/>
              </a:rPr>
              <a:t>03</a:t>
            </a:r>
            <a:endParaRPr lang="en-US" sz="15750" dirty="0"/>
          </a:p>
        </p:txBody>
      </p:sp>
      <p:sp>
        <p:nvSpPr>
          <p:cNvPr id="4" name="Text 2"/>
          <p:cNvSpPr/>
          <p:nvPr/>
        </p:nvSpPr>
        <p:spPr>
          <a:xfrm>
            <a:off x="571500" y="400050"/>
            <a:ext cx="1712516" cy="125403"/>
          </a:xfrm>
          <a:prstGeom prst="rect">
            <a:avLst/>
          </a:prstGeom>
          <a:noFill/>
          <a:ln/>
        </p:spPr>
        <p:txBody>
          <a:bodyPr wrap="none" lIns="0" tIns="0" rIns="0" bIns="0" rtlCol="0" anchor="t"/>
          <a:lstStyle/>
          <a:p>
            <a:pPr algn="l" indent="0" marL="0">
              <a:buNone/>
            </a:pPr>
            <a:r>
              <a:rPr lang="en-US" sz="800" spc="173" kern="0" dirty="0">
                <a:solidFill>
                  <a:srgbClr val="FFFFFF">
                    <a:alpha val="90000"/>
                  </a:srgbClr>
                </a:solidFill>
                <a:latin typeface="Liberation Sans Narrow" pitchFamily="34" charset="0"/>
                <a:ea typeface="Liberation Sans Narrow" pitchFamily="34" charset="-122"/>
                <a:cs typeface="Liberation Sans Narrow" pitchFamily="34" charset="-120"/>
              </a:rPr>
              <a:t>CHAPTER 03 / 05</a:t>
            </a:r>
            <a:endParaRPr lang="en-US" sz="800" dirty="0"/>
          </a:p>
        </p:txBody>
      </p:sp>
      <p:sp>
        <p:nvSpPr>
          <p:cNvPr id="5" name="Text 3"/>
          <p:cNvSpPr/>
          <p:nvPr/>
        </p:nvSpPr>
        <p:spPr>
          <a:xfrm>
            <a:off x="571500" y="2000250"/>
            <a:ext cx="5857875" cy="1555105"/>
          </a:xfrm>
          <a:prstGeom prst="rect">
            <a:avLst/>
          </a:prstGeom>
          <a:noFill/>
          <a:ln/>
        </p:spPr>
        <p:txBody>
          <a:bodyPr wrap="square" lIns="0" tIns="0" rIns="0" bIns="0" rtlCol="0" anchor="t"/>
          <a:lstStyle/>
          <a:p>
            <a:pPr algn="l" indent="0" marL="0">
              <a:lnSpc>
                <a:spcPts val="3780"/>
              </a:lnSpc>
              <a:buNone/>
            </a:pPr>
            <a:r>
              <a:rPr lang="en-US" sz="3600" b="1" spc="-65" kern="0" dirty="0">
                <a:solidFill>
                  <a:srgbClr val="FFFFFF"/>
                </a:solidFill>
                <a:latin typeface="Carlito" pitchFamily="34" charset="0"/>
                <a:ea typeface="Carlito" pitchFamily="34" charset="-122"/>
                <a:cs typeface="Carlito" pitchFamily="34" charset="-120"/>
              </a:rPr>
              <a:t>Analytical Methods — Identifying the Technique</a:t>
            </a:r>
            <a:endParaRPr lang="en-US" sz="3600" dirty="0"/>
          </a:p>
        </p:txBody>
      </p:sp>
      <p:sp>
        <p:nvSpPr>
          <p:cNvPr id="6" name="Text 4"/>
          <p:cNvSpPr/>
          <p:nvPr/>
        </p:nvSpPr>
        <p:spPr>
          <a:xfrm>
            <a:off x="571500" y="3611612"/>
            <a:ext cx="5429250" cy="805400"/>
          </a:xfrm>
          <a:prstGeom prst="rect">
            <a:avLst/>
          </a:prstGeom>
          <a:noFill/>
          <a:ln/>
        </p:spPr>
        <p:txBody>
          <a:bodyPr wrap="square" lIns="0" tIns="0" rIns="0" bIns="0" rtlCol="0" anchor="t"/>
          <a:lstStyle/>
          <a:p>
            <a:pPr algn="l" indent="0" marL="0">
              <a:lnSpc>
                <a:spcPts val="1958"/>
              </a:lnSpc>
              <a:buNone/>
            </a:pPr>
            <a:r>
              <a:rPr lang="en-US" sz="1350" i="1" dirty="0">
                <a:solidFill>
                  <a:srgbClr val="FFFFFF">
                    <a:alpha val="80000"/>
                  </a:srgbClr>
                </a:solidFill>
                <a:latin typeface="Carlito" pitchFamily="34" charset="0"/>
                <a:ea typeface="Carlito" pitchFamily="34" charset="-122"/>
                <a:cs typeface="Carlito" pitchFamily="34" charset="-120"/>
              </a:rPr>
              <a:t>Three foundational shapes — Separable, Linear, Exact — each unlocking a different integration strategy, derived from first principles.</a:t>
            </a:r>
            <a:endParaRPr lang="en-US" sz="1350" dirty="0"/>
          </a:p>
        </p:txBody>
      </p:sp>
      <p:sp>
        <p:nvSpPr>
          <p:cNvPr id="7" name="Text 5"/>
          <p:cNvSpPr/>
          <p:nvPr/>
        </p:nvSpPr>
        <p:spPr>
          <a:xfrm>
            <a:off x="571500" y="4585953"/>
            <a:ext cx="571500" cy="21431"/>
          </a:xfrm>
          <a:prstGeom prst="rect">
            <a:avLst/>
          </a:prstGeom>
          <a:solidFill>
            <a:srgbClr val="E07B00"/>
          </a:solidFill>
          <a:ln/>
        </p:spPr>
        <p:txBody>
          <a:bodyPr wrap="square" rtlCol="0" anchor="ctr"/>
          <a:lstStyle/>
          <a:p>
            <a:pPr indent="0" marL="0">
              <a:buNone/>
            </a:pPr>
            <a:endParaRPr lang="en-US" dirty="0"/>
          </a:p>
        </p:txBody>
      </p:sp>
      <p:sp>
        <p:nvSpPr>
          <p:cNvPr id="8" name="Text 6"/>
          <p:cNvSpPr/>
          <p:nvPr/>
        </p:nvSpPr>
        <p:spPr>
          <a:xfrm>
            <a:off x="7753871" y="4772025"/>
            <a:ext cx="1023900" cy="125403"/>
          </a:xfrm>
          <a:prstGeom prst="rect">
            <a:avLst/>
          </a:prstGeom>
          <a:noFill/>
          <a:ln/>
        </p:spPr>
        <p:txBody>
          <a:bodyPr wrap="none" lIns="0" tIns="0" rIns="0" bIns="0" rtlCol="0" anchor="t"/>
          <a:lstStyle/>
          <a:p>
            <a:pPr algn="l" indent="0" marL="0">
              <a:buNone/>
            </a:pPr>
            <a:r>
              <a:rPr lang="en-US" sz="800" spc="63" kern="0" dirty="0">
                <a:solidFill>
                  <a:srgbClr val="FFFFFF">
                    <a:alpha val="60000"/>
                  </a:srgbClr>
                </a:solidFill>
                <a:latin typeface="Liberation Sans Narrow" pitchFamily="34" charset="0"/>
                <a:ea typeface="Liberation Sans Narrow" pitchFamily="34" charset="-122"/>
                <a:cs typeface="Liberation Sans Narrow" pitchFamily="34" charset="-120"/>
              </a:rPr>
              <a:t>Slides 09–28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837283"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ANALYTICAL METHODS</a:t>
            </a:r>
            <a:endParaRPr lang="en-US" sz="844" dirty="0"/>
          </a:p>
        </p:txBody>
      </p:sp>
      <p:sp>
        <p:nvSpPr>
          <p:cNvPr id="3" name="Text 1"/>
          <p:cNvSpPr/>
          <p:nvPr/>
        </p:nvSpPr>
        <p:spPr>
          <a:xfrm>
            <a:off x="685800" y="701873"/>
            <a:ext cx="7943850" cy="319339"/>
          </a:xfrm>
          <a:prstGeom prst="rect">
            <a:avLst/>
          </a:prstGeom>
          <a:noFill/>
          <a:ln/>
        </p:spPr>
        <p:txBody>
          <a:bodyPr wrap="square" lIns="0" tIns="0" rIns="0" bIns="0" rtlCol="0" anchor="t"/>
          <a:lstStyle/>
          <a:p>
            <a:pPr algn="l" indent="0" marL="0">
              <a:lnSpc>
                <a:spcPts val="2329"/>
              </a:lnSpc>
              <a:buNone/>
            </a:pPr>
            <a:r>
              <a:rPr lang="en-US" sz="2025" b="1" spc="-24" kern="0" dirty="0">
                <a:solidFill>
                  <a:srgbClr val="1A2A4F"/>
                </a:solidFill>
                <a:latin typeface="Carlito" pitchFamily="34" charset="0"/>
                <a:ea typeface="Carlito" pitchFamily="34" charset="-122"/>
                <a:cs typeface="Carlito" pitchFamily="34" charset="-120"/>
              </a:rPr>
              <a:t>The Three Analytical “Shapes”</a:t>
            </a:r>
            <a:endParaRPr lang="en-US" sz="2025" dirty="0"/>
          </a:p>
        </p:txBody>
      </p:sp>
      <p:sp>
        <p:nvSpPr>
          <p:cNvPr id="4" name="Text 2"/>
          <p:cNvSpPr/>
          <p:nvPr/>
        </p:nvSpPr>
        <p:spPr>
          <a:xfrm>
            <a:off x="685800" y="1083283"/>
            <a:ext cx="7786688" cy="412525"/>
          </a:xfrm>
          <a:prstGeom prst="rect">
            <a:avLst/>
          </a:prstGeom>
          <a:noFill/>
          <a:ln/>
        </p:spPr>
        <p:txBody>
          <a:bodyPr wrap="square" lIns="0" tIns="0" rIns="0" bIns="0" rtlCol="0" anchor="t"/>
          <a:lstStyle/>
          <a:p>
            <a:pPr algn="l" indent="0" marL="0">
              <a:lnSpc>
                <a:spcPts val="1395"/>
              </a:lnSpc>
              <a:buNone/>
            </a:pPr>
            <a:r>
              <a:rPr lang="en-US" sz="900" dirty="0">
                <a:solidFill>
                  <a:srgbClr val="14171F"/>
                </a:solidFill>
                <a:latin typeface="Carlito" pitchFamily="34" charset="0"/>
                <a:ea typeface="Carlito" pitchFamily="34" charset="-122"/>
                <a:cs typeface="Carlito" pitchFamily="34" charset="-120"/>
              </a:rPr>
              <a:t>A general first-order ODE is written as dydx=f(x,y). We do not solve ODEs randomly; we solve them by recognizing the “shape” of f(x,y). There are three foundational shapes, each unlocking a different integration strategy.</a:t>
            </a:r>
            <a:endParaRPr lang="en-US" sz="900" dirty="0"/>
          </a:p>
        </p:txBody>
      </p:sp>
      <p:sp>
        <p:nvSpPr>
          <p:cNvPr id="5" name="Text 3"/>
          <p:cNvSpPr/>
          <p:nvPr/>
        </p:nvSpPr>
        <p:spPr>
          <a:xfrm>
            <a:off x="685800" y="1636700"/>
            <a:ext cx="2441823" cy="2571750"/>
          </a:xfrm>
          <a:prstGeom prst="roundRect">
            <a:avLst>
              <a:gd name="adj" fmla="val 3121"/>
            </a:avLst>
          </a:prstGeom>
          <a:solidFill>
            <a:srgbClr val="F6F7FB"/>
          </a:solidFill>
          <a:ln/>
        </p:spPr>
        <p:txBody>
          <a:bodyPr wrap="square" rtlCol="0" anchor="ctr"/>
          <a:lstStyle/>
          <a:p>
            <a:pPr indent="0" marL="0">
              <a:buNone/>
            </a:pPr>
            <a:endParaRPr lang="en-US" dirty="0"/>
          </a:p>
        </p:txBody>
      </p:sp>
      <p:sp>
        <p:nvSpPr>
          <p:cNvPr id="6" name="Shape 4"/>
          <p:cNvSpPr/>
          <p:nvPr/>
        </p:nvSpPr>
        <p:spPr>
          <a:xfrm>
            <a:off x="685800" y="1647416"/>
            <a:ext cx="2441823" cy="0"/>
          </a:xfrm>
          <a:prstGeom prst="line">
            <a:avLst/>
          </a:prstGeom>
          <a:noFill/>
          <a:ln w="21431">
            <a:solidFill>
              <a:srgbClr val="1F61C9"/>
            </a:solidFill>
            <a:prstDash val="solid"/>
          </a:ln>
        </p:spPr>
      </p:sp>
      <p:sp>
        <p:nvSpPr>
          <p:cNvPr id="7" name="Shape 5"/>
          <p:cNvSpPr/>
          <p:nvPr/>
        </p:nvSpPr>
        <p:spPr>
          <a:xfrm>
            <a:off x="3124051" y="1636700"/>
            <a:ext cx="0" cy="2571750"/>
          </a:xfrm>
          <a:prstGeom prst="line">
            <a:avLst/>
          </a:prstGeom>
          <a:noFill/>
          <a:ln w="7144">
            <a:solidFill>
              <a:srgbClr val="E3E6EE"/>
            </a:solidFill>
            <a:prstDash val="solid"/>
          </a:ln>
        </p:spPr>
      </p:sp>
      <p:sp>
        <p:nvSpPr>
          <p:cNvPr id="8" name="Shape 6"/>
          <p:cNvSpPr/>
          <p:nvPr/>
        </p:nvSpPr>
        <p:spPr>
          <a:xfrm>
            <a:off x="685800" y="4204878"/>
            <a:ext cx="2441823" cy="0"/>
          </a:xfrm>
          <a:prstGeom prst="line">
            <a:avLst/>
          </a:prstGeom>
          <a:noFill/>
          <a:ln w="7144">
            <a:solidFill>
              <a:srgbClr val="E3E6EE"/>
            </a:solidFill>
            <a:prstDash val="solid"/>
          </a:ln>
        </p:spPr>
      </p:sp>
      <p:sp>
        <p:nvSpPr>
          <p:cNvPr id="9" name="Shape 7"/>
          <p:cNvSpPr/>
          <p:nvPr/>
        </p:nvSpPr>
        <p:spPr>
          <a:xfrm>
            <a:off x="689372" y="1636700"/>
            <a:ext cx="0" cy="2571750"/>
          </a:xfrm>
          <a:prstGeom prst="line">
            <a:avLst/>
          </a:prstGeom>
          <a:noFill/>
          <a:ln w="7144">
            <a:solidFill>
              <a:srgbClr val="E3E6EE"/>
            </a:solidFill>
            <a:prstDash val="solid"/>
          </a:ln>
        </p:spPr>
      </p:sp>
      <p:sp>
        <p:nvSpPr>
          <p:cNvPr id="10" name="Text 8"/>
          <p:cNvSpPr/>
          <p:nvPr/>
        </p:nvSpPr>
        <p:spPr>
          <a:xfrm>
            <a:off x="835819" y="1786719"/>
            <a:ext cx="2141786" cy="272606"/>
          </a:xfrm>
          <a:prstGeom prst="rect">
            <a:avLst/>
          </a:prstGeom>
          <a:noFill/>
          <a:ln/>
        </p:spPr>
        <p:txBody>
          <a:bodyPr wrap="none" lIns="0" tIns="0" rIns="0" bIns="0" rtlCol="0" anchor="t">
            <a:normAutofit/>
          </a:bodyPr>
          <a:lstStyle/>
          <a:p>
            <a:pPr algn="l" indent="0" marL="0">
              <a:lnSpc>
                <a:spcPts val="2025"/>
              </a:lnSpc>
              <a:buNone/>
            </a:pPr>
            <a:r>
              <a:rPr lang="en-US" sz="2025" b="1" spc="-81" kern="0" dirty="0">
                <a:solidFill>
                  <a:srgbClr val="1F61C9"/>
                </a:solidFill>
                <a:latin typeface="Liberation Sans Narrow" pitchFamily="34" charset="0"/>
                <a:ea typeface="Liberation Sans Narrow" pitchFamily="34" charset="-122"/>
                <a:cs typeface="Liberation Sans Narrow" pitchFamily="34" charset="-120"/>
              </a:rPr>
              <a:t>1</a:t>
            </a:r>
            <a:endParaRPr lang="en-US" sz="2025" dirty="0"/>
          </a:p>
        </p:txBody>
      </p:sp>
      <p:sp>
        <p:nvSpPr>
          <p:cNvPr id="11" name="Text 9"/>
          <p:cNvSpPr/>
          <p:nvPr/>
        </p:nvSpPr>
        <p:spPr>
          <a:xfrm>
            <a:off x="835819" y="2086756"/>
            <a:ext cx="2141786" cy="208312"/>
          </a:xfrm>
          <a:prstGeom prst="rect">
            <a:avLst/>
          </a:prstGeom>
          <a:noFill/>
          <a:ln/>
        </p:spPr>
        <p:txBody>
          <a:bodyPr wrap="none" lIns="0" tIns="0" rIns="0" bIns="0" rtlCol="0" anchor="t"/>
          <a:lstStyle/>
          <a:p>
            <a:pPr algn="l" indent="0" marL="0">
              <a:lnSpc>
                <a:spcPts val="1519"/>
              </a:lnSpc>
              <a:buNone/>
            </a:pPr>
            <a:r>
              <a:rPr lang="en-US" sz="1013" b="1" spc="101" kern="0" dirty="0">
                <a:solidFill>
                  <a:srgbClr val="1A2A4F"/>
                </a:solidFill>
                <a:latin typeface="Carlito" pitchFamily="34" charset="0"/>
                <a:ea typeface="Carlito" pitchFamily="34" charset="-122"/>
                <a:cs typeface="Carlito" pitchFamily="34" charset="-120"/>
              </a:rPr>
              <a:t>SEPARABLE</a:t>
            </a:r>
            <a:endParaRPr lang="en-US" sz="1013" dirty="0"/>
          </a:p>
        </p:txBody>
      </p:sp>
      <p:sp>
        <p:nvSpPr>
          <p:cNvPr id="12" name="Text 10"/>
          <p:cNvSpPr/>
          <p:nvPr/>
        </p:nvSpPr>
        <p:spPr>
          <a:xfrm>
            <a:off x="839391" y="2368934"/>
            <a:ext cx="2134642" cy="465906"/>
          </a:xfrm>
          <a:prstGeom prst="roundRect">
            <a:avLst>
              <a:gd name="adj" fmla="val 12266"/>
            </a:avLst>
          </a:prstGeom>
          <a:solidFill>
            <a:srgbClr val="FFFFFF"/>
          </a:solidFill>
          <a:ln w="7144">
            <a:solidFill>
              <a:srgbClr val="E3E6EE"/>
            </a:solidFill>
            <a:prstDash val="solid"/>
          </a:ln>
        </p:spPr>
        <p:txBody>
          <a:bodyPr wrap="square" rtlCol="0" anchor="ctr"/>
          <a:lstStyle/>
          <a:p>
            <a:pPr indent="0" marL="0">
              <a:buNone/>
            </a:pPr>
            <a:endParaRPr lang="en-US" dirty="0"/>
          </a:p>
        </p:txBody>
      </p:sp>
      <p:pic>
        <p:nvPicPr>
          <p:cNvPr id="13" name="Image 0" descr="/tmp/h2p-svg-1781853763036-1gg6iy.png">    </p:cNvPr>
          <p:cNvPicPr>
            <a:picLocks noChangeAspect="1"/>
          </p:cNvPicPr>
          <p:nvPr/>
        </p:nvPicPr>
        <p:blipFill>
          <a:blip r:embed="rId1"/>
          <a:stretch>
            <a:fillRect/>
          </a:stretch>
        </p:blipFill>
        <p:spPr>
          <a:xfrm>
            <a:off x="1259756" y="2532459"/>
            <a:ext cx="1293912" cy="161516"/>
          </a:xfrm>
          <a:prstGeom prst="rect">
            <a:avLst/>
          </a:prstGeom>
        </p:spPr>
      </p:pic>
      <p:sp>
        <p:nvSpPr>
          <p:cNvPr id="14" name="Text 11"/>
          <p:cNvSpPr/>
          <p:nvPr/>
        </p:nvSpPr>
        <p:spPr>
          <a:xfrm>
            <a:off x="835819" y="2924138"/>
            <a:ext cx="2141786" cy="1148581"/>
          </a:xfrm>
          <a:prstGeom prst="rect">
            <a:avLst/>
          </a:prstGeom>
          <a:noFill/>
          <a:ln/>
        </p:spPr>
        <p:txBody>
          <a:bodyPr wrap="square" lIns="0" tIns="0" rIns="0" bIns="0" rtlCol="0" anchor="t"/>
          <a:lstStyle/>
          <a:p>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f(x,y) factors into a pure function of x times a pure function of y. Solve by splitting the differential and integrating both sides.</a:t>
            </a:r>
            <a:endParaRPr lang="en-US" sz="816" dirty="0"/>
          </a:p>
        </p:txBody>
      </p:sp>
      <p:sp>
        <p:nvSpPr>
          <p:cNvPr id="15" name="Text 12"/>
          <p:cNvSpPr/>
          <p:nvPr/>
        </p:nvSpPr>
        <p:spPr>
          <a:xfrm>
            <a:off x="3284786" y="1636700"/>
            <a:ext cx="2441935" cy="2571750"/>
          </a:xfrm>
          <a:prstGeom prst="roundRect">
            <a:avLst>
              <a:gd name="adj" fmla="val 3120"/>
            </a:avLst>
          </a:prstGeom>
          <a:solidFill>
            <a:srgbClr val="F6F7FB"/>
          </a:solidFill>
          <a:ln/>
        </p:spPr>
        <p:txBody>
          <a:bodyPr wrap="square" rtlCol="0" anchor="ctr"/>
          <a:lstStyle/>
          <a:p>
            <a:pPr indent="0" marL="0">
              <a:buNone/>
            </a:pPr>
            <a:endParaRPr lang="en-US" dirty="0"/>
          </a:p>
        </p:txBody>
      </p:sp>
      <p:sp>
        <p:nvSpPr>
          <p:cNvPr id="16" name="Shape 13"/>
          <p:cNvSpPr/>
          <p:nvPr/>
        </p:nvSpPr>
        <p:spPr>
          <a:xfrm>
            <a:off x="3284786" y="1647416"/>
            <a:ext cx="2441935" cy="0"/>
          </a:xfrm>
          <a:prstGeom prst="line">
            <a:avLst/>
          </a:prstGeom>
          <a:noFill/>
          <a:ln w="21431">
            <a:solidFill>
              <a:srgbClr val="1F61C9"/>
            </a:solidFill>
            <a:prstDash val="solid"/>
          </a:ln>
        </p:spPr>
      </p:sp>
      <p:sp>
        <p:nvSpPr>
          <p:cNvPr id="17" name="Shape 14"/>
          <p:cNvSpPr/>
          <p:nvPr/>
        </p:nvSpPr>
        <p:spPr>
          <a:xfrm>
            <a:off x="5723148" y="1636700"/>
            <a:ext cx="0" cy="2571750"/>
          </a:xfrm>
          <a:prstGeom prst="line">
            <a:avLst/>
          </a:prstGeom>
          <a:noFill/>
          <a:ln w="7144">
            <a:solidFill>
              <a:srgbClr val="E3E6EE"/>
            </a:solidFill>
            <a:prstDash val="solid"/>
          </a:ln>
        </p:spPr>
      </p:sp>
      <p:sp>
        <p:nvSpPr>
          <p:cNvPr id="18" name="Shape 15"/>
          <p:cNvSpPr/>
          <p:nvPr/>
        </p:nvSpPr>
        <p:spPr>
          <a:xfrm>
            <a:off x="3284786" y="4204878"/>
            <a:ext cx="2441935" cy="0"/>
          </a:xfrm>
          <a:prstGeom prst="line">
            <a:avLst/>
          </a:prstGeom>
          <a:noFill/>
          <a:ln w="7144">
            <a:solidFill>
              <a:srgbClr val="E3E6EE"/>
            </a:solidFill>
            <a:prstDash val="solid"/>
          </a:ln>
        </p:spPr>
      </p:sp>
      <p:sp>
        <p:nvSpPr>
          <p:cNvPr id="19" name="Shape 16"/>
          <p:cNvSpPr/>
          <p:nvPr/>
        </p:nvSpPr>
        <p:spPr>
          <a:xfrm>
            <a:off x="3288357" y="1636700"/>
            <a:ext cx="0" cy="2571750"/>
          </a:xfrm>
          <a:prstGeom prst="line">
            <a:avLst/>
          </a:prstGeom>
          <a:noFill/>
          <a:ln w="7144">
            <a:solidFill>
              <a:srgbClr val="E3E6EE"/>
            </a:solidFill>
            <a:prstDash val="solid"/>
          </a:ln>
        </p:spPr>
      </p:sp>
      <p:sp>
        <p:nvSpPr>
          <p:cNvPr id="20" name="Text 17"/>
          <p:cNvSpPr/>
          <p:nvPr/>
        </p:nvSpPr>
        <p:spPr>
          <a:xfrm>
            <a:off x="3434804" y="1786719"/>
            <a:ext cx="2141897" cy="272606"/>
          </a:xfrm>
          <a:prstGeom prst="rect">
            <a:avLst/>
          </a:prstGeom>
          <a:noFill/>
          <a:ln/>
        </p:spPr>
        <p:txBody>
          <a:bodyPr wrap="none" lIns="0" tIns="0" rIns="0" bIns="0" rtlCol="0" anchor="t">
            <a:normAutofit/>
          </a:bodyPr>
          <a:lstStyle/>
          <a:p>
            <a:pPr algn="l" indent="0" marL="0">
              <a:lnSpc>
                <a:spcPts val="2025"/>
              </a:lnSpc>
              <a:buNone/>
            </a:pPr>
            <a:r>
              <a:rPr lang="en-US" sz="2025" b="1" spc="-81" kern="0" dirty="0">
                <a:solidFill>
                  <a:srgbClr val="1F61C9"/>
                </a:solidFill>
                <a:latin typeface="Liberation Sans Narrow" pitchFamily="34" charset="0"/>
                <a:ea typeface="Liberation Sans Narrow" pitchFamily="34" charset="-122"/>
                <a:cs typeface="Liberation Sans Narrow" pitchFamily="34" charset="-120"/>
              </a:rPr>
              <a:t>2</a:t>
            </a:r>
            <a:endParaRPr lang="en-US" sz="2025" dirty="0"/>
          </a:p>
        </p:txBody>
      </p:sp>
      <p:sp>
        <p:nvSpPr>
          <p:cNvPr id="21" name="Text 18"/>
          <p:cNvSpPr/>
          <p:nvPr/>
        </p:nvSpPr>
        <p:spPr>
          <a:xfrm>
            <a:off x="3434804" y="2086756"/>
            <a:ext cx="2141897" cy="208312"/>
          </a:xfrm>
          <a:prstGeom prst="rect">
            <a:avLst/>
          </a:prstGeom>
          <a:noFill/>
          <a:ln/>
        </p:spPr>
        <p:txBody>
          <a:bodyPr wrap="none" lIns="0" tIns="0" rIns="0" bIns="0" rtlCol="0" anchor="t"/>
          <a:lstStyle/>
          <a:p>
            <a:pPr algn="l" indent="0" marL="0">
              <a:lnSpc>
                <a:spcPts val="1519"/>
              </a:lnSpc>
              <a:buNone/>
            </a:pPr>
            <a:r>
              <a:rPr lang="en-US" sz="1013" b="1" spc="101" kern="0" dirty="0">
                <a:solidFill>
                  <a:srgbClr val="1A2A4F"/>
                </a:solidFill>
                <a:latin typeface="Carlito" pitchFamily="34" charset="0"/>
                <a:ea typeface="Carlito" pitchFamily="34" charset="-122"/>
                <a:cs typeface="Carlito" pitchFamily="34" charset="-120"/>
              </a:rPr>
              <a:t>LINEAR</a:t>
            </a:r>
            <a:endParaRPr lang="en-US" sz="1013" dirty="0"/>
          </a:p>
        </p:txBody>
      </p:sp>
      <p:sp>
        <p:nvSpPr>
          <p:cNvPr id="22" name="Text 19"/>
          <p:cNvSpPr/>
          <p:nvPr/>
        </p:nvSpPr>
        <p:spPr>
          <a:xfrm>
            <a:off x="3438376" y="2368934"/>
            <a:ext cx="2134753" cy="465906"/>
          </a:xfrm>
          <a:prstGeom prst="roundRect">
            <a:avLst>
              <a:gd name="adj" fmla="val 12266"/>
            </a:avLst>
          </a:prstGeom>
          <a:solidFill>
            <a:srgbClr val="FFFFFF"/>
          </a:solidFill>
          <a:ln w="7144">
            <a:solidFill>
              <a:srgbClr val="E3E6EE"/>
            </a:solidFill>
            <a:prstDash val="solid"/>
          </a:ln>
        </p:spPr>
        <p:txBody>
          <a:bodyPr wrap="square" rtlCol="0" anchor="ctr"/>
          <a:lstStyle/>
          <a:p>
            <a:pPr indent="0" marL="0">
              <a:buNone/>
            </a:pPr>
            <a:endParaRPr lang="en-US" dirty="0"/>
          </a:p>
        </p:txBody>
      </p:sp>
      <p:pic>
        <p:nvPicPr>
          <p:cNvPr id="23" name="Image 1" descr="/tmp/h2p-svg-1781853763037-lyd2xd.png">    </p:cNvPr>
          <p:cNvPicPr>
            <a:picLocks noChangeAspect="1"/>
          </p:cNvPicPr>
          <p:nvPr/>
        </p:nvPicPr>
        <p:blipFill>
          <a:blip r:embed="rId2"/>
          <a:stretch>
            <a:fillRect/>
          </a:stretch>
        </p:blipFill>
        <p:spPr>
          <a:xfrm>
            <a:off x="3841328" y="2522860"/>
            <a:ext cx="1328849" cy="171115"/>
          </a:xfrm>
          <a:prstGeom prst="rect">
            <a:avLst/>
          </a:prstGeom>
        </p:spPr>
      </p:pic>
      <p:sp>
        <p:nvSpPr>
          <p:cNvPr id="24" name="Text 20"/>
          <p:cNvSpPr/>
          <p:nvPr/>
        </p:nvSpPr>
        <p:spPr>
          <a:xfrm>
            <a:off x="3434804" y="2924138"/>
            <a:ext cx="2141897" cy="1148581"/>
          </a:xfrm>
          <a:prstGeom prst="rect">
            <a:avLst/>
          </a:prstGeom>
          <a:noFill/>
          <a:ln/>
        </p:spPr>
        <p:txBody>
          <a:bodyPr wrap="square" lIns="0" tIns="0" rIns="0" bIns="0" rtlCol="0" anchor="t"/>
          <a:lstStyle/>
          <a:p>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The equation can be written in standard linear form. Solve by manufacturing an integrating factor and collapsing the left side into a product rule.</a:t>
            </a:r>
            <a:endParaRPr lang="en-US" sz="816" dirty="0"/>
          </a:p>
        </p:txBody>
      </p:sp>
      <p:sp>
        <p:nvSpPr>
          <p:cNvPr id="25" name="Text 21"/>
          <p:cNvSpPr/>
          <p:nvPr/>
        </p:nvSpPr>
        <p:spPr>
          <a:xfrm>
            <a:off x="5883883" y="1636700"/>
            <a:ext cx="2745767" cy="2571750"/>
          </a:xfrm>
          <a:prstGeom prst="roundRect">
            <a:avLst>
              <a:gd name="adj" fmla="val 2963"/>
            </a:avLst>
          </a:prstGeom>
          <a:solidFill>
            <a:srgbClr val="F6F7FB"/>
          </a:solidFill>
          <a:ln/>
        </p:spPr>
        <p:txBody>
          <a:bodyPr wrap="square" rtlCol="0" anchor="ctr"/>
          <a:lstStyle/>
          <a:p>
            <a:pPr indent="0" marL="0">
              <a:buNone/>
            </a:pPr>
            <a:endParaRPr lang="en-US" dirty="0"/>
          </a:p>
        </p:txBody>
      </p:sp>
      <p:sp>
        <p:nvSpPr>
          <p:cNvPr id="26" name="Shape 22"/>
          <p:cNvSpPr/>
          <p:nvPr/>
        </p:nvSpPr>
        <p:spPr>
          <a:xfrm>
            <a:off x="5883883" y="1647416"/>
            <a:ext cx="2745767" cy="0"/>
          </a:xfrm>
          <a:prstGeom prst="line">
            <a:avLst/>
          </a:prstGeom>
          <a:noFill/>
          <a:ln w="21431">
            <a:solidFill>
              <a:srgbClr val="1F61C9"/>
            </a:solidFill>
            <a:prstDash val="solid"/>
          </a:ln>
        </p:spPr>
      </p:sp>
      <p:sp>
        <p:nvSpPr>
          <p:cNvPr id="27" name="Shape 23"/>
          <p:cNvSpPr/>
          <p:nvPr/>
        </p:nvSpPr>
        <p:spPr>
          <a:xfrm>
            <a:off x="8626078" y="1636700"/>
            <a:ext cx="0" cy="2571750"/>
          </a:xfrm>
          <a:prstGeom prst="line">
            <a:avLst/>
          </a:prstGeom>
          <a:noFill/>
          <a:ln w="7144">
            <a:solidFill>
              <a:srgbClr val="E3E6EE"/>
            </a:solidFill>
            <a:prstDash val="solid"/>
          </a:ln>
        </p:spPr>
      </p:sp>
      <p:sp>
        <p:nvSpPr>
          <p:cNvPr id="28" name="Shape 24"/>
          <p:cNvSpPr/>
          <p:nvPr/>
        </p:nvSpPr>
        <p:spPr>
          <a:xfrm>
            <a:off x="5883883" y="4204878"/>
            <a:ext cx="2745767" cy="0"/>
          </a:xfrm>
          <a:prstGeom prst="line">
            <a:avLst/>
          </a:prstGeom>
          <a:noFill/>
          <a:ln w="7144">
            <a:solidFill>
              <a:srgbClr val="E3E6EE"/>
            </a:solidFill>
            <a:prstDash val="solid"/>
          </a:ln>
        </p:spPr>
      </p:sp>
      <p:sp>
        <p:nvSpPr>
          <p:cNvPr id="29" name="Shape 25"/>
          <p:cNvSpPr/>
          <p:nvPr/>
        </p:nvSpPr>
        <p:spPr>
          <a:xfrm>
            <a:off x="5887455" y="1636700"/>
            <a:ext cx="0" cy="2571750"/>
          </a:xfrm>
          <a:prstGeom prst="line">
            <a:avLst/>
          </a:prstGeom>
          <a:noFill/>
          <a:ln w="7144">
            <a:solidFill>
              <a:srgbClr val="E3E6EE"/>
            </a:solidFill>
            <a:prstDash val="solid"/>
          </a:ln>
        </p:spPr>
      </p:sp>
      <p:sp>
        <p:nvSpPr>
          <p:cNvPr id="30" name="Text 26"/>
          <p:cNvSpPr/>
          <p:nvPr/>
        </p:nvSpPr>
        <p:spPr>
          <a:xfrm>
            <a:off x="6033901" y="1786719"/>
            <a:ext cx="2445730" cy="272606"/>
          </a:xfrm>
          <a:prstGeom prst="rect">
            <a:avLst/>
          </a:prstGeom>
          <a:noFill/>
          <a:ln/>
        </p:spPr>
        <p:txBody>
          <a:bodyPr wrap="none" lIns="0" tIns="0" rIns="0" bIns="0" rtlCol="0" anchor="t">
            <a:normAutofit/>
          </a:bodyPr>
          <a:lstStyle/>
          <a:p>
            <a:pPr algn="l" indent="0" marL="0">
              <a:lnSpc>
                <a:spcPts val="2025"/>
              </a:lnSpc>
              <a:buNone/>
            </a:pPr>
            <a:r>
              <a:rPr lang="en-US" sz="2025" b="1" spc="-81" kern="0" dirty="0">
                <a:solidFill>
                  <a:srgbClr val="1F61C9"/>
                </a:solidFill>
                <a:latin typeface="Liberation Sans Narrow" pitchFamily="34" charset="0"/>
                <a:ea typeface="Liberation Sans Narrow" pitchFamily="34" charset="-122"/>
                <a:cs typeface="Liberation Sans Narrow" pitchFamily="34" charset="-120"/>
              </a:rPr>
              <a:t>3</a:t>
            </a:r>
            <a:endParaRPr lang="en-US" sz="2025" dirty="0"/>
          </a:p>
        </p:txBody>
      </p:sp>
      <p:sp>
        <p:nvSpPr>
          <p:cNvPr id="31" name="Text 27"/>
          <p:cNvSpPr/>
          <p:nvPr/>
        </p:nvSpPr>
        <p:spPr>
          <a:xfrm>
            <a:off x="6033901" y="2086756"/>
            <a:ext cx="2445730" cy="208312"/>
          </a:xfrm>
          <a:prstGeom prst="rect">
            <a:avLst/>
          </a:prstGeom>
          <a:noFill/>
          <a:ln/>
        </p:spPr>
        <p:txBody>
          <a:bodyPr wrap="none" lIns="0" tIns="0" rIns="0" bIns="0" rtlCol="0" anchor="t"/>
          <a:lstStyle/>
          <a:p>
            <a:pPr algn="l" indent="0" marL="0">
              <a:lnSpc>
                <a:spcPts val="1519"/>
              </a:lnSpc>
              <a:buNone/>
            </a:pPr>
            <a:r>
              <a:rPr lang="en-US" sz="1013" b="1" spc="101" kern="0" dirty="0">
                <a:solidFill>
                  <a:srgbClr val="1A2A4F"/>
                </a:solidFill>
                <a:latin typeface="Carlito" pitchFamily="34" charset="0"/>
                <a:ea typeface="Carlito" pitchFamily="34" charset="-122"/>
                <a:cs typeface="Carlito" pitchFamily="34" charset="-120"/>
              </a:rPr>
              <a:t>EXACT</a:t>
            </a:r>
            <a:endParaRPr lang="en-US" sz="1013" dirty="0"/>
          </a:p>
        </p:txBody>
      </p:sp>
      <p:sp>
        <p:nvSpPr>
          <p:cNvPr id="32" name="Text 28"/>
          <p:cNvSpPr/>
          <p:nvPr/>
        </p:nvSpPr>
        <p:spPr>
          <a:xfrm>
            <a:off x="6037473" y="2368934"/>
            <a:ext cx="2438586" cy="638026"/>
          </a:xfrm>
          <a:prstGeom prst="roundRect">
            <a:avLst>
              <a:gd name="adj" fmla="val 8957"/>
            </a:avLst>
          </a:prstGeom>
          <a:solidFill>
            <a:srgbClr val="FFFFFF"/>
          </a:solidFill>
          <a:ln w="7144">
            <a:solidFill>
              <a:srgbClr val="E3E6EE"/>
            </a:solidFill>
            <a:prstDash val="solid"/>
          </a:ln>
        </p:spPr>
        <p:txBody>
          <a:bodyPr wrap="square" rtlCol="0" anchor="ctr"/>
          <a:lstStyle/>
          <a:p>
            <a:pPr indent="0" marL="0">
              <a:buNone/>
            </a:pPr>
            <a:endParaRPr lang="en-US" dirty="0"/>
          </a:p>
        </p:txBody>
      </p:sp>
      <p:pic>
        <p:nvPicPr>
          <p:cNvPr id="33" name="Image 2" descr="/tmp/h2p-svg-1781853763037-o8vfjr.png">    </p:cNvPr>
          <p:cNvPicPr>
            <a:picLocks noChangeAspect="1"/>
          </p:cNvPicPr>
          <p:nvPr/>
        </p:nvPicPr>
        <p:blipFill>
          <a:blip r:embed="rId3"/>
          <a:stretch>
            <a:fillRect/>
          </a:stretch>
        </p:blipFill>
        <p:spPr>
          <a:xfrm>
            <a:off x="6112483" y="2510693"/>
            <a:ext cx="2288567" cy="368796"/>
          </a:xfrm>
          <a:prstGeom prst="rect">
            <a:avLst/>
          </a:prstGeom>
        </p:spPr>
      </p:pic>
      <p:sp>
        <p:nvSpPr>
          <p:cNvPr id="34" name="Text 29"/>
          <p:cNvSpPr/>
          <p:nvPr/>
        </p:nvSpPr>
        <p:spPr>
          <a:xfrm>
            <a:off x="6033901" y="3096258"/>
            <a:ext cx="2445730" cy="976461"/>
          </a:xfrm>
          <a:prstGeom prst="rect">
            <a:avLst/>
          </a:prstGeom>
          <a:noFill/>
          <a:ln/>
        </p:spPr>
        <p:txBody>
          <a:bodyPr wrap="square" lIns="0" tIns="0" rIns="0" bIns="0" rtlCol="0" anchor="t"/>
          <a:lstStyle/>
          <a:p>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Written in differential form, the mixed partials match. Solve by uncovering the hidden potential function F(x,y)=C.</a:t>
            </a:r>
            <a:endParaRPr lang="en-US" sz="816" dirty="0"/>
          </a:p>
        </p:txBody>
      </p:sp>
      <p:sp>
        <p:nvSpPr>
          <p:cNvPr id="35" name="Text 30"/>
          <p:cNvSpPr/>
          <p:nvPr/>
        </p:nvSpPr>
        <p:spPr>
          <a:xfrm>
            <a:off x="1157288" y="4337038"/>
            <a:ext cx="7000875" cy="164592"/>
          </a:xfrm>
          <a:prstGeom prst="rect">
            <a:avLst/>
          </a:prstGeom>
          <a:noFill/>
          <a:ln/>
        </p:spPr>
        <p:txBody>
          <a:bodyPr wrap="square" lIns="0" tIns="0" rIns="0" bIns="0" rtlCol="0" anchor="t"/>
          <a:lstStyle/>
          <a:p>
            <a:pPr algn="ctr" indent="0" marL="0">
              <a:lnSpc>
                <a:spcPts val="1097"/>
              </a:lnSpc>
              <a:buNone/>
            </a:pPr>
            <a:r>
              <a:rPr lang="en-US" sz="800" i="1" dirty="0">
                <a:solidFill>
                  <a:srgbClr val="4A5160"/>
                </a:solidFill>
                <a:latin typeface="Carlito" pitchFamily="34" charset="0"/>
                <a:ea typeface="Carlito" pitchFamily="34" charset="-122"/>
                <a:cs typeface="Carlito" pitchFamily="34" charset="-120"/>
              </a:rPr>
              <a:t>We will now derive each method from first principles — not by memorizing formulas, but by understanding the logic that makes each legitimate.</a:t>
            </a:r>
            <a:endParaRPr lang="en-US" sz="800" dirty="0"/>
          </a:p>
        </p:txBody>
      </p:sp>
      <p:sp>
        <p:nvSpPr>
          <p:cNvPr id="36" name="Text 31"/>
          <p:cNvSpPr/>
          <p:nvPr/>
        </p:nvSpPr>
        <p:spPr>
          <a:xfrm>
            <a:off x="8299363" y="4857750"/>
            <a:ext cx="460337"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9 / 38</a:t>
            </a:r>
            <a:endParaRPr lang="en-US" sz="800" dirty="0"/>
          </a:p>
        </p:txBody>
      </p:sp>
      <p:pic>
        <p:nvPicPr>
          <p:cNvPr id="37" name="Image 3" descr="preencoded.png">    </p:cNvPr>
          <p:cNvPicPr>
            <a:picLocks noChangeAspect="1"/>
          </p:cNvPicPr>
          <p:nvPr/>
        </p:nvPicPr>
        <p:blipFill>
          <a:blip r:embed="rId4"/>
          <a:stretch>
            <a:fillRect/>
          </a:stretch>
        </p:blipFill>
        <p:spPr>
          <a:xfrm>
            <a:off x="0" y="0"/>
            <a:ext cx="17145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73100"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TECHNIQUE 1</a:t>
            </a:r>
            <a:endParaRPr lang="en-US" sz="844" dirty="0"/>
          </a:p>
        </p:txBody>
      </p:sp>
      <p:sp>
        <p:nvSpPr>
          <p:cNvPr id="3" name="Text 1"/>
          <p:cNvSpPr/>
          <p:nvPr/>
        </p:nvSpPr>
        <p:spPr>
          <a:xfrm>
            <a:off x="685800" y="701873"/>
            <a:ext cx="7943850" cy="311115"/>
          </a:xfrm>
          <a:prstGeom prst="rect">
            <a:avLst/>
          </a:prstGeom>
          <a:noFill/>
          <a:ln/>
        </p:spPr>
        <p:txBody>
          <a:bodyPr wrap="square" lIns="0" tIns="0" rIns="0" bIns="0" rtlCol="0" anchor="t">
            <a:normAutofit/>
          </a:bodyPr>
          <a:lstStyle/>
          <a:p>
            <a:pPr algn="l" indent="0" marL="0">
              <a:lnSpc>
                <a:spcPts val="2329"/>
              </a:lnSpc>
              <a:buNone/>
            </a:pPr>
            <a:r>
              <a:rPr lang="en-US" sz="2025" b="1" spc="-24" kern="0" dirty="0">
                <a:solidFill>
                  <a:srgbClr val="1A2A4F"/>
                </a:solidFill>
                <a:latin typeface="Liberation Sans Narrow" pitchFamily="34" charset="0"/>
                <a:ea typeface="Liberation Sans Narrow" pitchFamily="34" charset="-122"/>
                <a:cs typeface="Liberation Sans Narrow" pitchFamily="34" charset="-120"/>
              </a:rPr>
              <a:t>Method 1 — Separation of Variables</a:t>
            </a:r>
            <a:endParaRPr lang="en-US" sz="2025" dirty="0"/>
          </a:p>
        </p:txBody>
      </p:sp>
      <p:sp>
        <p:nvSpPr>
          <p:cNvPr id="4" name="Text 2"/>
          <p:cNvSpPr/>
          <p:nvPr/>
        </p:nvSpPr>
        <p:spPr>
          <a:xfrm>
            <a:off x="685800" y="1040420"/>
            <a:ext cx="8458200" cy="231458"/>
          </a:xfrm>
          <a:prstGeom prst="rect">
            <a:avLst/>
          </a:prstGeom>
          <a:noFill/>
          <a:ln/>
        </p:spPr>
        <p:txBody>
          <a:bodyPr wrap="none" lIns="0" tIns="0" rIns="0" bIns="0" rtlCol="0" anchor="t"/>
          <a:lstStyle/>
          <a:p>
            <a:pPr algn="l" indent="0" marL="0">
              <a:lnSpc>
                <a:spcPts val="1688"/>
              </a:lnSpc>
              <a:buNone/>
            </a:pPr>
            <a:r>
              <a:rPr lang="en-US" sz="1125" i="1" spc="-6" kern="0" dirty="0">
                <a:solidFill>
                  <a:srgbClr val="1F61C9"/>
                </a:solidFill>
                <a:latin typeface="Carlito" pitchFamily="34" charset="0"/>
                <a:ea typeface="Carlito" pitchFamily="34" charset="-122"/>
                <a:cs typeface="Carlito" pitchFamily="34" charset="-120"/>
              </a:rPr>
              <a:t>The Logic of Separation</a:t>
            </a:r>
            <a:endParaRPr lang="en-US" sz="1125" dirty="0"/>
          </a:p>
        </p:txBody>
      </p:sp>
      <p:sp>
        <p:nvSpPr>
          <p:cNvPr id="5" name="Shape 3"/>
          <p:cNvSpPr/>
          <p:nvPr/>
        </p:nvSpPr>
        <p:spPr>
          <a:xfrm>
            <a:off x="685800" y="1644067"/>
            <a:ext cx="4369073" cy="0"/>
          </a:xfrm>
          <a:prstGeom prst="line">
            <a:avLst/>
          </a:prstGeom>
          <a:noFill/>
          <a:ln w="7144">
            <a:solidFill>
              <a:srgbClr val="E3E6EE"/>
            </a:solidFill>
            <a:prstDash val="solid"/>
          </a:ln>
        </p:spPr>
      </p:sp>
      <p:sp>
        <p:nvSpPr>
          <p:cNvPr id="6" name="Text 4"/>
          <p:cNvSpPr/>
          <p:nvPr/>
        </p:nvSpPr>
        <p:spPr>
          <a:xfrm>
            <a:off x="685800" y="1411895"/>
            <a:ext cx="5557461" cy="254603"/>
          </a:xfrm>
          <a:prstGeom prst="rect">
            <a:avLst/>
          </a:prstGeom>
          <a:noFill/>
          <a:ln/>
        </p:spPr>
        <p:txBody>
          <a:bodyPr wrap="none" lIns="0" tIns="0" rIns="0" bIns="57150" rtlCol="0" anchor="t"/>
          <a:lstStyle/>
          <a:p>
            <a:pPr algn="l" indent="0" marL="0">
              <a:lnSpc>
                <a:spcPts val="1350"/>
              </a:lnSpc>
              <a:buNone/>
            </a:pPr>
            <a:r>
              <a:rPr lang="en-US" sz="900" b="1" spc="90" kern="0" dirty="0">
                <a:solidFill>
                  <a:srgbClr val="1F61C9"/>
                </a:solidFill>
                <a:latin typeface="Carlito" pitchFamily="34" charset="0"/>
                <a:ea typeface="Carlito" pitchFamily="34" charset="-122"/>
                <a:cs typeface="Carlito" pitchFamily="34" charset="-120"/>
              </a:rPr>
              <a:t>THE CORE LOGIC</a:t>
            </a:r>
            <a:endParaRPr lang="en-US" sz="900" dirty="0"/>
          </a:p>
        </p:txBody>
      </p:sp>
      <p:sp>
        <p:nvSpPr>
          <p:cNvPr id="7" name="Text 5"/>
          <p:cNvSpPr/>
          <p:nvPr/>
        </p:nvSpPr>
        <p:spPr>
          <a:xfrm>
            <a:off x="685800" y="1733364"/>
            <a:ext cx="4369073" cy="585515"/>
          </a:xfrm>
          <a:prstGeom prst="rect">
            <a:avLst/>
          </a:prstGeom>
          <a:noFill/>
          <a:ln/>
        </p:spPr>
        <p:txBody>
          <a:bodyPr wrap="square" lIns="0" tIns="0" rIns="0" bIns="0" rtlCol="0" anchor="t"/>
          <a:lstStyle/>
          <a:p>
            <a:pPr algn="l" indent="0" marL="0">
              <a:lnSpc>
                <a:spcPts val="1351"/>
              </a:lnSpc>
              <a:buNone/>
            </a:pPr>
            <a:r>
              <a:rPr lang="en-US" sz="872" dirty="0">
                <a:solidFill>
                  <a:srgbClr val="14171F"/>
                </a:solidFill>
                <a:latin typeface="Carlito" pitchFamily="34" charset="0"/>
                <a:ea typeface="Carlito" pitchFamily="34" charset="-122"/>
                <a:cs typeface="Carlito" pitchFamily="34" charset="-120"/>
              </a:rPr>
              <a:t>An equation is separable if f(x,y)=g(x)h(y). The colloquial rule is “move dx and dy to opposite sides.” But dydx is a limit, not a literal fraction. Why is this legitimate? It is the reverse Chain Rule (u-substitution) in disguise.</a:t>
            </a:r>
            <a:endParaRPr lang="en-US" sz="872" dirty="0"/>
          </a:p>
        </p:txBody>
      </p:sp>
      <p:sp>
        <p:nvSpPr>
          <p:cNvPr id="8" name="Text 6"/>
          <p:cNvSpPr/>
          <p:nvPr/>
        </p:nvSpPr>
        <p:spPr>
          <a:xfrm>
            <a:off x="685800" y="2346945"/>
            <a:ext cx="4369073" cy="400229"/>
          </a:xfrm>
          <a:prstGeom prst="rect">
            <a:avLst/>
          </a:prstGeom>
          <a:noFill/>
          <a:ln/>
        </p:spPr>
        <p:txBody>
          <a:bodyPr wrap="square" lIns="0" tIns="0" rIns="0" bIns="0" rtlCol="0" anchor="t"/>
          <a:lstStyle/>
          <a:p>
            <a:pPr algn="l" indent="0" marL="0">
              <a:lnSpc>
                <a:spcPts val="1351"/>
              </a:lnSpc>
              <a:buNone/>
            </a:pPr>
            <a:r>
              <a:rPr lang="en-US" sz="872" dirty="0">
                <a:solidFill>
                  <a:srgbClr val="14171F"/>
                </a:solidFill>
                <a:latin typeface="Carlito" pitchFamily="34" charset="0"/>
                <a:ea typeface="Carlito" pitchFamily="34" charset="-122"/>
                <a:cs typeface="Carlito" pitchFamily="34" charset="-120"/>
              </a:rPr>
              <a:t>Starting from dydx=g(x)h(y), divide by h(y) and integrate both sides with respect to x:</a:t>
            </a:r>
            <a:endParaRPr lang="en-US" sz="872" dirty="0"/>
          </a:p>
        </p:txBody>
      </p:sp>
      <p:sp>
        <p:nvSpPr>
          <p:cNvPr id="9" name="Text 7"/>
          <p:cNvSpPr/>
          <p:nvPr/>
        </p:nvSpPr>
        <p:spPr>
          <a:xfrm>
            <a:off x="685800" y="2846115"/>
            <a:ext cx="4369073" cy="595722"/>
          </a:xfrm>
          <a:prstGeom prst="roundRect">
            <a:avLst>
              <a:gd name="adj" fmla="val 6396"/>
            </a:avLst>
          </a:prstGeom>
          <a:solidFill>
            <a:srgbClr val="F3ECF8"/>
          </a:solidFill>
          <a:ln/>
        </p:spPr>
        <p:txBody>
          <a:bodyPr wrap="square" rtlCol="0" anchor="ctr"/>
          <a:lstStyle/>
          <a:p>
            <a:pPr indent="0" marL="0">
              <a:buNone/>
            </a:pPr>
            <a:endParaRPr lang="en-US" dirty="0"/>
          </a:p>
        </p:txBody>
      </p:sp>
      <p:sp>
        <p:nvSpPr>
          <p:cNvPr id="10" name="Shape 8"/>
          <p:cNvSpPr/>
          <p:nvPr/>
        </p:nvSpPr>
        <p:spPr>
          <a:xfrm>
            <a:off x="700088" y="2846115"/>
            <a:ext cx="0" cy="595722"/>
          </a:xfrm>
          <a:prstGeom prst="line">
            <a:avLst/>
          </a:prstGeom>
          <a:noFill/>
          <a:ln w="28575">
            <a:solidFill>
              <a:srgbClr val="6B2FA0"/>
            </a:solidFill>
            <a:prstDash val="solid"/>
          </a:ln>
        </p:spPr>
      </p:sp>
      <p:pic>
        <p:nvPicPr>
          <p:cNvPr id="11" name="Image 0" descr="/tmp/h2p-svg-1781853763301-5skiai.png">    </p:cNvPr>
          <p:cNvPicPr>
            <a:picLocks noChangeAspect="1"/>
          </p:cNvPicPr>
          <p:nvPr/>
        </p:nvPicPr>
        <p:blipFill>
          <a:blip r:embed="rId1"/>
          <a:stretch>
            <a:fillRect/>
          </a:stretch>
        </p:blipFill>
        <p:spPr>
          <a:xfrm>
            <a:off x="1937854" y="2955727"/>
            <a:ext cx="1893540" cy="376498"/>
          </a:xfrm>
          <a:prstGeom prst="rect">
            <a:avLst/>
          </a:prstGeom>
        </p:spPr>
      </p:pic>
      <p:sp>
        <p:nvSpPr>
          <p:cNvPr id="12" name="Text 9"/>
          <p:cNvSpPr/>
          <p:nvPr/>
        </p:nvSpPr>
        <p:spPr>
          <a:xfrm>
            <a:off x="685800" y="3527561"/>
            <a:ext cx="4369073" cy="396492"/>
          </a:xfrm>
          <a:prstGeom prst="rect">
            <a:avLst/>
          </a:prstGeom>
          <a:noFill/>
          <a:ln/>
        </p:spPr>
        <p:txBody>
          <a:bodyPr wrap="square" lIns="0" tIns="0" rIns="0" bIns="0" rtlCol="0" anchor="t"/>
          <a:lstStyle/>
          <a:p>
            <a:pPr algn="l" indent="0" marL="0">
              <a:lnSpc>
                <a:spcPts val="1351"/>
              </a:lnSpc>
              <a:buNone/>
            </a:pPr>
            <a:r>
              <a:rPr lang="en-US" sz="872" dirty="0">
                <a:solidFill>
                  <a:srgbClr val="14171F"/>
                </a:solidFill>
                <a:latin typeface="Carlito" pitchFamily="34" charset="0"/>
                <a:ea typeface="Carlito" pitchFamily="34" charset="-122"/>
                <a:cs typeface="Carlito" pitchFamily="34" charset="-120"/>
              </a:rPr>
              <a:t>Because dydxdx=dy, the left side collapses. We are permitted to “split the differential” because it is a rigorously valid u-substitution.</a:t>
            </a:r>
            <a:endParaRPr lang="en-US" sz="872" dirty="0"/>
          </a:p>
        </p:txBody>
      </p:sp>
      <p:sp>
        <p:nvSpPr>
          <p:cNvPr id="13" name="Shape 10"/>
          <p:cNvSpPr/>
          <p:nvPr/>
        </p:nvSpPr>
        <p:spPr>
          <a:xfrm>
            <a:off x="5254898" y="1644067"/>
            <a:ext cx="3574666" cy="0"/>
          </a:xfrm>
          <a:prstGeom prst="line">
            <a:avLst/>
          </a:prstGeom>
          <a:noFill/>
          <a:ln w="7144">
            <a:solidFill>
              <a:srgbClr val="E3E6EE"/>
            </a:solidFill>
            <a:prstDash val="solid"/>
          </a:ln>
        </p:spPr>
      </p:sp>
      <p:sp>
        <p:nvSpPr>
          <p:cNvPr id="14" name="Text 11"/>
          <p:cNvSpPr/>
          <p:nvPr/>
        </p:nvSpPr>
        <p:spPr>
          <a:xfrm>
            <a:off x="5254898" y="1411895"/>
            <a:ext cx="3889102" cy="254603"/>
          </a:xfrm>
          <a:prstGeom prst="rect">
            <a:avLst/>
          </a:prstGeom>
          <a:noFill/>
          <a:ln/>
        </p:spPr>
        <p:txBody>
          <a:bodyPr wrap="none" lIns="0" tIns="0" rIns="0" bIns="57150" rtlCol="0" anchor="t"/>
          <a:lstStyle/>
          <a:p>
            <a:pPr algn="l" indent="0" marL="0">
              <a:lnSpc>
                <a:spcPts val="1350"/>
              </a:lnSpc>
              <a:buNone/>
            </a:pPr>
            <a:r>
              <a:rPr lang="en-US" sz="900" b="1" spc="90" kern="0" dirty="0">
                <a:solidFill>
                  <a:srgbClr val="1F61C9"/>
                </a:solidFill>
                <a:latin typeface="Carlito" pitchFamily="34" charset="0"/>
                <a:ea typeface="Carlito" pitchFamily="34" charset="-122"/>
                <a:cs typeface="Carlito" pitchFamily="34" charset="-120"/>
              </a:rPr>
              <a:t>THE METHODOLOGY</a:t>
            </a:r>
            <a:endParaRPr lang="en-US" sz="900" dirty="0"/>
          </a:p>
        </p:txBody>
      </p:sp>
      <p:sp>
        <p:nvSpPr>
          <p:cNvPr id="15" name="Text 12"/>
          <p:cNvSpPr/>
          <p:nvPr/>
        </p:nvSpPr>
        <p:spPr>
          <a:xfrm>
            <a:off x="5254898" y="1733364"/>
            <a:ext cx="3574666" cy="1691098"/>
          </a:xfrm>
          <a:prstGeom prst="rect">
            <a:avLst/>
          </a:prstGeom>
          <a:noFill/>
          <a:ln/>
        </p:spPr>
        <p:txBody>
          <a:bodyPr wrap="square" lIns="0" tIns="0" rIns="0" bIns="0" rtlCol="0" anchor="t"/>
          <a:lstStyle/>
          <a:p>
            <a:pPr algn="l" marL="342900" indent="-342900">
              <a:lnSpc>
                <a:spcPts val="1223"/>
              </a:lnSpc>
              <a:spcAft>
                <a:spcPts val="563"/>
              </a:spcAft>
              <a:buSzPct val="100000"/>
              <a:buFont typeface="+mj-lt"/>
              <a:buAutoNum type="arabicPeriod" startAt="1"/>
            </a:pPr>
            <a:r>
              <a:rPr lang="en-US" sz="816" dirty="0">
                <a:solidFill>
                  <a:srgbClr val="14171F"/>
                </a:solidFill>
                <a:latin typeface="Carlito" pitchFamily="34" charset="0"/>
                <a:ea typeface="Carlito" pitchFamily="34" charset="-122"/>
                <a:cs typeface="Carlito" pitchFamily="34" charset="-120"/>
              </a:rPr>
              <a:t>Factor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f(x,y) into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g(x)h(y).</a:t>
            </a:r>
            <a:endParaRPr lang="en-US" sz="816" dirty="0"/>
          </a:p>
          <a:p>
            <a:pPr algn="l" marL="342900" indent="-342900">
              <a:lnSpc>
                <a:spcPts val="1223"/>
              </a:lnSpc>
              <a:spcAft>
                <a:spcPts val="563"/>
              </a:spcAft>
              <a:buSzPct val="100000"/>
              <a:buFont typeface="+mj-lt"/>
              <a:buAutoNum type="arabicPeriod" startAt="1"/>
            </a:pPr>
            <a:r>
              <a:rPr lang="en-US" sz="816" dirty="0">
                <a:solidFill>
                  <a:srgbClr val="14171F"/>
                </a:solidFill>
                <a:latin typeface="Carlito" pitchFamily="34" charset="0"/>
                <a:ea typeface="Carlito" pitchFamily="34" charset="-122"/>
                <a:cs typeface="Carlito" pitchFamily="34" charset="-120"/>
              </a:rPr>
              <a:t>Set aside equilibrium solutions where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h(y)=0.</a:t>
            </a:r>
            <a:endParaRPr lang="en-US" sz="816" dirty="0"/>
          </a:p>
          <a:p>
            <a:pPr algn="l" marL="342900" indent="-342900">
              <a:lnSpc>
                <a:spcPts val="1223"/>
              </a:lnSpc>
              <a:spcAft>
                <a:spcPts val="563"/>
              </a:spcAft>
              <a:buSzPct val="100000"/>
              <a:buFont typeface="+mj-lt"/>
              <a:buAutoNum type="arabicPeriod" startAt="1"/>
            </a:pPr>
            <a:r>
              <a:rPr lang="en-US" sz="816" dirty="0">
                <a:solidFill>
                  <a:srgbClr val="14171F"/>
                </a:solidFill>
                <a:latin typeface="Carlito" pitchFamily="34" charset="0"/>
                <a:ea typeface="Carlito" pitchFamily="34" charset="-122"/>
                <a:cs typeface="Carlito" pitchFamily="34" charset="-120"/>
              </a:rPr>
              <a:t>Separate: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dyh(y)=g(x)dx.</a:t>
            </a:r>
            <a:endParaRPr lang="en-US" sz="816" dirty="0"/>
          </a:p>
          <a:p>
            <a:pPr algn="l" marL="342900" indent="-342900">
              <a:lnSpc>
                <a:spcPts val="1223"/>
              </a:lnSpc>
              <a:spcAft>
                <a:spcPts val="563"/>
              </a:spcAft>
              <a:buSzPct val="100000"/>
              <a:buFont typeface="+mj-lt"/>
              <a:buAutoNum type="arabicPeriod" startAt="1"/>
            </a:pPr>
            <a:r>
              <a:rPr lang="en-US" sz="816" dirty="0">
                <a:solidFill>
                  <a:srgbClr val="14171F"/>
                </a:solidFill>
                <a:latin typeface="Carlito" pitchFamily="34" charset="0"/>
                <a:ea typeface="Carlito" pitchFamily="34" charset="-122"/>
                <a:cs typeface="Carlito" pitchFamily="34" charset="-120"/>
              </a:rPr>
              <a:t>Integrate both sides. Combine constants into a single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C.</a:t>
            </a:r>
            <a:endParaRPr lang="en-US" sz="816" dirty="0"/>
          </a:p>
          <a:p>
            <a:pPr algn="l" marL="342900" indent="-342900">
              <a:lnSpc>
                <a:spcPts val="1223"/>
              </a:lnSpc>
              <a:spcAft>
                <a:spcPts val="563"/>
              </a:spcAft>
              <a:buSzPct val="100000"/>
              <a:buFont typeface="+mj-lt"/>
              <a:buAutoNum type="arabicPeriod" startAt="1"/>
            </a:pPr>
            <a:r>
              <a:rPr lang="en-US" sz="816" dirty="0">
                <a:solidFill>
                  <a:srgbClr val="14171F"/>
                </a:solidFill>
                <a:latin typeface="Carlito" pitchFamily="34" charset="0"/>
                <a:ea typeface="Carlito" pitchFamily="34" charset="-122"/>
                <a:cs typeface="Carlito" pitchFamily="34" charset="-120"/>
              </a:rPr>
              <a:t>Apply initial condition to find </a:t>
            </a:r>
            <a:pPr algn="l" indent="0" marL="0">
              <a:lnSpc>
                <a:spcPts val="1223"/>
              </a:lnSpc>
              <a:spcAft>
                <a:spcPts val="563"/>
              </a:spcAft>
              <a:buNone/>
            </a:pPr>
            <a:r>
              <a:rPr lang="en-US" sz="816" dirty="0">
                <a:solidFill>
                  <a:srgbClr val="14171F"/>
                </a:solidFill>
                <a:latin typeface="Carlito" pitchFamily="34" charset="0"/>
                <a:ea typeface="Carlito" pitchFamily="34" charset="-122"/>
                <a:cs typeface="Carlito" pitchFamily="34" charset="-120"/>
              </a:rPr>
              <a:t>C.</a:t>
            </a:r>
            <a:endParaRPr lang="en-US" sz="816" dirty="0"/>
          </a:p>
        </p:txBody>
      </p:sp>
      <p:sp>
        <p:nvSpPr>
          <p:cNvPr id="16" name="Text 13"/>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10 / 38</a:t>
            </a:r>
            <a:endParaRPr lang="en-US" sz="800" dirty="0"/>
          </a:p>
        </p:txBody>
      </p:sp>
      <p:pic>
        <p:nvPicPr>
          <p:cNvPr id="17"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81589"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PROOF &amp; DERIVATION</a:t>
            </a:r>
            <a:endParaRPr lang="en-US" sz="844" dirty="0"/>
          </a:p>
        </p:txBody>
      </p:sp>
      <p:sp>
        <p:nvSpPr>
          <p:cNvPr id="3" name="Text 1"/>
          <p:cNvSpPr/>
          <p:nvPr/>
        </p:nvSpPr>
        <p:spPr>
          <a:xfrm>
            <a:off x="685800" y="701873"/>
            <a:ext cx="8458200" cy="231082"/>
          </a:xfrm>
          <a:prstGeom prst="rect">
            <a:avLst/>
          </a:prstGeom>
          <a:noFill/>
          <a:ln/>
        </p:spPr>
        <p:txBody>
          <a:bodyPr wrap="square" lIns="0" tIns="0" rIns="0" bIns="0" rtlCol="0" anchor="t">
            <a:normAutofit/>
          </a:bodyPr>
          <a:lstStyle/>
          <a:p>
            <a:pPr algn="l" indent="0" marL="0">
              <a:lnSpc>
                <a:spcPts val="1811"/>
              </a:lnSpc>
              <a:buNone/>
            </a:pPr>
            <a:r>
              <a:rPr lang="en-US" sz="1575" b="1" spc="-19" kern="0" dirty="0">
                <a:solidFill>
                  <a:srgbClr val="1A2A4F"/>
                </a:solidFill>
                <a:latin typeface="Carlito" pitchFamily="34" charset="0"/>
                <a:ea typeface="Carlito" pitchFamily="34" charset="-122"/>
                <a:cs typeface="Carlito" pitchFamily="34" charset="-120"/>
              </a:rPr>
              <a:t>Why Separation Works — The Reverse Chain Rule</a:t>
            </a:r>
            <a:endParaRPr lang="en-US" sz="1575" dirty="0"/>
          </a:p>
        </p:txBody>
      </p:sp>
      <p:sp>
        <p:nvSpPr>
          <p:cNvPr id="4" name="Text 2"/>
          <p:cNvSpPr/>
          <p:nvPr/>
        </p:nvSpPr>
        <p:spPr>
          <a:xfrm>
            <a:off x="685800" y="960388"/>
            <a:ext cx="8458200" cy="196739"/>
          </a:xfrm>
          <a:prstGeom prst="rect">
            <a:avLst/>
          </a:prstGeom>
          <a:noFill/>
          <a:ln/>
        </p:spPr>
        <p:txBody>
          <a:bodyPr wrap="square" lIns="0" tIns="0" rIns="0" bIns="0" rtlCol="0" anchor="t"/>
          <a:lstStyle/>
          <a:p>
            <a:pPr algn="l" indent="0" marL="0">
              <a:lnSpc>
                <a:spcPts val="1434"/>
              </a:lnSpc>
              <a:buNone/>
            </a:pPr>
            <a:r>
              <a:rPr lang="en-US" sz="956" i="1" dirty="0">
                <a:solidFill>
                  <a:srgbClr val="1F61C9"/>
                </a:solidFill>
                <a:latin typeface="Carlito" pitchFamily="34" charset="0"/>
                <a:ea typeface="Carlito" pitchFamily="34" charset="-122"/>
                <a:cs typeface="Carlito" pitchFamily="34" charset="-120"/>
              </a:rPr>
              <a:t>Justifying the Splitting of Differentials</a:t>
            </a:r>
            <a:endParaRPr lang="en-US" sz="956" dirty="0"/>
          </a:p>
        </p:txBody>
      </p:sp>
      <p:sp>
        <p:nvSpPr>
          <p:cNvPr id="5" name="Shape 3"/>
          <p:cNvSpPr/>
          <p:nvPr/>
        </p:nvSpPr>
        <p:spPr>
          <a:xfrm>
            <a:off x="685800" y="1449735"/>
            <a:ext cx="4766221" cy="0"/>
          </a:xfrm>
          <a:prstGeom prst="line">
            <a:avLst/>
          </a:prstGeom>
          <a:noFill/>
          <a:ln w="7144">
            <a:solidFill>
              <a:srgbClr val="E3E6EE"/>
            </a:solidFill>
            <a:prstDash val="solid"/>
          </a:ln>
        </p:spPr>
      </p:sp>
      <p:sp>
        <p:nvSpPr>
          <p:cNvPr id="6" name="Text 4"/>
          <p:cNvSpPr/>
          <p:nvPr/>
        </p:nvSpPr>
        <p:spPr>
          <a:xfrm>
            <a:off x="685800" y="1271141"/>
            <a:ext cx="6536425" cy="197596"/>
          </a:xfrm>
          <a:prstGeom prst="rect">
            <a:avLst/>
          </a:prstGeom>
          <a:noFill/>
          <a:ln/>
        </p:spPr>
        <p:txBody>
          <a:bodyPr wrap="none" lIns="0" tIns="0" rIns="0" bIns="35719" rtlCol="0" anchor="t">
            <a:normAutofit/>
          </a:bodyPr>
          <a:lstStyle/>
          <a:p>
            <a:pPr algn="l" indent="0" marL="0">
              <a:lnSpc>
                <a:spcPts val="1097"/>
              </a:lnSpc>
              <a:buNone/>
            </a:pPr>
            <a:r>
              <a:rPr lang="en-US" sz="800" b="1" spc="73" kern="0" dirty="0">
                <a:solidFill>
                  <a:srgbClr val="1F61C9"/>
                </a:solidFill>
                <a:latin typeface="Carlito" pitchFamily="34" charset="0"/>
                <a:ea typeface="Carlito" pitchFamily="34" charset="-122"/>
                <a:cs typeface="Carlito" pitchFamily="34" charset="-120"/>
              </a:rPr>
              <a:t>THEOREM</a:t>
            </a:r>
            <a:endParaRPr lang="en-US" sz="800" dirty="0"/>
          </a:p>
        </p:txBody>
      </p:sp>
      <p:sp>
        <p:nvSpPr>
          <p:cNvPr id="7" name="Text 5"/>
          <p:cNvSpPr/>
          <p:nvPr/>
        </p:nvSpPr>
        <p:spPr>
          <a:xfrm>
            <a:off x="685800" y="1496169"/>
            <a:ext cx="4766221" cy="329184"/>
          </a:xfrm>
          <a:prstGeom prst="rect">
            <a:avLst/>
          </a:prstGeom>
          <a:noFill/>
          <a:ln/>
        </p:spPr>
        <p:txBody>
          <a:bodyPr wrap="square" lIns="0" tIns="0" rIns="0" bIns="0" rtlCol="0" anchor="t"/>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If dy/dx = g(x)·h(y) and h(y) ≠ 0 on an interval I, then the general solution is obtained by separating and integrating both sides.</a:t>
            </a:r>
            <a:endParaRPr lang="en-US" sz="800" dirty="0"/>
          </a:p>
        </p:txBody>
      </p:sp>
      <p:pic>
        <p:nvPicPr>
          <p:cNvPr id="8" name="Image 0" descr="/tmp/h2p-svg-1781853763796-ty8nfo.png">    </p:cNvPr>
          <p:cNvPicPr>
            <a:picLocks noChangeAspect="1"/>
          </p:cNvPicPr>
          <p:nvPr/>
        </p:nvPicPr>
        <p:blipFill>
          <a:blip r:embed="rId1"/>
          <a:stretch>
            <a:fillRect/>
          </a:stretch>
        </p:blipFill>
        <p:spPr>
          <a:xfrm>
            <a:off x="2149599" y="1900572"/>
            <a:ext cx="1838623" cy="337542"/>
          </a:xfrm>
          <a:prstGeom prst="rect">
            <a:avLst/>
          </a:prstGeom>
        </p:spPr>
      </p:pic>
      <p:sp>
        <p:nvSpPr>
          <p:cNvPr id="9" name="Shape 6"/>
          <p:cNvSpPr/>
          <p:nvPr/>
        </p:nvSpPr>
        <p:spPr>
          <a:xfrm>
            <a:off x="685800" y="2488927"/>
            <a:ext cx="4766221" cy="0"/>
          </a:xfrm>
          <a:prstGeom prst="line">
            <a:avLst/>
          </a:prstGeom>
          <a:noFill/>
          <a:ln w="7144">
            <a:solidFill>
              <a:srgbClr val="E3E6EE"/>
            </a:solidFill>
            <a:prstDash val="solid"/>
          </a:ln>
        </p:spPr>
      </p:sp>
      <p:sp>
        <p:nvSpPr>
          <p:cNvPr id="10" name="Text 7"/>
          <p:cNvSpPr/>
          <p:nvPr/>
        </p:nvSpPr>
        <p:spPr>
          <a:xfrm>
            <a:off x="685800" y="2310333"/>
            <a:ext cx="7625953" cy="197596"/>
          </a:xfrm>
          <a:prstGeom prst="rect">
            <a:avLst/>
          </a:prstGeom>
          <a:noFill/>
          <a:ln/>
        </p:spPr>
        <p:txBody>
          <a:bodyPr wrap="none" lIns="0" tIns="0" rIns="0" bIns="35719" rtlCol="0" anchor="t">
            <a:normAutofit/>
          </a:bodyPr>
          <a:lstStyle/>
          <a:p>
            <a:pPr algn="l" indent="0" marL="0">
              <a:lnSpc>
                <a:spcPts val="1097"/>
              </a:lnSpc>
              <a:buNone/>
            </a:pPr>
            <a:r>
              <a:rPr lang="en-US" sz="800" b="1" spc="73" kern="0" dirty="0">
                <a:solidFill>
                  <a:srgbClr val="1F61C9"/>
                </a:solidFill>
                <a:latin typeface="Carlito" pitchFamily="34" charset="0"/>
                <a:ea typeface="Carlito" pitchFamily="34" charset="-122"/>
                <a:cs typeface="Carlito" pitchFamily="34" charset="-120"/>
              </a:rPr>
              <a:t>PROOF</a:t>
            </a:r>
            <a:endParaRPr lang="en-US" sz="800" dirty="0"/>
          </a:p>
        </p:txBody>
      </p:sp>
      <p:sp>
        <p:nvSpPr>
          <p:cNvPr id="11" name="Text 8"/>
          <p:cNvSpPr/>
          <p:nvPr/>
        </p:nvSpPr>
        <p:spPr>
          <a:xfrm>
            <a:off x="685800" y="2668972"/>
            <a:ext cx="2308229" cy="148133"/>
          </a:xfrm>
          <a:prstGeom prst="rect">
            <a:avLst/>
          </a:prstGeom>
          <a:noFill/>
          <a:ln/>
        </p:spPr>
        <p:txBody>
          <a:bodyPr wrap="non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Start from the ODE.</a:t>
            </a:r>
            <a:endParaRPr lang="en-US" sz="800" dirty="0"/>
          </a:p>
        </p:txBody>
      </p:sp>
      <p:pic>
        <p:nvPicPr>
          <p:cNvPr id="12" name="Image 1" descr="/tmp/h2p-svg-1781853763797-5qlrxv.png">    </p:cNvPr>
          <p:cNvPicPr>
            <a:picLocks noChangeAspect="1"/>
          </p:cNvPicPr>
          <p:nvPr/>
        </p:nvPicPr>
        <p:blipFill>
          <a:blip r:embed="rId2"/>
          <a:stretch>
            <a:fillRect/>
          </a:stretch>
        </p:blipFill>
        <p:spPr>
          <a:xfrm>
            <a:off x="3583595" y="2579005"/>
            <a:ext cx="975010" cy="300596"/>
          </a:xfrm>
          <a:prstGeom prst="rect">
            <a:avLst/>
          </a:prstGeom>
        </p:spPr>
      </p:pic>
      <p:sp>
        <p:nvSpPr>
          <p:cNvPr id="13" name="Text 9"/>
          <p:cNvSpPr/>
          <p:nvPr/>
        </p:nvSpPr>
        <p:spPr>
          <a:xfrm>
            <a:off x="685800" y="3104629"/>
            <a:ext cx="2171106" cy="148133"/>
          </a:xfrm>
          <a:prstGeom prst="rect">
            <a:avLst/>
          </a:prstGeom>
          <a:noFill/>
          <a:ln/>
        </p:spPr>
        <p:txBody>
          <a:bodyPr wrap="non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Divide both sides by h(y).</a:t>
            </a:r>
            <a:endParaRPr lang="en-US" sz="800" dirty="0"/>
          </a:p>
        </p:txBody>
      </p:sp>
      <p:pic>
        <p:nvPicPr>
          <p:cNvPr id="14" name="Image 2" descr="/tmp/h2p-svg-1781853763797-6gh06b.png">    </p:cNvPr>
          <p:cNvPicPr>
            <a:picLocks noChangeAspect="1"/>
          </p:cNvPicPr>
          <p:nvPr/>
        </p:nvPicPr>
        <p:blipFill>
          <a:blip r:embed="rId3"/>
          <a:stretch>
            <a:fillRect/>
          </a:stretch>
        </p:blipFill>
        <p:spPr>
          <a:xfrm>
            <a:off x="3563727" y="2995464"/>
            <a:ext cx="1014747" cy="338882"/>
          </a:xfrm>
          <a:prstGeom prst="rect">
            <a:avLst/>
          </a:prstGeom>
        </p:spPr>
      </p:pic>
      <p:sp>
        <p:nvSpPr>
          <p:cNvPr id="15" name="Text 10"/>
          <p:cNvSpPr/>
          <p:nvPr/>
        </p:nvSpPr>
        <p:spPr>
          <a:xfrm>
            <a:off x="685800" y="3559373"/>
            <a:ext cx="2056837" cy="148133"/>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Integrate both sides with respect to x.</a:t>
            </a:r>
            <a:endParaRPr lang="en-US" sz="800" dirty="0"/>
          </a:p>
        </p:txBody>
      </p:sp>
      <p:pic>
        <p:nvPicPr>
          <p:cNvPr id="16" name="Image 3" descr="/tmp/h2p-svg-1781853763797-80vqb9.png">    </p:cNvPr>
          <p:cNvPicPr>
            <a:picLocks noChangeAspect="1"/>
          </p:cNvPicPr>
          <p:nvPr/>
        </p:nvPicPr>
        <p:blipFill>
          <a:blip r:embed="rId4"/>
          <a:stretch>
            <a:fillRect/>
          </a:stretch>
        </p:blipFill>
        <p:spPr>
          <a:xfrm>
            <a:off x="3219041" y="3450208"/>
            <a:ext cx="1704231" cy="338882"/>
          </a:xfrm>
          <a:prstGeom prst="rect">
            <a:avLst/>
          </a:prstGeom>
        </p:spPr>
      </p:pic>
      <p:sp>
        <p:nvSpPr>
          <p:cNvPr id="17" name="Text 11"/>
          <p:cNvSpPr/>
          <p:nvPr/>
        </p:nvSpPr>
        <p:spPr>
          <a:xfrm>
            <a:off x="685800" y="4013448"/>
            <a:ext cx="2056837" cy="148133"/>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Substitute u = y(x), so du = (dy/dx) dx.</a:t>
            </a:r>
            <a:endParaRPr lang="en-US" sz="800" dirty="0"/>
          </a:p>
        </p:txBody>
      </p:sp>
      <p:pic>
        <p:nvPicPr>
          <p:cNvPr id="18" name="Image 4" descr="/tmp/h2p-svg-1781853763797-074k8f.png">    </p:cNvPr>
          <p:cNvPicPr>
            <a:picLocks noChangeAspect="1"/>
          </p:cNvPicPr>
          <p:nvPr/>
        </p:nvPicPr>
        <p:blipFill>
          <a:blip r:embed="rId5"/>
          <a:stretch>
            <a:fillRect/>
          </a:stretch>
        </p:blipFill>
        <p:spPr>
          <a:xfrm>
            <a:off x="3324523" y="3904952"/>
            <a:ext cx="1493267" cy="337542"/>
          </a:xfrm>
          <a:prstGeom prst="rect">
            <a:avLst/>
          </a:prstGeom>
        </p:spPr>
      </p:pic>
      <p:sp>
        <p:nvSpPr>
          <p:cNvPr id="19" name="Text 12"/>
          <p:cNvSpPr/>
          <p:nvPr/>
        </p:nvSpPr>
        <p:spPr>
          <a:xfrm>
            <a:off x="685800" y="4406578"/>
            <a:ext cx="1904479" cy="296266"/>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Rename u back to y and combine constants.</a:t>
            </a:r>
            <a:endParaRPr lang="en-US" sz="800" dirty="0"/>
          </a:p>
        </p:txBody>
      </p:sp>
      <p:pic>
        <p:nvPicPr>
          <p:cNvPr id="20" name="Image 5" descr="/tmp/h2p-svg-1781853763797-49sou7.png">    </p:cNvPr>
          <p:cNvPicPr>
            <a:picLocks noChangeAspect="1"/>
          </p:cNvPicPr>
          <p:nvPr/>
        </p:nvPicPr>
        <p:blipFill>
          <a:blip r:embed="rId6"/>
          <a:stretch>
            <a:fillRect/>
          </a:stretch>
        </p:blipFill>
        <p:spPr>
          <a:xfrm>
            <a:off x="3062883" y="4358357"/>
            <a:ext cx="2016435" cy="337542"/>
          </a:xfrm>
          <a:prstGeom prst="rect">
            <a:avLst/>
          </a:prstGeom>
        </p:spPr>
      </p:pic>
      <p:sp>
        <p:nvSpPr>
          <p:cNvPr id="21" name="Text 13"/>
          <p:cNvSpPr/>
          <p:nvPr/>
        </p:nvSpPr>
        <p:spPr>
          <a:xfrm>
            <a:off x="5637758" y="1271141"/>
            <a:ext cx="3177518" cy="3496977"/>
          </a:xfrm>
          <a:prstGeom prst="roundRect">
            <a:avLst>
              <a:gd name="adj" fmla="val 1199"/>
            </a:avLst>
          </a:prstGeom>
          <a:solidFill>
            <a:srgbClr val="F6F7FB"/>
          </a:solidFill>
          <a:ln/>
        </p:spPr>
        <p:txBody>
          <a:bodyPr wrap="square" rtlCol="0" anchor="ctr"/>
          <a:lstStyle/>
          <a:p>
            <a:pPr indent="0" marL="0">
              <a:buNone/>
            </a:pPr>
            <a:endParaRPr lang="en-US" dirty="0"/>
          </a:p>
        </p:txBody>
      </p:sp>
      <p:sp>
        <p:nvSpPr>
          <p:cNvPr id="22" name="Shape 14"/>
          <p:cNvSpPr/>
          <p:nvPr/>
        </p:nvSpPr>
        <p:spPr>
          <a:xfrm>
            <a:off x="5652046" y="1271141"/>
            <a:ext cx="0" cy="3496977"/>
          </a:xfrm>
          <a:prstGeom prst="line">
            <a:avLst/>
          </a:prstGeom>
          <a:noFill/>
          <a:ln w="28575">
            <a:solidFill>
              <a:srgbClr val="1F61C9"/>
            </a:solidFill>
            <a:prstDash val="solid"/>
          </a:ln>
        </p:spPr>
      </p:sp>
      <p:sp>
        <p:nvSpPr>
          <p:cNvPr id="23" name="Text 15"/>
          <p:cNvSpPr/>
          <p:nvPr/>
        </p:nvSpPr>
        <p:spPr>
          <a:xfrm>
            <a:off x="5794921" y="1385441"/>
            <a:ext cx="2891768" cy="149376"/>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KEY INSIGHT</a:t>
            </a:r>
            <a:endParaRPr lang="en-US" sz="800" dirty="0"/>
          </a:p>
        </p:txBody>
      </p:sp>
      <p:sp>
        <p:nvSpPr>
          <p:cNvPr id="24" name="Text 16"/>
          <p:cNvSpPr/>
          <p:nvPr/>
        </p:nvSpPr>
        <p:spPr>
          <a:xfrm>
            <a:off x="5794921" y="1562249"/>
            <a:ext cx="2891768" cy="570411"/>
          </a:xfrm>
          <a:prstGeom prst="rect">
            <a:avLst/>
          </a:prstGeom>
          <a:noFill/>
          <a:ln/>
        </p:spPr>
        <p:txBody>
          <a:bodyPr wrap="square" lIns="0" tIns="0" rIns="0" bIns="0" rtlCol="0" anchor="t">
            <a:normAutofit/>
          </a:bodyPr>
          <a:lstStyle/>
          <a:p>
            <a:pPr algn="l" indent="0" marL="0">
              <a:lnSpc>
                <a:spcPts val="1177"/>
              </a:lnSpc>
              <a:buNone/>
            </a:pPr>
            <a:r>
              <a:rPr lang="en-US" sz="800" i="1" dirty="0">
                <a:solidFill>
                  <a:srgbClr val="14171F"/>
                </a:solidFill>
                <a:latin typeface="Carlito" pitchFamily="34" charset="0"/>
                <a:ea typeface="Carlito" pitchFamily="34" charset="-122"/>
                <a:cs typeface="Carlito" pitchFamily="34" charset="-120"/>
              </a:rPr>
              <a:t>The expression (dy/dx)·dx is not a literal fraction being “split” — it is the differential dy arising from a legitimate u-substitution. The Chain Rule in reverse is what makes separation valid.</a:t>
            </a:r>
            <a:endParaRPr lang="en-US" sz="800" dirty="0"/>
          </a:p>
        </p:txBody>
      </p:sp>
      <p:sp>
        <p:nvSpPr>
          <p:cNvPr id="25" name="Text 17"/>
          <p:cNvSpPr/>
          <p:nvPr/>
        </p:nvSpPr>
        <p:spPr>
          <a:xfrm>
            <a:off x="5794921" y="2160091"/>
            <a:ext cx="2891768" cy="149376"/>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Liberation Sans Narrow" pitchFamily="34" charset="0"/>
                <a:ea typeface="Liberation Sans Narrow" pitchFamily="34" charset="-122"/>
                <a:cs typeface="Liberation Sans Narrow" pitchFamily="34" charset="-120"/>
              </a:rPr>
              <a:t>WHY H(Y) ≠ 0?</a:t>
            </a:r>
            <a:endParaRPr lang="en-US" sz="800" dirty="0"/>
          </a:p>
        </p:txBody>
      </p:sp>
      <p:sp>
        <p:nvSpPr>
          <p:cNvPr id="26" name="Text 18"/>
          <p:cNvSpPr/>
          <p:nvPr/>
        </p:nvSpPr>
        <p:spPr>
          <a:xfrm>
            <a:off x="5794921" y="2336899"/>
            <a:ext cx="2891768" cy="510159"/>
          </a:xfrm>
          <a:prstGeom prst="rect">
            <a:avLst/>
          </a:prstGeom>
          <a:noFill/>
          <a:ln/>
        </p:spPr>
        <p:txBody>
          <a:bodyPr wrap="square" lIns="0" tIns="0" rIns="0" bIns="0" rtlCol="0" anchor="t"/>
          <a:lstStyle/>
          <a:p>
            <a:pPr algn="l" indent="0" marL="0">
              <a:lnSpc>
                <a:spcPts val="1177"/>
              </a:lnSpc>
              <a:buNone/>
            </a:pPr>
            <a:r>
              <a:rPr lang="en-US" sz="800" dirty="0">
                <a:solidFill>
                  <a:srgbClr val="14171F"/>
                </a:solidFill>
                <a:latin typeface="Carlito" pitchFamily="34" charset="0"/>
                <a:ea typeface="Carlito" pitchFamily="34" charset="-122"/>
                <a:cs typeface="Carlito" pitchFamily="34" charset="-120"/>
              </a:rPr>
              <a:t>Dividing by h(y) is only valid when h(y) ≠ 0. The zeros of h(y) give equilibrium solutions, which must be found separately and checked against initial conditions.</a:t>
            </a:r>
            <a:endParaRPr lang="en-US" sz="800" dirty="0"/>
          </a:p>
        </p:txBody>
      </p:sp>
      <p:sp>
        <p:nvSpPr>
          <p:cNvPr id="27" name="Text 19"/>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11 / 38</a:t>
            </a:r>
            <a:endParaRPr lang="en-US" sz="800" dirty="0"/>
          </a:p>
        </p:txBody>
      </p:sp>
      <p:pic>
        <p:nvPicPr>
          <p:cNvPr id="28"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16161"/>
            <a:ext cx="8458200" cy="233315"/>
          </a:xfrm>
          <a:prstGeom prst="rect">
            <a:avLst/>
          </a:prstGeom>
          <a:noFill/>
          <a:ln/>
        </p:spPr>
        <p:txBody>
          <a:bodyPr wrap="square" lIns="0" tIns="0" rIns="0" bIns="0" rtlCol="0" anchor="t">
            <a:normAutofit/>
          </a:bodyPr>
          <a:lstStyle/>
          <a:p>
            <a:pPr algn="l" indent="0" marL="0">
              <a:lnSpc>
                <a:spcPts val="1941"/>
              </a:lnSpc>
              <a:buNone/>
            </a:pPr>
            <a:r>
              <a:rPr lang="en-US" sz="1688" b="1" spc="-20" kern="0" dirty="0">
                <a:solidFill>
                  <a:srgbClr val="1A2A4F"/>
                </a:solidFill>
                <a:latin typeface="Liberation Sans Narrow" pitchFamily="34" charset="0"/>
                <a:ea typeface="Liberation Sans Narrow" pitchFamily="34" charset="-122"/>
                <a:cs typeface="Liberation Sans Narrow" pitchFamily="34" charset="-120"/>
              </a:rPr>
              <a:t>Separation — Worked Example 1</a:t>
            </a:r>
            <a:endParaRPr lang="en-US" sz="1688" dirty="0"/>
          </a:p>
        </p:txBody>
      </p:sp>
      <p:sp>
        <p:nvSpPr>
          <p:cNvPr id="4" name="Text 2"/>
          <p:cNvSpPr/>
          <p:nvPr/>
        </p:nvSpPr>
        <p:spPr>
          <a:xfrm>
            <a:off x="685800" y="976908"/>
            <a:ext cx="8458200" cy="208312"/>
          </a:xfrm>
          <a:prstGeom prst="rect">
            <a:avLst/>
          </a:prstGeom>
          <a:noFill/>
          <a:ln/>
        </p:spPr>
        <p:txBody>
          <a:bodyPr wrap="none" lIns="0" tIns="0" rIns="0" bIns="0" rtlCol="0" anchor="t"/>
          <a:lstStyle/>
          <a:p>
            <a:pPr algn="l" indent="0" marL="0">
              <a:lnSpc>
                <a:spcPts val="1519"/>
              </a:lnSpc>
              <a:buNone/>
            </a:pPr>
            <a:r>
              <a:rPr lang="en-US" sz="1013" i="1" dirty="0">
                <a:solidFill>
                  <a:srgbClr val="1F61C9"/>
                </a:solidFill>
                <a:latin typeface="Tinos" pitchFamily="34" charset="0"/>
                <a:ea typeface="Tinos" pitchFamily="34" charset="-122"/>
                <a:cs typeface="Tinos" pitchFamily="34" charset="-120"/>
              </a:rPr>
              <a:t>Explicit IVP</a:t>
            </a:r>
            <a:endParaRPr lang="en-US" sz="1013" dirty="0"/>
          </a:p>
        </p:txBody>
      </p:sp>
      <p:sp>
        <p:nvSpPr>
          <p:cNvPr id="5" name="Text 3"/>
          <p:cNvSpPr/>
          <p:nvPr/>
        </p:nvSpPr>
        <p:spPr>
          <a:xfrm>
            <a:off x="685800" y="1241227"/>
            <a:ext cx="7943850" cy="777218"/>
          </a:xfrm>
          <a:prstGeom prst="roundRect">
            <a:avLst>
              <a:gd name="adj" fmla="val 4902"/>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241227"/>
            <a:ext cx="0" cy="777218"/>
          </a:xfrm>
          <a:prstGeom prst="line">
            <a:avLst/>
          </a:prstGeom>
          <a:noFill/>
          <a:ln w="28575">
            <a:solidFill>
              <a:srgbClr val="1F61C9"/>
            </a:solidFill>
            <a:prstDash val="solid"/>
          </a:ln>
        </p:spPr>
      </p:sp>
      <p:sp>
        <p:nvSpPr>
          <p:cNvPr id="7" name="Text 5"/>
          <p:cNvSpPr/>
          <p:nvPr/>
        </p:nvSpPr>
        <p:spPr>
          <a:xfrm>
            <a:off x="814388" y="1298377"/>
            <a:ext cx="7824978" cy="158417"/>
          </a:xfrm>
          <a:prstGeom prst="rect">
            <a:avLst/>
          </a:prstGeom>
          <a:noFill/>
          <a:ln/>
        </p:spPr>
        <p:txBody>
          <a:bodyPr wrap="square" lIns="0" tIns="0" rIns="0" bIns="0" rtlCol="0" anchor="t">
            <a:normAutofit/>
          </a:bodyPr>
          <a:lstStyle/>
          <a:p>
            <a:pPr algn="l" indent="0" marL="0">
              <a:lnSpc>
                <a:spcPts val="1097"/>
              </a:lnSpc>
              <a:buNone/>
            </a:pPr>
            <a:r>
              <a:rPr lang="en-US" sz="800" b="1" spc="29" kern="0" dirty="0">
                <a:solidFill>
                  <a:srgbClr val="1A2A4F"/>
                </a:solidFill>
                <a:latin typeface="Carlito" pitchFamily="34" charset="0"/>
                <a:ea typeface="Carlito" pitchFamily="34" charset="-122"/>
                <a:cs typeface="Carlito" pitchFamily="34" charset="-120"/>
              </a:rPr>
              <a:t>SOLVE THE INITIAL VALUE PROBLEM:</a:t>
            </a:r>
            <a:endParaRPr lang="en-US" sz="800" dirty="0"/>
          </a:p>
        </p:txBody>
      </p:sp>
      <p:pic>
        <p:nvPicPr>
          <p:cNvPr id="8" name="Image 0" descr="/tmp/h2p-svg-1781853763382-rqcx6h.png">    </p:cNvPr>
          <p:cNvPicPr>
            <a:picLocks noChangeAspect="1"/>
          </p:cNvPicPr>
          <p:nvPr/>
        </p:nvPicPr>
        <p:blipFill>
          <a:blip r:embed="rId1"/>
          <a:stretch>
            <a:fillRect/>
          </a:stretch>
        </p:blipFill>
        <p:spPr>
          <a:xfrm>
            <a:off x="3982975" y="1484226"/>
            <a:ext cx="1377962" cy="300596"/>
          </a:xfrm>
          <a:prstGeom prst="rect">
            <a:avLst/>
          </a:prstGeom>
        </p:spPr>
      </p:pic>
      <p:sp>
        <p:nvSpPr>
          <p:cNvPr id="9" name="Text 6"/>
          <p:cNvSpPr/>
          <p:nvPr/>
        </p:nvSpPr>
        <p:spPr>
          <a:xfrm>
            <a:off x="814388" y="1831367"/>
            <a:ext cx="7715250" cy="129927"/>
          </a:xfrm>
          <a:prstGeom prst="rect">
            <a:avLst/>
          </a:prstGeom>
          <a:noFill/>
          <a:ln/>
        </p:spPr>
        <p:txBody>
          <a:bodyPr wrap="square" lIns="0" tIns="0" rIns="0" bIns="0" rtlCol="0" anchor="t"/>
          <a:lstStyle/>
          <a:p>
            <a:pPr algn="l" indent="0" marL="0">
              <a:lnSpc>
                <a:spcPts val="1024"/>
              </a:lnSpc>
              <a:buNone/>
            </a:pPr>
            <a:r>
              <a:rPr lang="en-US" sz="800" i="1" dirty="0">
                <a:solidFill>
                  <a:srgbClr val="4A5160"/>
                </a:solidFill>
                <a:latin typeface="Tinos" pitchFamily="34" charset="0"/>
                <a:ea typeface="Tinos" pitchFamily="34" charset="-122"/>
                <a:cs typeface="Tinos" pitchFamily="34" charset="-120"/>
              </a:rPr>
              <a:t>Note: y = 0 is an equilibrium solution, but it fails the initial condition. We proceed by dividing by y.</a:t>
            </a:r>
            <a:endParaRPr lang="en-US" sz="800" dirty="0"/>
          </a:p>
        </p:txBody>
      </p:sp>
      <p:sp>
        <p:nvSpPr>
          <p:cNvPr id="10" name="Text 7"/>
          <p:cNvSpPr/>
          <p:nvPr/>
        </p:nvSpPr>
        <p:spPr>
          <a:xfrm>
            <a:off x="685800" y="2194359"/>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1</a:t>
            </a:r>
            <a:endParaRPr lang="en-US" sz="800" dirty="0"/>
          </a:p>
        </p:txBody>
      </p:sp>
      <p:sp>
        <p:nvSpPr>
          <p:cNvPr id="11" name="Text 8"/>
          <p:cNvSpPr/>
          <p:nvPr/>
        </p:nvSpPr>
        <p:spPr>
          <a:xfrm>
            <a:off x="1085515" y="2194359"/>
            <a:ext cx="976891" cy="128016"/>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Separate variables</a:t>
            </a:r>
            <a:endParaRPr lang="en-US" sz="800" dirty="0"/>
          </a:p>
        </p:txBody>
      </p:sp>
      <p:pic>
        <p:nvPicPr>
          <p:cNvPr id="12" name="Image 1" descr="/tmp/h2p-svg-1781853763382-8lelfh.png">    </p:cNvPr>
          <p:cNvPicPr>
            <a:picLocks noChangeAspect="1"/>
          </p:cNvPicPr>
          <p:nvPr/>
        </p:nvPicPr>
        <p:blipFill>
          <a:blip r:embed="rId2"/>
          <a:stretch>
            <a:fillRect/>
          </a:stretch>
        </p:blipFill>
        <p:spPr>
          <a:xfrm>
            <a:off x="5080211" y="2082738"/>
            <a:ext cx="840953" cy="324706"/>
          </a:xfrm>
          <a:prstGeom prst="rect">
            <a:avLst/>
          </a:prstGeom>
        </p:spPr>
      </p:pic>
      <p:sp>
        <p:nvSpPr>
          <p:cNvPr id="13" name="Text 9"/>
          <p:cNvSpPr/>
          <p:nvPr/>
        </p:nvSpPr>
        <p:spPr>
          <a:xfrm>
            <a:off x="685800" y="2549091"/>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2</a:t>
            </a:r>
            <a:endParaRPr lang="en-US" sz="800" dirty="0"/>
          </a:p>
        </p:txBody>
      </p:sp>
      <p:sp>
        <p:nvSpPr>
          <p:cNvPr id="14" name="Text 10"/>
          <p:cNvSpPr/>
          <p:nvPr/>
        </p:nvSpPr>
        <p:spPr>
          <a:xfrm>
            <a:off x="1085515" y="2549091"/>
            <a:ext cx="1047375" cy="128016"/>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Integrate both sides</a:t>
            </a:r>
            <a:endParaRPr lang="en-US" sz="800" dirty="0"/>
          </a:p>
        </p:txBody>
      </p:sp>
      <p:pic>
        <p:nvPicPr>
          <p:cNvPr id="15" name="Image 2" descr="/tmp/h2p-svg-1781853763382-czbgmc.png">    </p:cNvPr>
          <p:cNvPicPr>
            <a:picLocks noChangeAspect="1"/>
          </p:cNvPicPr>
          <p:nvPr/>
        </p:nvPicPr>
        <p:blipFill>
          <a:blip r:embed="rId3"/>
          <a:stretch>
            <a:fillRect/>
          </a:stretch>
        </p:blipFill>
        <p:spPr>
          <a:xfrm>
            <a:off x="4918583" y="2436019"/>
            <a:ext cx="1164096" cy="327496"/>
          </a:xfrm>
          <a:prstGeom prst="rect">
            <a:avLst/>
          </a:prstGeom>
        </p:spPr>
      </p:pic>
      <p:sp>
        <p:nvSpPr>
          <p:cNvPr id="16" name="Text 11"/>
          <p:cNvSpPr/>
          <p:nvPr/>
        </p:nvSpPr>
        <p:spPr>
          <a:xfrm>
            <a:off x="685800" y="2832385"/>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3</a:t>
            </a:r>
            <a:endParaRPr lang="en-US" sz="800" dirty="0"/>
          </a:p>
        </p:txBody>
      </p:sp>
      <p:sp>
        <p:nvSpPr>
          <p:cNvPr id="17" name="Text 12"/>
          <p:cNvSpPr/>
          <p:nvPr/>
        </p:nvSpPr>
        <p:spPr>
          <a:xfrm>
            <a:off x="1085515" y="2832385"/>
            <a:ext cx="941582" cy="128016"/>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Evaluate integrals</a:t>
            </a:r>
            <a:endParaRPr lang="en-US" sz="800" dirty="0"/>
          </a:p>
        </p:txBody>
      </p:sp>
      <p:pic>
        <p:nvPicPr>
          <p:cNvPr id="18" name="Image 3" descr="/tmp/h2p-svg-1781853763382-igdvj0.png">    </p:cNvPr>
          <p:cNvPicPr>
            <a:picLocks noChangeAspect="1"/>
          </p:cNvPicPr>
          <p:nvPr/>
        </p:nvPicPr>
        <p:blipFill>
          <a:blip r:embed="rId4"/>
          <a:stretch>
            <a:fillRect/>
          </a:stretch>
        </p:blipFill>
        <p:spPr>
          <a:xfrm>
            <a:off x="5008885" y="2792090"/>
            <a:ext cx="983605" cy="164753"/>
          </a:xfrm>
          <a:prstGeom prst="rect">
            <a:avLst/>
          </a:prstGeom>
        </p:spPr>
      </p:pic>
      <p:sp>
        <p:nvSpPr>
          <p:cNvPr id="19" name="Text 13"/>
          <p:cNvSpPr/>
          <p:nvPr/>
        </p:nvSpPr>
        <p:spPr>
          <a:xfrm>
            <a:off x="685800" y="3051497"/>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4</a:t>
            </a:r>
            <a:endParaRPr lang="en-US" sz="800" dirty="0"/>
          </a:p>
        </p:txBody>
      </p:sp>
      <p:sp>
        <p:nvSpPr>
          <p:cNvPr id="20" name="Text 14"/>
          <p:cNvSpPr/>
          <p:nvPr/>
        </p:nvSpPr>
        <p:spPr>
          <a:xfrm>
            <a:off x="1085515" y="3051497"/>
            <a:ext cx="690223" cy="128016"/>
          </a:xfrm>
          <a:prstGeom prst="rect">
            <a:avLst/>
          </a:prstGeom>
          <a:noFill/>
          <a:ln/>
        </p:spPr>
        <p:txBody>
          <a:bodyPr wrap="non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Exponentiate</a:t>
            </a:r>
            <a:endParaRPr lang="en-US" sz="800" dirty="0"/>
          </a:p>
        </p:txBody>
      </p:sp>
      <p:pic>
        <p:nvPicPr>
          <p:cNvPr id="21" name="Image 4" descr="/tmp/h2p-svg-1781853763382-846822.png">    </p:cNvPr>
          <p:cNvPicPr>
            <a:picLocks noChangeAspect="1"/>
          </p:cNvPicPr>
          <p:nvPr/>
        </p:nvPicPr>
        <p:blipFill>
          <a:blip r:embed="rId5"/>
          <a:stretch>
            <a:fillRect/>
          </a:stretch>
        </p:blipFill>
        <p:spPr>
          <a:xfrm>
            <a:off x="4836542" y="3002607"/>
            <a:ext cx="1328291" cy="182054"/>
          </a:xfrm>
          <a:prstGeom prst="rect">
            <a:avLst/>
          </a:prstGeom>
        </p:spPr>
      </p:pic>
      <p:sp>
        <p:nvSpPr>
          <p:cNvPr id="22" name="Text 15"/>
          <p:cNvSpPr/>
          <p:nvPr/>
        </p:nvSpPr>
        <p:spPr>
          <a:xfrm>
            <a:off x="685800" y="3279316"/>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5</a:t>
            </a:r>
            <a:endParaRPr lang="en-US" sz="800" dirty="0"/>
          </a:p>
        </p:txBody>
      </p:sp>
      <p:sp>
        <p:nvSpPr>
          <p:cNvPr id="23" name="Text 16"/>
          <p:cNvSpPr/>
          <p:nvPr/>
        </p:nvSpPr>
        <p:spPr>
          <a:xfrm>
            <a:off x="1085515" y="3279316"/>
            <a:ext cx="885845" cy="128016"/>
          </a:xfrm>
          <a:prstGeom prst="rect">
            <a:avLst/>
          </a:prstGeom>
          <a:noFill/>
          <a:ln/>
        </p:spPr>
        <p:txBody>
          <a:bodyPr wrap="non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Let C = ± e^(C₁)</a:t>
            </a:r>
            <a:endParaRPr lang="en-US" sz="800" dirty="0"/>
          </a:p>
        </p:txBody>
      </p:sp>
      <p:pic>
        <p:nvPicPr>
          <p:cNvPr id="24" name="Image 5" descr="/tmp/h2p-svg-1781853763382-vqdyqc.png">    </p:cNvPr>
          <p:cNvPicPr>
            <a:picLocks noChangeAspect="1"/>
          </p:cNvPicPr>
          <p:nvPr/>
        </p:nvPicPr>
        <p:blipFill>
          <a:blip r:embed="rId6"/>
          <a:stretch>
            <a:fillRect/>
          </a:stretch>
        </p:blipFill>
        <p:spPr>
          <a:xfrm>
            <a:off x="5208798" y="3230426"/>
            <a:ext cx="583667" cy="175580"/>
          </a:xfrm>
          <a:prstGeom prst="rect">
            <a:avLst/>
          </a:prstGeom>
        </p:spPr>
      </p:pic>
      <p:sp>
        <p:nvSpPr>
          <p:cNvPr id="25" name="Text 17"/>
          <p:cNvSpPr/>
          <p:nvPr/>
        </p:nvSpPr>
        <p:spPr>
          <a:xfrm>
            <a:off x="685800" y="3493852"/>
            <a:ext cx="7943850" cy="420588"/>
          </a:xfrm>
          <a:prstGeom prst="roundRect">
            <a:avLst>
              <a:gd name="adj" fmla="val 9059"/>
            </a:avLst>
          </a:prstGeom>
          <a:solidFill>
            <a:srgbClr val="F3ECF8"/>
          </a:solidFill>
          <a:ln/>
        </p:spPr>
        <p:txBody>
          <a:bodyPr wrap="square" rtlCol="0" anchor="ctr"/>
          <a:lstStyle/>
          <a:p>
            <a:pPr indent="0" marL="0">
              <a:buNone/>
            </a:pPr>
            <a:endParaRPr lang="en-US" dirty="0"/>
          </a:p>
        </p:txBody>
      </p:sp>
      <p:sp>
        <p:nvSpPr>
          <p:cNvPr id="26" name="Shape 18"/>
          <p:cNvSpPr/>
          <p:nvPr/>
        </p:nvSpPr>
        <p:spPr>
          <a:xfrm>
            <a:off x="700088" y="3493852"/>
            <a:ext cx="0" cy="420588"/>
          </a:xfrm>
          <a:prstGeom prst="line">
            <a:avLst/>
          </a:prstGeom>
          <a:noFill/>
          <a:ln w="28575">
            <a:solidFill>
              <a:srgbClr val="6B2FA0"/>
            </a:solidFill>
            <a:prstDash val="solid"/>
          </a:ln>
        </p:spPr>
      </p:sp>
      <p:sp>
        <p:nvSpPr>
          <p:cNvPr id="27" name="Text 19"/>
          <p:cNvSpPr/>
          <p:nvPr/>
        </p:nvSpPr>
        <p:spPr>
          <a:xfrm>
            <a:off x="814388" y="3536714"/>
            <a:ext cx="7824978" cy="108299"/>
          </a:xfrm>
          <a:prstGeom prst="rect">
            <a:avLst/>
          </a:prstGeom>
          <a:noFill/>
          <a:ln/>
        </p:spPr>
        <p:txBody>
          <a:bodyPr wrap="square" lIns="0" tIns="0" rIns="0" bIns="0" rtlCol="0" anchor="t">
            <a:normAutofit/>
          </a:bodyPr>
          <a:lstStyle/>
          <a:p>
            <a:pPr algn="l" indent="0" marL="0">
              <a:lnSpc>
                <a:spcPts val="1013"/>
              </a:lnSpc>
              <a:buNone/>
            </a:pPr>
            <a:r>
              <a:rPr lang="en-US" sz="800" b="1" spc="34" kern="0" dirty="0">
                <a:solidFill>
                  <a:srgbClr val="6B2FA0"/>
                </a:solidFill>
                <a:latin typeface="Liberation Sans Narrow" pitchFamily="34" charset="0"/>
                <a:ea typeface="Liberation Sans Narrow" pitchFamily="34" charset="-122"/>
                <a:cs typeface="Liberation Sans Narrow" pitchFamily="34" charset="-120"/>
              </a:rPr>
              <a:t>APPLY THE INITIAL CONDITION Y(0) = 1</a:t>
            </a:r>
            <a:endParaRPr lang="en-US" sz="800" dirty="0"/>
          </a:p>
        </p:txBody>
      </p:sp>
      <p:pic>
        <p:nvPicPr>
          <p:cNvPr id="28" name="Image 6" descr="/tmp/h2p-svg-1781853763383-z9667l.png">    </p:cNvPr>
          <p:cNvPicPr>
            <a:picLocks noChangeAspect="1"/>
          </p:cNvPicPr>
          <p:nvPr/>
        </p:nvPicPr>
        <p:blipFill>
          <a:blip r:embed="rId7"/>
          <a:stretch>
            <a:fillRect/>
          </a:stretch>
        </p:blipFill>
        <p:spPr>
          <a:xfrm>
            <a:off x="3914105" y="3672446"/>
            <a:ext cx="1515814" cy="157721"/>
          </a:xfrm>
          <a:prstGeom prst="rect">
            <a:avLst/>
          </a:prstGeom>
        </p:spPr>
      </p:pic>
      <p:sp>
        <p:nvSpPr>
          <p:cNvPr id="29" name="Text 20"/>
          <p:cNvSpPr/>
          <p:nvPr/>
        </p:nvSpPr>
        <p:spPr>
          <a:xfrm>
            <a:off x="3785071" y="4140138"/>
            <a:ext cx="773088" cy="164592"/>
          </a:xfrm>
          <a:prstGeom prst="rect">
            <a:avLst/>
          </a:prstGeom>
          <a:noFill/>
          <a:ln/>
        </p:spPr>
        <p:txBody>
          <a:bodyPr wrap="none" lIns="7858" tIns="0" rIns="0" bIns="0" rtlCol="0" anchor="t"/>
          <a:lstStyle/>
          <a:p>
            <a:pPr algn="ctr" indent="0" marL="0">
              <a:lnSpc>
                <a:spcPts val="928"/>
              </a:lnSpc>
              <a:buNone/>
            </a:pPr>
            <a:r>
              <a:rPr lang="en-US" sz="800" b="1" spc="62"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30" name="Text 21"/>
          <p:cNvSpPr/>
          <p:nvPr/>
        </p:nvSpPr>
        <p:spPr>
          <a:xfrm>
            <a:off x="4602696" y="3975162"/>
            <a:ext cx="924111" cy="375270"/>
          </a:xfrm>
          <a:prstGeom prst="roundRect">
            <a:avLst>
              <a:gd name="adj" fmla="val 10153"/>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31" name="Image 7" descr="/tmp/h2p-svg-1781853763383-mmyolo.png">    </p:cNvPr>
          <p:cNvPicPr>
            <a:picLocks noChangeAspect="1"/>
          </p:cNvPicPr>
          <p:nvPr/>
        </p:nvPicPr>
        <p:blipFill>
          <a:blip r:embed="rId8"/>
          <a:stretch>
            <a:fillRect/>
          </a:stretch>
        </p:blipFill>
        <p:spPr>
          <a:xfrm>
            <a:off x="4706280" y="4056757"/>
            <a:ext cx="716942" cy="202369"/>
          </a:xfrm>
          <a:prstGeom prst="rect">
            <a:avLst/>
          </a:prstGeom>
        </p:spPr>
      </p:pic>
      <p:sp>
        <p:nvSpPr>
          <p:cNvPr id="32" name="Text 22"/>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12 / 38</a:t>
            </a:r>
            <a:endParaRPr lang="en-US" sz="800" dirty="0"/>
          </a:p>
        </p:txBody>
      </p:sp>
      <p:pic>
        <p:nvPicPr>
          <p:cNvPr id="33" name="Image 8" descr="preencoded.png">    </p:cNvPr>
          <p:cNvPicPr>
            <a:picLocks noChangeAspect="1"/>
          </p:cNvPicPr>
          <p:nvPr/>
        </p:nvPicPr>
        <p:blipFill>
          <a:blip r:embed="rId9"/>
          <a:stretch>
            <a:fillRect/>
          </a:stretch>
        </p:blipFill>
        <p:spPr>
          <a:xfrm>
            <a:off x="0" y="0"/>
            <a:ext cx="17145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01873"/>
            <a:ext cx="8458200" cy="183978"/>
          </a:xfrm>
          <a:prstGeom prst="rect">
            <a:avLst/>
          </a:prstGeom>
          <a:noFill/>
          <a:ln/>
        </p:spPr>
        <p:txBody>
          <a:bodyPr wrap="square" lIns="0" tIns="0" rIns="0" bIns="0" rtlCol="0" anchor="t">
            <a:normAutofit/>
          </a:bodyPr>
          <a:lstStyle/>
          <a:p>
            <a:pPr algn="l" indent="0" marL="0">
              <a:lnSpc>
                <a:spcPts val="1609"/>
              </a:lnSpc>
              <a:buNone/>
            </a:pPr>
            <a:r>
              <a:rPr lang="en-US" sz="1463" b="1" spc="-18" kern="0" dirty="0">
                <a:solidFill>
                  <a:srgbClr val="1A2A4F"/>
                </a:solidFill>
                <a:latin typeface="Liberation Sans Narrow" pitchFamily="34" charset="0"/>
                <a:ea typeface="Liberation Sans Narrow" pitchFamily="34" charset="-122"/>
                <a:cs typeface="Liberation Sans Narrow" pitchFamily="34" charset="-120"/>
              </a:rPr>
              <a:t>Separation — Worked Example 2</a:t>
            </a:r>
            <a:endParaRPr lang="en-US" sz="1463" dirty="0"/>
          </a:p>
        </p:txBody>
      </p:sp>
      <p:sp>
        <p:nvSpPr>
          <p:cNvPr id="4" name="Text 2"/>
          <p:cNvSpPr/>
          <p:nvPr/>
        </p:nvSpPr>
        <p:spPr>
          <a:xfrm>
            <a:off x="685800" y="913284"/>
            <a:ext cx="8458200" cy="173593"/>
          </a:xfrm>
          <a:prstGeom prst="rect">
            <a:avLst/>
          </a:prstGeom>
          <a:noFill/>
          <a:ln/>
        </p:spPr>
        <p:txBody>
          <a:bodyPr wrap="none" lIns="0" tIns="0" rIns="0" bIns="0" rtlCol="0" anchor="t"/>
          <a:lstStyle/>
          <a:p>
            <a:pPr algn="l" indent="0" marL="0">
              <a:lnSpc>
                <a:spcPts val="1266"/>
              </a:lnSpc>
              <a:buNone/>
            </a:pPr>
            <a:r>
              <a:rPr lang="en-US" sz="844" i="1" spc="-4" kern="0" dirty="0">
                <a:solidFill>
                  <a:srgbClr val="1F61C9"/>
                </a:solidFill>
                <a:latin typeface="Carlito" pitchFamily="34" charset="0"/>
                <a:ea typeface="Carlito" pitchFamily="34" charset="-122"/>
                <a:cs typeface="Carlito" pitchFamily="34" charset="-120"/>
              </a:rPr>
              <a:t>Newton's Law of Cooling</a:t>
            </a:r>
            <a:endParaRPr lang="en-US" sz="844" dirty="0"/>
          </a:p>
        </p:txBody>
      </p:sp>
      <p:sp>
        <p:nvSpPr>
          <p:cNvPr id="5" name="Text 3"/>
          <p:cNvSpPr/>
          <p:nvPr/>
        </p:nvSpPr>
        <p:spPr>
          <a:xfrm>
            <a:off x="685800" y="1131168"/>
            <a:ext cx="7943850" cy="564356"/>
          </a:xfrm>
          <a:prstGeom prst="roundRect">
            <a:avLst>
              <a:gd name="adj" fmla="val 6751"/>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31168"/>
            <a:ext cx="0" cy="564356"/>
          </a:xfrm>
          <a:prstGeom prst="line">
            <a:avLst/>
          </a:prstGeom>
          <a:noFill/>
          <a:ln w="28575">
            <a:solidFill>
              <a:srgbClr val="1F61C9"/>
            </a:solidFill>
            <a:prstDash val="solid"/>
          </a:ln>
        </p:spPr>
      </p:sp>
      <p:sp>
        <p:nvSpPr>
          <p:cNvPr id="7" name="Text 5"/>
          <p:cNvSpPr/>
          <p:nvPr/>
        </p:nvSpPr>
        <p:spPr>
          <a:xfrm>
            <a:off x="828675" y="1174031"/>
            <a:ext cx="7686675" cy="143237"/>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14171F"/>
                </a:solidFill>
                <a:latin typeface="Carlito" pitchFamily="34" charset="0"/>
                <a:ea typeface="Carlito" pitchFamily="34" charset="-122"/>
                <a:cs typeface="Carlito" pitchFamily="34" charset="-120"/>
              </a:rPr>
              <a:t>A cup of coffee at 90°C sits in a room at 20°C. After 5 minutes, it cools to 70°C. Find T(t) and predict the temperature at t = 10 min. Newton's law of cooling:</a:t>
            </a:r>
            <a:endParaRPr lang="en-US" sz="800" dirty="0"/>
          </a:p>
        </p:txBody>
      </p:sp>
      <p:pic>
        <p:nvPicPr>
          <p:cNvPr id="8" name="Image 0" descr="/tmp/h2p-svg-1781853763682-h814i8.png">    </p:cNvPr>
          <p:cNvPicPr>
            <a:picLocks noChangeAspect="1"/>
          </p:cNvPicPr>
          <p:nvPr/>
        </p:nvPicPr>
        <p:blipFill>
          <a:blip r:embed="rId1"/>
          <a:stretch>
            <a:fillRect/>
          </a:stretch>
        </p:blipFill>
        <p:spPr>
          <a:xfrm>
            <a:off x="3101280" y="1344699"/>
            <a:ext cx="3141464" cy="267221"/>
          </a:xfrm>
          <a:prstGeom prst="rect">
            <a:avLst/>
          </a:prstGeom>
        </p:spPr>
      </p:pic>
      <p:sp>
        <p:nvSpPr>
          <p:cNvPr id="9" name="Shape 6"/>
          <p:cNvSpPr/>
          <p:nvPr/>
        </p:nvSpPr>
        <p:spPr>
          <a:xfrm>
            <a:off x="685800" y="2104951"/>
            <a:ext cx="7943850" cy="0"/>
          </a:xfrm>
          <a:prstGeom prst="line">
            <a:avLst/>
          </a:prstGeom>
          <a:noFill/>
          <a:ln w="7144">
            <a:solidFill>
              <a:srgbClr val="E3E6EE"/>
            </a:solidFill>
            <a:prstDash val="dash"/>
          </a:ln>
        </p:spPr>
      </p:sp>
      <p:sp>
        <p:nvSpPr>
          <p:cNvPr id="10" name="Text 7"/>
          <p:cNvSpPr/>
          <p:nvPr/>
        </p:nvSpPr>
        <p:spPr>
          <a:xfrm>
            <a:off x="685800" y="1814847"/>
            <a:ext cx="2065325" cy="279388"/>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1</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Substitute u = T − T</a:t>
            </a:r>
            <a:pPr algn="r" indent="0" marL="0">
              <a:lnSpc>
                <a:spcPts val="773"/>
              </a:lnSpc>
              <a:buNone/>
            </a:pPr>
            <a:r>
              <a:rPr lang="en-US" sz="800" i="1" baseline="-40000" dirty="0">
                <a:solidFill>
                  <a:srgbClr val="4A5160"/>
                </a:solidFill>
                <a:latin typeface="Carlito" pitchFamily="34" charset="0"/>
                <a:ea typeface="Carlito" pitchFamily="34" charset="-122"/>
                <a:cs typeface="Carlito" pitchFamily="34" charset="-120"/>
              </a:rPr>
              <a:t>s</a:t>
            </a:r>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 so du = dT</a:t>
            </a:r>
            <a:endParaRPr lang="en-US" sz="800" dirty="0"/>
          </a:p>
        </p:txBody>
      </p:sp>
      <p:pic>
        <p:nvPicPr>
          <p:cNvPr id="11" name="Image 1" descr="/tmp/h2p-svg-1781853763690-nn9hvd.png">    </p:cNvPr>
          <p:cNvPicPr>
            <a:picLocks noChangeAspect="1"/>
          </p:cNvPicPr>
          <p:nvPr/>
        </p:nvPicPr>
        <p:blipFill>
          <a:blip r:embed="rId2"/>
          <a:stretch>
            <a:fillRect/>
          </a:stretch>
        </p:blipFill>
        <p:spPr>
          <a:xfrm>
            <a:off x="5487628" y="1786272"/>
            <a:ext cx="634008" cy="267221"/>
          </a:xfrm>
          <a:prstGeom prst="rect">
            <a:avLst/>
          </a:prstGeom>
        </p:spPr>
      </p:pic>
      <p:sp>
        <p:nvSpPr>
          <p:cNvPr id="12" name="Shape 8"/>
          <p:cNvSpPr/>
          <p:nvPr/>
        </p:nvSpPr>
        <p:spPr>
          <a:xfrm>
            <a:off x="685800" y="2485690"/>
            <a:ext cx="7943850" cy="0"/>
          </a:xfrm>
          <a:prstGeom prst="line">
            <a:avLst/>
          </a:prstGeom>
          <a:noFill/>
          <a:ln w="7144">
            <a:solidFill>
              <a:srgbClr val="E3E6EE"/>
            </a:solidFill>
            <a:prstDash val="dash"/>
          </a:ln>
        </p:spPr>
      </p:sp>
      <p:sp>
        <p:nvSpPr>
          <p:cNvPr id="13" name="Text 9"/>
          <p:cNvSpPr/>
          <p:nvPr/>
        </p:nvSpPr>
        <p:spPr>
          <a:xfrm>
            <a:off x="685800" y="2204182"/>
            <a:ext cx="2065325" cy="270793"/>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2</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Separate variables</a:t>
            </a:r>
            <a:endParaRPr lang="en-US" sz="800" dirty="0"/>
          </a:p>
        </p:txBody>
      </p:sp>
      <p:pic>
        <p:nvPicPr>
          <p:cNvPr id="14" name="Image 2" descr="/tmp/h2p-svg-1781853763694-q4qme0.png">    </p:cNvPr>
          <p:cNvPicPr>
            <a:picLocks noChangeAspect="1"/>
          </p:cNvPicPr>
          <p:nvPr/>
        </p:nvPicPr>
        <p:blipFill>
          <a:blip r:embed="rId3"/>
          <a:stretch>
            <a:fillRect/>
          </a:stretch>
        </p:blipFill>
        <p:spPr>
          <a:xfrm>
            <a:off x="5419874" y="2170695"/>
            <a:ext cx="769516" cy="263537"/>
          </a:xfrm>
          <a:prstGeom prst="rect">
            <a:avLst/>
          </a:prstGeom>
        </p:spPr>
      </p:pic>
      <p:sp>
        <p:nvSpPr>
          <p:cNvPr id="15" name="Shape 10"/>
          <p:cNvSpPr/>
          <p:nvPr/>
        </p:nvSpPr>
        <p:spPr>
          <a:xfrm>
            <a:off x="685800" y="2755925"/>
            <a:ext cx="7943850" cy="0"/>
          </a:xfrm>
          <a:prstGeom prst="line">
            <a:avLst/>
          </a:prstGeom>
          <a:noFill/>
          <a:ln w="7144">
            <a:solidFill>
              <a:srgbClr val="E3E6EE"/>
            </a:solidFill>
            <a:prstDash val="dash"/>
          </a:ln>
        </p:spPr>
      </p:sp>
      <p:sp>
        <p:nvSpPr>
          <p:cNvPr id="16" name="Text 11"/>
          <p:cNvSpPr/>
          <p:nvPr/>
        </p:nvSpPr>
        <p:spPr>
          <a:xfrm>
            <a:off x="685800" y="2529669"/>
            <a:ext cx="2065325" cy="21554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3</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Integrate both sides</a:t>
            </a:r>
            <a:endParaRPr lang="en-US" sz="800" dirty="0"/>
          </a:p>
        </p:txBody>
      </p:sp>
      <p:pic>
        <p:nvPicPr>
          <p:cNvPr id="17" name="Image 3" descr="/tmp/h2p-svg-1781853763700-7ks0r7.png">    </p:cNvPr>
          <p:cNvPicPr>
            <a:picLocks noChangeAspect="1"/>
          </p:cNvPicPr>
          <p:nvPr/>
        </p:nvPicPr>
        <p:blipFill>
          <a:blip r:embed="rId4"/>
          <a:stretch>
            <a:fillRect/>
          </a:stretch>
        </p:blipFill>
        <p:spPr>
          <a:xfrm>
            <a:off x="5319973" y="2561592"/>
            <a:ext cx="969206" cy="129146"/>
          </a:xfrm>
          <a:prstGeom prst="rect">
            <a:avLst/>
          </a:prstGeom>
        </p:spPr>
      </p:pic>
      <p:sp>
        <p:nvSpPr>
          <p:cNvPr id="18" name="Shape 12"/>
          <p:cNvSpPr/>
          <p:nvPr/>
        </p:nvSpPr>
        <p:spPr>
          <a:xfrm>
            <a:off x="685800" y="3035759"/>
            <a:ext cx="7943850" cy="0"/>
          </a:xfrm>
          <a:prstGeom prst="line">
            <a:avLst/>
          </a:prstGeom>
          <a:noFill/>
          <a:ln w="7144">
            <a:solidFill>
              <a:srgbClr val="E3E6EE"/>
            </a:solidFill>
            <a:prstDash val="dash"/>
          </a:ln>
        </p:spPr>
      </p:sp>
      <p:sp>
        <p:nvSpPr>
          <p:cNvPr id="19" name="Text 13"/>
          <p:cNvSpPr/>
          <p:nvPr/>
        </p:nvSpPr>
        <p:spPr>
          <a:xfrm>
            <a:off x="685800" y="2804703"/>
            <a:ext cx="2065325" cy="22034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4</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Exponentiate</a:t>
            </a:r>
            <a:endParaRPr lang="en-US" sz="800" dirty="0"/>
          </a:p>
        </p:txBody>
      </p:sp>
      <p:pic>
        <p:nvPicPr>
          <p:cNvPr id="20" name="Image 4" descr="/tmp/h2p-svg-1781853763700-tbacey.png">    </p:cNvPr>
          <p:cNvPicPr>
            <a:picLocks noChangeAspect="1"/>
          </p:cNvPicPr>
          <p:nvPr/>
        </p:nvPicPr>
        <p:blipFill>
          <a:blip r:embed="rId5"/>
          <a:stretch>
            <a:fillRect/>
          </a:stretch>
        </p:blipFill>
        <p:spPr>
          <a:xfrm>
            <a:off x="5510175" y="2821670"/>
            <a:ext cx="588913" cy="127360"/>
          </a:xfrm>
          <a:prstGeom prst="rect">
            <a:avLst/>
          </a:prstGeom>
        </p:spPr>
      </p:pic>
      <p:sp>
        <p:nvSpPr>
          <p:cNvPr id="21" name="Text 14"/>
          <p:cNvSpPr/>
          <p:nvPr/>
        </p:nvSpPr>
        <p:spPr>
          <a:xfrm>
            <a:off x="685800" y="3084649"/>
            <a:ext cx="2065325" cy="27432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5</a:t>
            </a:r>
            <a:endParaRPr lang="en-US" sz="800" dirty="0"/>
          </a:p>
          <a:p>
            <a:pPr algn="r" indent="0" marL="0">
              <a:lnSpc>
                <a:spcPts val="773"/>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Back-substitute u = T − 20</a:t>
            </a:r>
            <a:endParaRPr lang="en-US" sz="800" dirty="0"/>
          </a:p>
        </p:txBody>
      </p:sp>
      <p:pic>
        <p:nvPicPr>
          <p:cNvPr id="22" name="Image 5" descr="/tmp/h2p-svg-1781853763701-0m5pd6.png">    </p:cNvPr>
          <p:cNvPicPr>
            <a:picLocks noChangeAspect="1"/>
          </p:cNvPicPr>
          <p:nvPr/>
        </p:nvPicPr>
        <p:blipFill>
          <a:blip r:embed="rId6"/>
          <a:stretch>
            <a:fillRect/>
          </a:stretch>
        </p:blipFill>
        <p:spPr>
          <a:xfrm>
            <a:off x="5284254" y="3101504"/>
            <a:ext cx="1040643" cy="149126"/>
          </a:xfrm>
          <a:prstGeom prst="rect">
            <a:avLst/>
          </a:prstGeom>
        </p:spPr>
      </p:pic>
      <p:sp>
        <p:nvSpPr>
          <p:cNvPr id="23" name="Text 15"/>
          <p:cNvSpPr/>
          <p:nvPr/>
        </p:nvSpPr>
        <p:spPr>
          <a:xfrm>
            <a:off x="685800" y="3347851"/>
            <a:ext cx="7943850" cy="627980"/>
          </a:xfrm>
          <a:prstGeom prst="roundRect">
            <a:avLst>
              <a:gd name="adj" fmla="val 6067"/>
            </a:avLst>
          </a:prstGeom>
          <a:solidFill>
            <a:srgbClr val="F3ECF8"/>
          </a:solidFill>
          <a:ln/>
        </p:spPr>
        <p:txBody>
          <a:bodyPr wrap="square" rtlCol="0" anchor="ctr"/>
          <a:lstStyle/>
          <a:p>
            <a:pPr indent="0" marL="0">
              <a:buNone/>
            </a:pPr>
            <a:endParaRPr lang="en-US" dirty="0"/>
          </a:p>
        </p:txBody>
      </p:sp>
      <p:sp>
        <p:nvSpPr>
          <p:cNvPr id="24" name="Shape 16"/>
          <p:cNvSpPr/>
          <p:nvPr/>
        </p:nvSpPr>
        <p:spPr>
          <a:xfrm>
            <a:off x="700088" y="3347851"/>
            <a:ext cx="0" cy="627980"/>
          </a:xfrm>
          <a:prstGeom prst="line">
            <a:avLst/>
          </a:prstGeom>
          <a:noFill/>
          <a:ln w="28575">
            <a:solidFill>
              <a:srgbClr val="6B2FA0"/>
            </a:solidFill>
            <a:prstDash val="solid"/>
          </a:ln>
        </p:spPr>
      </p:sp>
      <p:sp>
        <p:nvSpPr>
          <p:cNvPr id="25" name="Text 17"/>
          <p:cNvSpPr/>
          <p:nvPr/>
        </p:nvSpPr>
        <p:spPr>
          <a:xfrm>
            <a:off x="828675" y="3383570"/>
            <a:ext cx="7796403" cy="131182"/>
          </a:xfrm>
          <a:prstGeom prst="rect">
            <a:avLst/>
          </a:prstGeom>
          <a:noFill/>
          <a:ln/>
        </p:spPr>
        <p:txBody>
          <a:bodyPr wrap="square" lIns="0" tIns="0" rIns="0" bIns="0" rtlCol="0" anchor="t">
            <a:normAutofit/>
          </a:bodyPr>
          <a:lstStyle/>
          <a:p>
            <a:pPr algn="l" indent="0" marL="0">
              <a:lnSpc>
                <a:spcPts val="928"/>
              </a:lnSpc>
              <a:buNone/>
            </a:pPr>
            <a:r>
              <a:rPr lang="en-US" sz="800" i="1" dirty="0">
                <a:solidFill>
                  <a:srgbClr val="14171F"/>
                </a:solidFill>
                <a:latin typeface="Carlito" pitchFamily="34" charset="0"/>
                <a:ea typeface="Carlito" pitchFamily="34" charset="-122"/>
                <a:cs typeface="Carlito" pitchFamily="34" charset="-120"/>
              </a:rPr>
              <a:t>Find C and k — apply T(0) = 90 and T(5) = 70:</a:t>
            </a:r>
            <a:endParaRPr lang="en-US" sz="800" dirty="0"/>
          </a:p>
        </p:txBody>
      </p:sp>
      <p:pic>
        <p:nvPicPr>
          <p:cNvPr id="26" name="Image 6" descr="/tmp/h2p-svg-1781853763701-yfif1z.png">    </p:cNvPr>
          <p:cNvPicPr>
            <a:picLocks noChangeAspect="1"/>
          </p:cNvPicPr>
          <p:nvPr/>
        </p:nvPicPr>
        <p:blipFill>
          <a:blip r:embed="rId7"/>
          <a:stretch>
            <a:fillRect/>
          </a:stretch>
        </p:blipFill>
        <p:spPr>
          <a:xfrm>
            <a:off x="3950605" y="3558257"/>
            <a:ext cx="1442814" cy="101687"/>
          </a:xfrm>
          <a:prstGeom prst="rect">
            <a:avLst/>
          </a:prstGeom>
        </p:spPr>
      </p:pic>
      <p:pic>
        <p:nvPicPr>
          <p:cNvPr id="27" name="Image 7" descr="/tmp/h2p-svg-1781853763702-w4fasn.png">    </p:cNvPr>
          <p:cNvPicPr>
            <a:picLocks noChangeAspect="1"/>
          </p:cNvPicPr>
          <p:nvPr/>
        </p:nvPicPr>
        <p:blipFill>
          <a:blip r:embed="rId8"/>
          <a:stretch>
            <a:fillRect/>
          </a:stretch>
        </p:blipFill>
        <p:spPr>
          <a:xfrm>
            <a:off x="2997696" y="3735958"/>
            <a:ext cx="3348633" cy="163413"/>
          </a:xfrm>
          <a:prstGeom prst="rect">
            <a:avLst/>
          </a:prstGeom>
        </p:spPr>
      </p:pic>
      <p:sp>
        <p:nvSpPr>
          <p:cNvPr id="28" name="Text 18"/>
          <p:cNvSpPr/>
          <p:nvPr/>
        </p:nvSpPr>
        <p:spPr>
          <a:xfrm>
            <a:off x="3430451" y="4151858"/>
            <a:ext cx="794296" cy="164592"/>
          </a:xfrm>
          <a:prstGeom prst="rect">
            <a:avLst/>
          </a:prstGeom>
          <a:noFill/>
          <a:ln/>
        </p:spPr>
        <p:txBody>
          <a:bodyPr wrap="none" lIns="12859" tIns="0" rIns="0" bIns="0" rtlCol="0" anchor="t"/>
          <a:lstStyle/>
          <a:p>
            <a:pPr algn="ctr" indent="0" marL="0">
              <a:lnSpc>
                <a:spcPts val="844"/>
              </a:lnSpc>
              <a:buNone/>
            </a:pPr>
            <a:r>
              <a:rPr lang="en-US" sz="800" b="1" spc="113"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29" name="Text 19"/>
          <p:cNvSpPr/>
          <p:nvPr/>
        </p:nvSpPr>
        <p:spPr>
          <a:xfrm>
            <a:off x="4269284" y="4022266"/>
            <a:ext cx="1612032" cy="340221"/>
          </a:xfrm>
          <a:prstGeom prst="roundRect">
            <a:avLst>
              <a:gd name="adj" fmla="val 11199"/>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30" name="Image 8" descr="/tmp/h2p-svg-1781853763703-5mv7dp.png">    </p:cNvPr>
          <p:cNvPicPr>
            <a:picLocks noChangeAspect="1"/>
          </p:cNvPicPr>
          <p:nvPr/>
        </p:nvPicPr>
        <p:blipFill>
          <a:blip r:embed="rId9"/>
          <a:stretch>
            <a:fillRect/>
          </a:stretch>
        </p:blipFill>
        <p:spPr>
          <a:xfrm>
            <a:off x="4344293" y="4100959"/>
            <a:ext cx="1462013" cy="165869"/>
          </a:xfrm>
          <a:prstGeom prst="rect">
            <a:avLst/>
          </a:prstGeom>
        </p:spPr>
      </p:pic>
      <p:sp>
        <p:nvSpPr>
          <p:cNvPr id="31" name="Text 20"/>
          <p:cNvSpPr/>
          <p:nvPr/>
        </p:nvSpPr>
        <p:spPr>
          <a:xfrm>
            <a:off x="685800" y="4401778"/>
            <a:ext cx="7943850" cy="299703"/>
          </a:xfrm>
          <a:prstGeom prst="roundRect">
            <a:avLst>
              <a:gd name="adj" fmla="val 12713"/>
            </a:avLst>
          </a:prstGeom>
          <a:solidFill>
            <a:srgbClr val="F6F7FB"/>
          </a:solidFill>
          <a:ln/>
        </p:spPr>
        <p:txBody>
          <a:bodyPr wrap="square" rtlCol="0" anchor="ctr"/>
          <a:lstStyle/>
          <a:p>
            <a:pPr indent="0" marL="0">
              <a:buNone/>
            </a:pPr>
            <a:endParaRPr lang="en-US" dirty="0"/>
          </a:p>
        </p:txBody>
      </p:sp>
      <p:sp>
        <p:nvSpPr>
          <p:cNvPr id="32" name="Shape 21"/>
          <p:cNvSpPr/>
          <p:nvPr/>
        </p:nvSpPr>
        <p:spPr>
          <a:xfrm>
            <a:off x="700088" y="4401778"/>
            <a:ext cx="0" cy="299703"/>
          </a:xfrm>
          <a:prstGeom prst="line">
            <a:avLst/>
          </a:prstGeom>
          <a:noFill/>
          <a:ln w="28575">
            <a:solidFill>
              <a:srgbClr val="1F61C9"/>
            </a:solidFill>
            <a:prstDash val="solid"/>
          </a:ln>
        </p:spPr>
      </p:sp>
      <p:sp>
        <p:nvSpPr>
          <p:cNvPr id="33" name="Text 22"/>
          <p:cNvSpPr/>
          <p:nvPr/>
        </p:nvSpPr>
        <p:spPr>
          <a:xfrm>
            <a:off x="828675" y="4492637"/>
            <a:ext cx="715204" cy="164592"/>
          </a:xfrm>
          <a:prstGeom prst="rect">
            <a:avLst/>
          </a:prstGeom>
          <a:noFill/>
          <a:ln/>
        </p:spPr>
        <p:txBody>
          <a:bodyPr wrap="none" lIns="0" tIns="0" rIns="0" bIns="0" rtlCol="0" anchor="t"/>
          <a:lstStyle/>
          <a:p>
            <a:pPr algn="l" indent="0" marL="0">
              <a:lnSpc>
                <a:spcPts val="928"/>
              </a:lnSpc>
              <a:buNone/>
            </a:pPr>
            <a:r>
              <a:rPr lang="en-US" sz="800" i="1" dirty="0">
                <a:solidFill>
                  <a:srgbClr val="14171F"/>
                </a:solidFill>
                <a:latin typeface="Liberation Sans Narrow" pitchFamily="34" charset="0"/>
                <a:ea typeface="Liberation Sans Narrow" pitchFamily="34" charset="-122"/>
                <a:cs typeface="Liberation Sans Narrow" pitchFamily="34" charset="-120"/>
              </a:rPr>
              <a:t>At t = 10 min:</a:t>
            </a:r>
            <a:endParaRPr lang="en-US" sz="800" dirty="0"/>
          </a:p>
        </p:txBody>
      </p:sp>
      <p:pic>
        <p:nvPicPr>
          <p:cNvPr id="34" name="Image 9" descr="/tmp/h2p-svg-1781853763703-a87xji.png">    </p:cNvPr>
          <p:cNvPicPr>
            <a:picLocks noChangeAspect="1"/>
          </p:cNvPicPr>
          <p:nvPr/>
        </p:nvPicPr>
        <p:blipFill>
          <a:blip r:embed="rId10"/>
          <a:stretch>
            <a:fillRect/>
          </a:stretch>
        </p:blipFill>
        <p:spPr>
          <a:xfrm>
            <a:off x="4082207" y="4471095"/>
            <a:ext cx="1834046" cy="147451"/>
          </a:xfrm>
          <a:prstGeom prst="rect">
            <a:avLst/>
          </a:prstGeom>
        </p:spPr>
      </p:pic>
      <p:sp>
        <p:nvSpPr>
          <p:cNvPr id="35" name="Text 23"/>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13 / 38</a:t>
            </a:r>
            <a:endParaRPr lang="en-US" sz="800" dirty="0"/>
          </a:p>
        </p:txBody>
      </p:sp>
      <p:pic>
        <p:nvPicPr>
          <p:cNvPr id="36" name="Image 10" descr="preencoded.png">    </p:cNvPr>
          <p:cNvPicPr>
            <a:picLocks noChangeAspect="1"/>
          </p:cNvPicPr>
          <p:nvPr/>
        </p:nvPicPr>
        <p:blipFill>
          <a:blip r:embed="rId11"/>
          <a:stretch>
            <a:fillRect/>
          </a:stretch>
        </p:blipFill>
        <p:spPr>
          <a:xfrm>
            <a:off x="0" y="0"/>
            <a:ext cx="17145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73100"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TECHNIQUE 2</a:t>
            </a:r>
            <a:endParaRPr lang="en-US" sz="844" dirty="0"/>
          </a:p>
        </p:txBody>
      </p:sp>
      <p:sp>
        <p:nvSpPr>
          <p:cNvPr id="3" name="Text 1"/>
          <p:cNvSpPr/>
          <p:nvPr/>
        </p:nvSpPr>
        <p:spPr>
          <a:xfrm>
            <a:off x="685800" y="701873"/>
            <a:ext cx="7943850" cy="311115"/>
          </a:xfrm>
          <a:prstGeom prst="rect">
            <a:avLst/>
          </a:prstGeom>
          <a:noFill/>
          <a:ln/>
        </p:spPr>
        <p:txBody>
          <a:bodyPr wrap="square" lIns="0" tIns="0" rIns="0" bIns="0" rtlCol="0" anchor="t">
            <a:normAutofit/>
          </a:bodyPr>
          <a:lstStyle/>
          <a:p>
            <a:pPr algn="l" indent="0" marL="0">
              <a:lnSpc>
                <a:spcPts val="2329"/>
              </a:lnSpc>
              <a:buNone/>
            </a:pPr>
            <a:r>
              <a:rPr lang="en-US" sz="2025" b="1" spc="-24" kern="0" dirty="0">
                <a:solidFill>
                  <a:srgbClr val="1A2A4F"/>
                </a:solidFill>
                <a:latin typeface="Liberation Sans Narrow" pitchFamily="34" charset="0"/>
                <a:ea typeface="Liberation Sans Narrow" pitchFamily="34" charset="-122"/>
                <a:cs typeface="Liberation Sans Narrow" pitchFamily="34" charset="-120"/>
              </a:rPr>
              <a:t>Method 2 — Linear First-Order ODEs</a:t>
            </a:r>
            <a:endParaRPr lang="en-US" sz="2025" dirty="0"/>
          </a:p>
        </p:txBody>
      </p:sp>
      <p:sp>
        <p:nvSpPr>
          <p:cNvPr id="4" name="Text 2"/>
          <p:cNvSpPr/>
          <p:nvPr/>
        </p:nvSpPr>
        <p:spPr>
          <a:xfrm>
            <a:off x="685800" y="1040420"/>
            <a:ext cx="8458200" cy="231458"/>
          </a:xfrm>
          <a:prstGeom prst="rect">
            <a:avLst/>
          </a:prstGeom>
          <a:noFill/>
          <a:ln/>
        </p:spPr>
        <p:txBody>
          <a:bodyPr wrap="square" lIns="0" tIns="0" rIns="0" bIns="0" rtlCol="0" anchor="t"/>
          <a:lstStyle/>
          <a:p>
            <a:pPr algn="l" indent="0" marL="0">
              <a:lnSpc>
                <a:spcPts val="1688"/>
              </a:lnSpc>
              <a:buNone/>
            </a:pPr>
            <a:r>
              <a:rPr lang="en-US" sz="1125" i="1" spc="-6" kern="0" dirty="0">
                <a:solidFill>
                  <a:srgbClr val="1F61C9"/>
                </a:solidFill>
                <a:latin typeface="Carlito" pitchFamily="34" charset="0"/>
                <a:ea typeface="Carlito" pitchFamily="34" charset="-122"/>
                <a:cs typeface="Carlito" pitchFamily="34" charset="-120"/>
              </a:rPr>
              <a:t>The Logic of the Integrating Factor</a:t>
            </a:r>
            <a:endParaRPr lang="en-US" sz="1125" dirty="0"/>
          </a:p>
        </p:txBody>
      </p:sp>
      <p:sp>
        <p:nvSpPr>
          <p:cNvPr id="5" name="Shape 3"/>
          <p:cNvSpPr/>
          <p:nvPr/>
        </p:nvSpPr>
        <p:spPr>
          <a:xfrm>
            <a:off x="685800" y="1644067"/>
            <a:ext cx="4369073" cy="0"/>
          </a:xfrm>
          <a:prstGeom prst="line">
            <a:avLst/>
          </a:prstGeom>
          <a:noFill/>
          <a:ln w="7144">
            <a:solidFill>
              <a:srgbClr val="E3E6EE"/>
            </a:solidFill>
            <a:prstDash val="solid"/>
          </a:ln>
        </p:spPr>
      </p:sp>
      <p:sp>
        <p:nvSpPr>
          <p:cNvPr id="6" name="Text 4"/>
          <p:cNvSpPr/>
          <p:nvPr/>
        </p:nvSpPr>
        <p:spPr>
          <a:xfrm>
            <a:off x="685800" y="1411895"/>
            <a:ext cx="5557461" cy="254603"/>
          </a:xfrm>
          <a:prstGeom prst="rect">
            <a:avLst/>
          </a:prstGeom>
          <a:noFill/>
          <a:ln/>
        </p:spPr>
        <p:txBody>
          <a:bodyPr wrap="none" lIns="0" tIns="0" rIns="0" bIns="57150" rtlCol="0" anchor="t"/>
          <a:lstStyle/>
          <a:p>
            <a:pPr algn="l" indent="0" marL="0">
              <a:lnSpc>
                <a:spcPts val="1350"/>
              </a:lnSpc>
              <a:buNone/>
            </a:pPr>
            <a:r>
              <a:rPr lang="en-US" sz="900" b="1" spc="90" kern="0" dirty="0">
                <a:solidFill>
                  <a:srgbClr val="1F61C9"/>
                </a:solidFill>
                <a:latin typeface="Carlito" pitchFamily="34" charset="0"/>
                <a:ea typeface="Carlito" pitchFamily="34" charset="-122"/>
                <a:cs typeface="Carlito" pitchFamily="34" charset="-120"/>
              </a:rPr>
              <a:t>THE CORE LOGIC</a:t>
            </a:r>
            <a:endParaRPr lang="en-US" sz="900" dirty="0"/>
          </a:p>
        </p:txBody>
      </p:sp>
      <p:sp>
        <p:nvSpPr>
          <p:cNvPr id="7" name="Text 5"/>
          <p:cNvSpPr/>
          <p:nvPr/>
        </p:nvSpPr>
        <p:spPr>
          <a:xfrm>
            <a:off x="685800" y="1733364"/>
            <a:ext cx="4369073" cy="517725"/>
          </a:xfrm>
          <a:prstGeom prst="rect">
            <a:avLst/>
          </a:prstGeom>
          <a:noFill/>
          <a:ln/>
        </p:spPr>
        <p:txBody>
          <a:bodyPr wrap="square" lIns="0" tIns="0" rIns="0" bIns="0" rtlCol="0" anchor="t">
            <a:normAutofit/>
          </a:bodyPr>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A linear ODE in standard form is y′+P(x)y=Q(x). The left side is almost a product-rule derivative, but not quite. We will manufacture a function μ(x) (the integrating factor) to force a perfect product rule.</a:t>
            </a:r>
            <a:endParaRPr lang="en-US" sz="816" dirty="0"/>
          </a:p>
        </p:txBody>
      </p:sp>
      <p:sp>
        <p:nvSpPr>
          <p:cNvPr id="8" name="Text 6"/>
          <p:cNvSpPr/>
          <p:nvPr/>
        </p:nvSpPr>
        <p:spPr>
          <a:xfrm>
            <a:off x="685800" y="2278521"/>
            <a:ext cx="4369073" cy="353817"/>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We want: μy′+μPy=ddx(μy)=μy′+μ′y. Matching the y-terms forces μ′=μP. This is a separable ODE for μ:</a:t>
            </a:r>
            <a:endParaRPr lang="en-US" sz="816" dirty="0"/>
          </a:p>
        </p:txBody>
      </p:sp>
      <p:sp>
        <p:nvSpPr>
          <p:cNvPr id="9" name="Text 7"/>
          <p:cNvSpPr/>
          <p:nvPr/>
        </p:nvSpPr>
        <p:spPr>
          <a:xfrm>
            <a:off x="685800" y="2706142"/>
            <a:ext cx="4369073" cy="537790"/>
          </a:xfrm>
          <a:prstGeom prst="roundRect">
            <a:avLst>
              <a:gd name="adj" fmla="val 7085"/>
            </a:avLst>
          </a:prstGeom>
          <a:solidFill>
            <a:srgbClr val="F3ECF8"/>
          </a:solidFill>
          <a:ln/>
        </p:spPr>
        <p:txBody>
          <a:bodyPr wrap="square" rtlCol="0" anchor="ctr"/>
          <a:lstStyle/>
          <a:p>
            <a:pPr indent="0" marL="0">
              <a:buNone/>
            </a:pPr>
            <a:endParaRPr lang="en-US" dirty="0"/>
          </a:p>
        </p:txBody>
      </p:sp>
      <p:sp>
        <p:nvSpPr>
          <p:cNvPr id="10" name="Shape 8"/>
          <p:cNvSpPr/>
          <p:nvPr/>
        </p:nvSpPr>
        <p:spPr>
          <a:xfrm>
            <a:off x="700088" y="2706142"/>
            <a:ext cx="0" cy="537790"/>
          </a:xfrm>
          <a:prstGeom prst="line">
            <a:avLst/>
          </a:prstGeom>
          <a:noFill/>
          <a:ln w="28575">
            <a:solidFill>
              <a:srgbClr val="6B2FA0"/>
            </a:solidFill>
            <a:prstDash val="solid"/>
          </a:ln>
        </p:spPr>
      </p:sp>
      <p:pic>
        <p:nvPicPr>
          <p:cNvPr id="11" name="Image 0" descr="/tmp/h2p-svg-1781853763549-r86zhz.png">    </p:cNvPr>
          <p:cNvPicPr>
            <a:picLocks noChangeAspect="1"/>
          </p:cNvPicPr>
          <p:nvPr/>
        </p:nvPicPr>
        <p:blipFill>
          <a:blip r:embed="rId1"/>
          <a:stretch>
            <a:fillRect/>
          </a:stretch>
        </p:blipFill>
        <p:spPr>
          <a:xfrm>
            <a:off x="955142" y="2809838"/>
            <a:ext cx="3858964" cy="330398"/>
          </a:xfrm>
          <a:prstGeom prst="rect">
            <a:avLst/>
          </a:prstGeom>
        </p:spPr>
      </p:pic>
      <p:sp>
        <p:nvSpPr>
          <p:cNvPr id="12" name="Text 9"/>
          <p:cNvSpPr/>
          <p:nvPr/>
        </p:nvSpPr>
        <p:spPr>
          <a:xfrm>
            <a:off x="685800" y="3315370"/>
            <a:ext cx="4369073" cy="350200"/>
          </a:xfrm>
          <a:prstGeom prst="rect">
            <a:avLst/>
          </a:prstGeom>
          <a:noFill/>
          <a:ln/>
        </p:spPr>
        <p:txBody>
          <a:bodyPr wrap="square" lIns="0" tIns="0" rIns="0" bIns="0" rtlCol="0" anchor="t"/>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Once multiplied by μ, the left side becomes an exact derivative, requiring only one integration to solve.</a:t>
            </a:r>
            <a:endParaRPr lang="en-US" sz="816" dirty="0"/>
          </a:p>
        </p:txBody>
      </p:sp>
      <p:sp>
        <p:nvSpPr>
          <p:cNvPr id="13" name="Shape 10"/>
          <p:cNvSpPr/>
          <p:nvPr/>
        </p:nvSpPr>
        <p:spPr>
          <a:xfrm>
            <a:off x="5254898" y="1644067"/>
            <a:ext cx="3574666" cy="0"/>
          </a:xfrm>
          <a:prstGeom prst="line">
            <a:avLst/>
          </a:prstGeom>
          <a:noFill/>
          <a:ln w="7144">
            <a:solidFill>
              <a:srgbClr val="E3E6EE"/>
            </a:solidFill>
            <a:prstDash val="solid"/>
          </a:ln>
        </p:spPr>
      </p:sp>
      <p:sp>
        <p:nvSpPr>
          <p:cNvPr id="14" name="Text 11"/>
          <p:cNvSpPr/>
          <p:nvPr/>
        </p:nvSpPr>
        <p:spPr>
          <a:xfrm>
            <a:off x="5254898" y="1411895"/>
            <a:ext cx="3889102" cy="254603"/>
          </a:xfrm>
          <a:prstGeom prst="rect">
            <a:avLst/>
          </a:prstGeom>
          <a:noFill/>
          <a:ln/>
        </p:spPr>
        <p:txBody>
          <a:bodyPr wrap="none" lIns="0" tIns="0" rIns="0" bIns="57150" rtlCol="0" anchor="t"/>
          <a:lstStyle/>
          <a:p>
            <a:pPr algn="l" indent="0" marL="0">
              <a:lnSpc>
                <a:spcPts val="1350"/>
              </a:lnSpc>
              <a:buNone/>
            </a:pPr>
            <a:r>
              <a:rPr lang="en-US" sz="900" b="1" spc="90" kern="0" dirty="0">
                <a:solidFill>
                  <a:srgbClr val="1F61C9"/>
                </a:solidFill>
                <a:latin typeface="Carlito" pitchFamily="34" charset="0"/>
                <a:ea typeface="Carlito" pitchFamily="34" charset="-122"/>
                <a:cs typeface="Carlito" pitchFamily="34" charset="-120"/>
              </a:rPr>
              <a:t>THE METHODOLOGY</a:t>
            </a:r>
            <a:endParaRPr lang="en-US" sz="900" dirty="0"/>
          </a:p>
        </p:txBody>
      </p:sp>
      <p:sp>
        <p:nvSpPr>
          <p:cNvPr id="15" name="Text 12"/>
          <p:cNvSpPr/>
          <p:nvPr/>
        </p:nvSpPr>
        <p:spPr>
          <a:xfrm>
            <a:off x="5254898" y="1733364"/>
            <a:ext cx="3574666" cy="1835475"/>
          </a:xfrm>
          <a:prstGeom prst="rect">
            <a:avLst/>
          </a:prstGeom>
          <a:noFill/>
          <a:ln/>
        </p:spPr>
        <p:txBody>
          <a:bodyPr wrap="square" lIns="0" tIns="0" rIns="0" bIns="0" rtlCol="0" anchor="t"/>
          <a:lstStyle/>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Put in standard form: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y′+P(x)y=Q(x).</a:t>
            </a:r>
            <a:endParaRPr lang="en-US" sz="800" dirty="0"/>
          </a:p>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Compute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μ(x)=e∫P(x)dx (drop the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+C).</a:t>
            </a:r>
            <a:endParaRPr lang="en-US" sz="800" dirty="0"/>
          </a:p>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Multiply the entire ODE by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μ.</a:t>
            </a:r>
            <a:endParaRPr lang="en-US" sz="800" dirty="0"/>
          </a:p>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Recognize the left side as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ddx[μy].</a:t>
            </a:r>
            <a:endParaRPr lang="en-US" sz="800" dirty="0"/>
          </a:p>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Integrate both sides: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μy=∫μQdx+C.</a:t>
            </a:r>
            <a:endParaRPr lang="en-US" sz="800" dirty="0"/>
          </a:p>
          <a:p>
            <a:pPr algn="l" marL="342900" indent="-342900">
              <a:lnSpc>
                <a:spcPts val="1142"/>
              </a:lnSpc>
              <a:spcAft>
                <a:spcPts val="450"/>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Solve for </a:t>
            </a:r>
            <a:pPr algn="l" indent="0" marL="0">
              <a:lnSpc>
                <a:spcPts val="1142"/>
              </a:lnSpc>
              <a:spcAft>
                <a:spcPts val="450"/>
              </a:spcAft>
              <a:buNone/>
            </a:pPr>
            <a:r>
              <a:rPr lang="en-US" sz="800" dirty="0">
                <a:solidFill>
                  <a:srgbClr val="14171F"/>
                </a:solidFill>
                <a:latin typeface="Carlito" pitchFamily="34" charset="0"/>
                <a:ea typeface="Carlito" pitchFamily="34" charset="-122"/>
                <a:cs typeface="Carlito" pitchFamily="34" charset="-120"/>
              </a:rPr>
              <a:t>y and apply initial conditions.</a:t>
            </a:r>
            <a:endParaRPr lang="en-US" sz="800" dirty="0"/>
          </a:p>
        </p:txBody>
      </p:sp>
      <p:sp>
        <p:nvSpPr>
          <p:cNvPr id="16" name="Text 13"/>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14 / 38</a:t>
            </a:r>
            <a:endParaRPr lang="en-US" sz="800" dirty="0"/>
          </a:p>
        </p:txBody>
      </p:sp>
      <p:pic>
        <p:nvPicPr>
          <p:cNvPr id="17"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81589"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PROOF &amp; DERIVATION</a:t>
            </a:r>
            <a:endParaRPr lang="en-US" sz="844" dirty="0"/>
          </a:p>
        </p:txBody>
      </p:sp>
      <p:sp>
        <p:nvSpPr>
          <p:cNvPr id="3" name="Text 1"/>
          <p:cNvSpPr/>
          <p:nvPr/>
        </p:nvSpPr>
        <p:spPr>
          <a:xfrm>
            <a:off x="685800" y="701873"/>
            <a:ext cx="8458200" cy="231082"/>
          </a:xfrm>
          <a:prstGeom prst="rect">
            <a:avLst/>
          </a:prstGeom>
          <a:noFill/>
          <a:ln/>
        </p:spPr>
        <p:txBody>
          <a:bodyPr wrap="square" lIns="0" tIns="0" rIns="0" bIns="0" rtlCol="0" anchor="t">
            <a:normAutofit/>
          </a:bodyPr>
          <a:lstStyle/>
          <a:p>
            <a:pPr algn="l" indent="0" marL="0">
              <a:lnSpc>
                <a:spcPts val="1811"/>
              </a:lnSpc>
              <a:buNone/>
            </a:pPr>
            <a:r>
              <a:rPr lang="en-US" sz="1575" b="1" spc="-19" kern="0" dirty="0">
                <a:solidFill>
                  <a:srgbClr val="1A2A4F"/>
                </a:solidFill>
                <a:latin typeface="Carlito" pitchFamily="34" charset="0"/>
                <a:ea typeface="Carlito" pitchFamily="34" charset="-122"/>
                <a:cs typeface="Carlito" pitchFamily="34" charset="-120"/>
              </a:rPr>
              <a:t>Why the Integrating Factor Works</a:t>
            </a:r>
            <a:endParaRPr lang="en-US" sz="1575" dirty="0"/>
          </a:p>
        </p:txBody>
      </p:sp>
      <p:sp>
        <p:nvSpPr>
          <p:cNvPr id="4" name="Text 2"/>
          <p:cNvSpPr/>
          <p:nvPr/>
        </p:nvSpPr>
        <p:spPr>
          <a:xfrm>
            <a:off x="685800" y="960388"/>
            <a:ext cx="8458200" cy="196739"/>
          </a:xfrm>
          <a:prstGeom prst="rect">
            <a:avLst/>
          </a:prstGeom>
          <a:noFill/>
          <a:ln/>
        </p:spPr>
        <p:txBody>
          <a:bodyPr wrap="square" lIns="0" tIns="0" rIns="0" bIns="0" rtlCol="0" anchor="t"/>
          <a:lstStyle/>
          <a:p>
            <a:pPr algn="l" indent="0" marL="0">
              <a:lnSpc>
                <a:spcPts val="1434"/>
              </a:lnSpc>
              <a:buNone/>
            </a:pPr>
            <a:r>
              <a:rPr lang="en-US" sz="956" i="1" dirty="0">
                <a:solidFill>
                  <a:srgbClr val="1F61C9"/>
                </a:solidFill>
                <a:latin typeface="Carlito" pitchFamily="34" charset="0"/>
                <a:ea typeface="Carlito" pitchFamily="34" charset="-122"/>
                <a:cs typeface="Carlito" pitchFamily="34" charset="-120"/>
              </a:rPr>
              <a:t>Manufacturing a Perfect Product Rule</a:t>
            </a:r>
            <a:endParaRPr lang="en-US" sz="956" dirty="0"/>
          </a:p>
        </p:txBody>
      </p:sp>
      <p:sp>
        <p:nvSpPr>
          <p:cNvPr id="5" name="Shape 3"/>
          <p:cNvSpPr/>
          <p:nvPr/>
        </p:nvSpPr>
        <p:spPr>
          <a:xfrm>
            <a:off x="685800" y="1435447"/>
            <a:ext cx="4766221" cy="0"/>
          </a:xfrm>
          <a:prstGeom prst="line">
            <a:avLst/>
          </a:prstGeom>
          <a:noFill/>
          <a:ln w="7144">
            <a:solidFill>
              <a:srgbClr val="E3E6EE"/>
            </a:solidFill>
            <a:prstDash val="solid"/>
          </a:ln>
        </p:spPr>
      </p:sp>
      <p:sp>
        <p:nvSpPr>
          <p:cNvPr id="6" name="Text 4"/>
          <p:cNvSpPr/>
          <p:nvPr/>
        </p:nvSpPr>
        <p:spPr>
          <a:xfrm>
            <a:off x="685800" y="1256854"/>
            <a:ext cx="6021673" cy="211884"/>
          </a:xfrm>
          <a:prstGeom prst="rect">
            <a:avLst/>
          </a:prstGeom>
          <a:noFill/>
          <a:ln/>
        </p:spPr>
        <p:txBody>
          <a:bodyPr wrap="none" lIns="0" tIns="0" rIns="0" bIns="35719" rtlCol="0" anchor="t">
            <a:normAutofit/>
          </a:bodyPr>
          <a:lstStyle/>
          <a:p>
            <a:pPr algn="l" indent="0" marL="0">
              <a:lnSpc>
                <a:spcPts val="1097"/>
              </a:lnSpc>
              <a:buNone/>
            </a:pPr>
            <a:r>
              <a:rPr lang="en-US" sz="800" b="1" spc="73" kern="0" dirty="0">
                <a:solidFill>
                  <a:srgbClr val="1F61C9"/>
                </a:solidFill>
                <a:latin typeface="Carlito" pitchFamily="34" charset="0"/>
                <a:ea typeface="Carlito" pitchFamily="34" charset="-122"/>
                <a:cs typeface="Carlito" pitchFamily="34" charset="-120"/>
              </a:rPr>
              <a:t>THE DERIVATION</a:t>
            </a:r>
            <a:endParaRPr lang="en-US" sz="800" dirty="0"/>
          </a:p>
        </p:txBody>
      </p:sp>
      <p:sp>
        <p:nvSpPr>
          <p:cNvPr id="7" name="Text 5"/>
          <p:cNvSpPr/>
          <p:nvPr/>
        </p:nvSpPr>
        <p:spPr>
          <a:xfrm>
            <a:off x="685800" y="1496169"/>
            <a:ext cx="5147518" cy="164592"/>
          </a:xfrm>
          <a:prstGeom prst="rect">
            <a:avLst/>
          </a:prstGeom>
          <a:noFill/>
          <a:ln/>
        </p:spPr>
        <p:txBody>
          <a:bodyPr wrap="square" lIns="0" tIns="0" rIns="0" bIns="0" rtlCol="0" anchor="t"/>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Given a linear ODE in standard form:</a:t>
            </a:r>
            <a:endParaRPr lang="en-US" sz="800" dirty="0"/>
          </a:p>
        </p:txBody>
      </p:sp>
      <p:pic>
        <p:nvPicPr>
          <p:cNvPr id="8" name="Image 0" descr="/tmp/h2p-svg-1781853763582-e3b9cv.png">    </p:cNvPr>
          <p:cNvPicPr>
            <a:picLocks noChangeAspect="1"/>
          </p:cNvPicPr>
          <p:nvPr/>
        </p:nvPicPr>
        <p:blipFill>
          <a:blip r:embed="rId1"/>
          <a:stretch>
            <a:fillRect/>
          </a:stretch>
        </p:blipFill>
        <p:spPr>
          <a:xfrm>
            <a:off x="2470845" y="1741624"/>
            <a:ext cx="1196020" cy="154037"/>
          </a:xfrm>
          <a:prstGeom prst="rect">
            <a:avLst/>
          </a:prstGeom>
        </p:spPr>
      </p:pic>
      <p:sp>
        <p:nvSpPr>
          <p:cNvPr id="9" name="Text 6"/>
          <p:cNvSpPr/>
          <p:nvPr/>
        </p:nvSpPr>
        <p:spPr>
          <a:xfrm>
            <a:off x="685800" y="1995339"/>
            <a:ext cx="4766221" cy="290465"/>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We seek a function μ(x) such that multiplying both sides by μ makes the left side a perfect product-rule derivative.</a:t>
            </a:r>
            <a:endParaRPr lang="en-US" sz="800" dirty="0"/>
          </a:p>
        </p:txBody>
      </p:sp>
      <p:sp>
        <p:nvSpPr>
          <p:cNvPr id="10" name="Text 7"/>
          <p:cNvSpPr/>
          <p:nvPr/>
        </p:nvSpPr>
        <p:spPr>
          <a:xfrm>
            <a:off x="685800" y="2374404"/>
            <a:ext cx="2308229" cy="148133"/>
          </a:xfrm>
          <a:prstGeom prst="rect">
            <a:avLst/>
          </a:prstGeom>
          <a:noFill/>
          <a:ln/>
        </p:spPr>
        <p:txBody>
          <a:bodyPr wrap="non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Multiply by μ(x).</a:t>
            </a:r>
            <a:endParaRPr lang="en-US" sz="800" dirty="0"/>
          </a:p>
        </p:txBody>
      </p:sp>
      <p:pic>
        <p:nvPicPr>
          <p:cNvPr id="11" name="Image 1" descr="/tmp/h2p-svg-1781853763582-ecu98e.png">    </p:cNvPr>
          <p:cNvPicPr>
            <a:picLocks noChangeAspect="1"/>
          </p:cNvPicPr>
          <p:nvPr/>
        </p:nvPicPr>
        <p:blipFill>
          <a:blip r:embed="rId2"/>
          <a:stretch>
            <a:fillRect/>
          </a:stretch>
        </p:blipFill>
        <p:spPr>
          <a:xfrm>
            <a:off x="3575558" y="2365139"/>
            <a:ext cx="991084" cy="132494"/>
          </a:xfrm>
          <a:prstGeom prst="rect">
            <a:avLst/>
          </a:prstGeom>
        </p:spPr>
      </p:pic>
      <p:sp>
        <p:nvSpPr>
          <p:cNvPr id="12" name="Text 8"/>
          <p:cNvSpPr/>
          <p:nvPr/>
        </p:nvSpPr>
        <p:spPr>
          <a:xfrm>
            <a:off x="685800" y="2585591"/>
            <a:ext cx="1904479" cy="296266"/>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We want μ·y' + μ'·y = d/dx(μy). Match the y-terms.</a:t>
            </a:r>
            <a:endParaRPr lang="en-US" sz="800" dirty="0"/>
          </a:p>
        </p:txBody>
      </p:sp>
      <p:pic>
        <p:nvPicPr>
          <p:cNvPr id="13" name="Image 2" descr="/tmp/h2p-svg-1781853763583-6nc933.png">    </p:cNvPr>
          <p:cNvPicPr>
            <a:picLocks noChangeAspect="1"/>
          </p:cNvPicPr>
          <p:nvPr/>
        </p:nvPicPr>
        <p:blipFill>
          <a:blip r:embed="rId3"/>
          <a:stretch>
            <a:fillRect/>
          </a:stretch>
        </p:blipFill>
        <p:spPr>
          <a:xfrm>
            <a:off x="3829720" y="2636602"/>
            <a:ext cx="482873" cy="132494"/>
          </a:xfrm>
          <a:prstGeom prst="rect">
            <a:avLst/>
          </a:prstGeom>
        </p:spPr>
      </p:pic>
      <p:sp>
        <p:nvSpPr>
          <p:cNvPr id="14" name="Text 9"/>
          <p:cNvSpPr/>
          <p:nvPr/>
        </p:nvSpPr>
        <p:spPr>
          <a:xfrm>
            <a:off x="685800" y="2984860"/>
            <a:ext cx="2056837" cy="148133"/>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This is a separable ODE for μ. Separate.</a:t>
            </a:r>
            <a:endParaRPr lang="en-US" sz="800" dirty="0"/>
          </a:p>
        </p:txBody>
      </p:sp>
      <p:pic>
        <p:nvPicPr>
          <p:cNvPr id="15" name="Image 3" descr="/tmp/h2p-svg-1781853763583-hu2ckg.png">    </p:cNvPr>
          <p:cNvPicPr>
            <a:picLocks noChangeAspect="1"/>
          </p:cNvPicPr>
          <p:nvPr/>
        </p:nvPicPr>
        <p:blipFill>
          <a:blip r:embed="rId4"/>
          <a:stretch>
            <a:fillRect/>
          </a:stretch>
        </p:blipFill>
        <p:spPr>
          <a:xfrm>
            <a:off x="3666641" y="2898353"/>
            <a:ext cx="808918" cy="293675"/>
          </a:xfrm>
          <a:prstGeom prst="rect">
            <a:avLst/>
          </a:prstGeom>
        </p:spPr>
      </p:pic>
      <p:sp>
        <p:nvSpPr>
          <p:cNvPr id="16" name="Text 10"/>
          <p:cNvSpPr/>
          <p:nvPr/>
        </p:nvSpPr>
        <p:spPr>
          <a:xfrm>
            <a:off x="685800" y="3388258"/>
            <a:ext cx="2308229" cy="148133"/>
          </a:xfrm>
          <a:prstGeom prst="rect">
            <a:avLst/>
          </a:prstGeom>
          <a:noFill/>
          <a:ln/>
        </p:spPr>
        <p:txBody>
          <a:bodyPr wrap="non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Integrate both sides.</a:t>
            </a:r>
            <a:endParaRPr lang="en-US" sz="800" dirty="0"/>
          </a:p>
        </p:txBody>
      </p:sp>
      <p:pic>
        <p:nvPicPr>
          <p:cNvPr id="17" name="Image 4" descr="/tmp/h2p-svg-1781853763583-m2q8u6.png">    </p:cNvPr>
          <p:cNvPicPr>
            <a:picLocks noChangeAspect="1"/>
          </p:cNvPicPr>
          <p:nvPr/>
        </p:nvPicPr>
        <p:blipFill>
          <a:blip r:embed="rId5"/>
          <a:stretch>
            <a:fillRect/>
          </a:stretch>
        </p:blipFill>
        <p:spPr>
          <a:xfrm>
            <a:off x="3556248" y="3304989"/>
            <a:ext cx="1029705" cy="287201"/>
          </a:xfrm>
          <a:prstGeom prst="rect">
            <a:avLst/>
          </a:prstGeom>
        </p:spPr>
      </p:pic>
      <p:sp>
        <p:nvSpPr>
          <p:cNvPr id="18" name="Text 11"/>
          <p:cNvSpPr/>
          <p:nvPr/>
        </p:nvSpPr>
        <p:spPr>
          <a:xfrm>
            <a:off x="685800" y="3730489"/>
            <a:ext cx="2056837" cy="148133"/>
          </a:xfrm>
          <a:prstGeom prst="rect">
            <a:avLst/>
          </a:prstGeom>
          <a:noFill/>
          <a:ln/>
        </p:spPr>
        <p:txBody>
          <a:bodyPr wrap="square" lIns="0" tIns="0" rIns="0" bIns="0" rtlCol="0" anchor="t"/>
          <a:lstStyle/>
          <a:p>
            <a:pPr algn="l" indent="0" marL="0">
              <a:lnSpc>
                <a:spcPts val="949"/>
              </a:lnSpc>
              <a:buNone/>
            </a:pPr>
            <a:r>
              <a:rPr lang="en-US" sz="800" i="1" dirty="0">
                <a:solidFill>
                  <a:srgbClr val="4A5160"/>
                </a:solidFill>
                <a:latin typeface="Carlito" pitchFamily="34" charset="0"/>
                <a:ea typeface="Carlito" pitchFamily="34" charset="-122"/>
                <a:cs typeface="Carlito" pitchFamily="34" charset="-120"/>
              </a:rPr>
              <a:t>Exponentiate (any μ that works is fine).</a:t>
            </a:r>
            <a:endParaRPr lang="en-US" sz="800" dirty="0"/>
          </a:p>
        </p:txBody>
      </p:sp>
      <p:pic>
        <p:nvPicPr>
          <p:cNvPr id="19" name="Image 5" descr="/tmp/h2p-svg-1781853763583-2y65sa.png">    </p:cNvPr>
          <p:cNvPicPr>
            <a:picLocks noChangeAspect="1"/>
          </p:cNvPicPr>
          <p:nvPr/>
        </p:nvPicPr>
        <p:blipFill>
          <a:blip r:embed="rId6"/>
          <a:stretch>
            <a:fillRect/>
          </a:stretch>
        </p:blipFill>
        <p:spPr>
          <a:xfrm>
            <a:off x="3515953" y="3705151"/>
            <a:ext cx="1110295" cy="159283"/>
          </a:xfrm>
          <a:prstGeom prst="rect">
            <a:avLst/>
          </a:prstGeom>
        </p:spPr>
      </p:pic>
      <p:sp>
        <p:nvSpPr>
          <p:cNvPr id="20" name="Text 12"/>
          <p:cNvSpPr/>
          <p:nvPr/>
        </p:nvSpPr>
        <p:spPr>
          <a:xfrm>
            <a:off x="685800" y="4004295"/>
            <a:ext cx="4766221" cy="253603"/>
          </a:xfrm>
          <a:prstGeom prst="roundRect">
            <a:avLst>
              <a:gd name="adj" fmla="val 15023"/>
            </a:avLst>
          </a:prstGeom>
          <a:solidFill>
            <a:srgbClr val="F3ECF8"/>
          </a:solidFill>
          <a:ln/>
        </p:spPr>
        <p:txBody>
          <a:bodyPr wrap="square" rtlCol="0" anchor="ctr"/>
          <a:lstStyle/>
          <a:p>
            <a:pPr indent="0" marL="0">
              <a:buNone/>
            </a:pPr>
            <a:endParaRPr lang="en-US" dirty="0"/>
          </a:p>
        </p:txBody>
      </p:sp>
      <p:sp>
        <p:nvSpPr>
          <p:cNvPr id="21" name="Shape 13"/>
          <p:cNvSpPr/>
          <p:nvPr/>
        </p:nvSpPr>
        <p:spPr>
          <a:xfrm>
            <a:off x="696516" y="4004295"/>
            <a:ext cx="0" cy="253603"/>
          </a:xfrm>
          <a:prstGeom prst="line">
            <a:avLst/>
          </a:prstGeom>
          <a:noFill/>
          <a:ln w="21431">
            <a:solidFill>
              <a:srgbClr val="6B2FA0"/>
            </a:solidFill>
            <a:prstDash val="solid"/>
          </a:ln>
        </p:spPr>
      </p:sp>
      <p:sp>
        <p:nvSpPr>
          <p:cNvPr id="22" name="Text 14"/>
          <p:cNvSpPr/>
          <p:nvPr/>
        </p:nvSpPr>
        <p:spPr>
          <a:xfrm>
            <a:off x="685800" y="4004295"/>
            <a:ext cx="4766221" cy="299642"/>
          </a:xfrm>
          <a:prstGeom prst="rect">
            <a:avLst/>
          </a:prstGeom>
          <a:noFill/>
          <a:ln/>
        </p:spPr>
        <p:txBody>
          <a:bodyPr wrap="square" lIns="85725" tIns="57150" rIns="85725" bIns="57150" rtlCol="0" anchor="t"/>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With this μ, the ODE becomes d/dx[μ·y] = μ·Q — requiring only one integration to solve.</a:t>
            </a:r>
            <a:endParaRPr lang="en-US" sz="800" dirty="0"/>
          </a:p>
        </p:txBody>
      </p:sp>
      <p:sp>
        <p:nvSpPr>
          <p:cNvPr id="23" name="Text 15"/>
          <p:cNvSpPr/>
          <p:nvPr/>
        </p:nvSpPr>
        <p:spPr>
          <a:xfrm>
            <a:off x="5637758" y="1256854"/>
            <a:ext cx="3177518" cy="3001045"/>
          </a:xfrm>
          <a:prstGeom prst="roundRect">
            <a:avLst>
              <a:gd name="adj" fmla="val 1270"/>
            </a:avLst>
          </a:prstGeom>
          <a:solidFill>
            <a:srgbClr val="F6F7FB"/>
          </a:solidFill>
          <a:ln/>
        </p:spPr>
        <p:txBody>
          <a:bodyPr wrap="square" rtlCol="0" anchor="ctr"/>
          <a:lstStyle/>
          <a:p>
            <a:pPr indent="0" marL="0">
              <a:buNone/>
            </a:pPr>
            <a:endParaRPr lang="en-US" dirty="0"/>
          </a:p>
        </p:txBody>
      </p:sp>
      <p:sp>
        <p:nvSpPr>
          <p:cNvPr id="24" name="Shape 16"/>
          <p:cNvSpPr/>
          <p:nvPr/>
        </p:nvSpPr>
        <p:spPr>
          <a:xfrm>
            <a:off x="5652046" y="1256854"/>
            <a:ext cx="0" cy="3001045"/>
          </a:xfrm>
          <a:prstGeom prst="line">
            <a:avLst/>
          </a:prstGeom>
          <a:noFill/>
          <a:ln w="28575">
            <a:solidFill>
              <a:srgbClr val="1F61C9"/>
            </a:solidFill>
            <a:prstDash val="solid"/>
          </a:ln>
        </p:spPr>
      </p:sp>
      <p:sp>
        <p:nvSpPr>
          <p:cNvPr id="25" name="Text 17"/>
          <p:cNvSpPr/>
          <p:nvPr/>
        </p:nvSpPr>
        <p:spPr>
          <a:xfrm>
            <a:off x="5794921" y="1371154"/>
            <a:ext cx="2891768" cy="149376"/>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KEY INSIGHT</a:t>
            </a:r>
            <a:endParaRPr lang="en-US" sz="800" dirty="0"/>
          </a:p>
        </p:txBody>
      </p:sp>
      <p:sp>
        <p:nvSpPr>
          <p:cNvPr id="26" name="Text 18"/>
          <p:cNvSpPr/>
          <p:nvPr/>
        </p:nvSpPr>
        <p:spPr>
          <a:xfrm>
            <a:off x="5794921" y="1547961"/>
            <a:ext cx="2891768" cy="570411"/>
          </a:xfrm>
          <a:prstGeom prst="rect">
            <a:avLst/>
          </a:prstGeom>
          <a:noFill/>
          <a:ln/>
        </p:spPr>
        <p:txBody>
          <a:bodyPr wrap="square" lIns="0" tIns="0" rIns="0" bIns="0" rtlCol="0" anchor="t">
            <a:normAutofit/>
          </a:bodyPr>
          <a:lstStyle/>
          <a:p>
            <a:pPr algn="l" indent="0" marL="0">
              <a:lnSpc>
                <a:spcPts val="1177"/>
              </a:lnSpc>
              <a:buNone/>
            </a:pPr>
            <a:r>
              <a:rPr lang="en-US" sz="800" i="1" dirty="0">
                <a:solidFill>
                  <a:srgbClr val="14171F"/>
                </a:solidFill>
                <a:latin typeface="Carlito" pitchFamily="34" charset="0"/>
                <a:ea typeface="Carlito" pitchFamily="34" charset="-122"/>
                <a:cs typeface="Carlito" pitchFamily="34" charset="-120"/>
              </a:rPr>
              <a:t>The integrating factor is not magic — it is the unique function that converts the left side of a linear ODE into an exact derivative. We discovered it by working backwards from the product rule.</a:t>
            </a:r>
            <a:endParaRPr lang="en-US" sz="800" dirty="0"/>
          </a:p>
        </p:txBody>
      </p:sp>
      <p:sp>
        <p:nvSpPr>
          <p:cNvPr id="27" name="Text 19"/>
          <p:cNvSpPr/>
          <p:nvPr/>
        </p:nvSpPr>
        <p:spPr>
          <a:xfrm>
            <a:off x="5794921" y="2145804"/>
            <a:ext cx="2891768" cy="149376"/>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WHY DROP THE +C?</a:t>
            </a:r>
            <a:endParaRPr lang="en-US" sz="800" dirty="0"/>
          </a:p>
        </p:txBody>
      </p:sp>
      <p:sp>
        <p:nvSpPr>
          <p:cNvPr id="28" name="Text 20"/>
          <p:cNvSpPr/>
          <p:nvPr/>
        </p:nvSpPr>
        <p:spPr>
          <a:xfrm>
            <a:off x="5794921" y="2322612"/>
            <a:ext cx="2891768" cy="680212"/>
          </a:xfrm>
          <a:prstGeom prst="rect">
            <a:avLst/>
          </a:prstGeom>
          <a:noFill/>
          <a:ln/>
        </p:spPr>
        <p:txBody>
          <a:bodyPr wrap="square" lIns="0" tIns="0" rIns="0" bIns="0" rtlCol="0" anchor="t"/>
          <a:lstStyle/>
          <a:p>
            <a:pPr algn="l" indent="0" marL="0">
              <a:lnSpc>
                <a:spcPts val="1177"/>
              </a:lnSpc>
              <a:buNone/>
            </a:pPr>
            <a:r>
              <a:rPr lang="en-US" sz="800" dirty="0">
                <a:solidFill>
                  <a:srgbClr val="14171F"/>
                </a:solidFill>
                <a:latin typeface="Carlito" pitchFamily="34" charset="0"/>
                <a:ea typeface="Carlito" pitchFamily="34" charset="-122"/>
                <a:cs typeface="Carlito" pitchFamily="34" charset="-120"/>
              </a:rPr>
              <a:t>The constant of integration in ln|μ| produces a multiplicative constant in μ. Since μ multiplies BOTH sides of the ODE, any constant factor cancels. We choose C = 0 for simplicity.</a:t>
            </a:r>
            <a:endParaRPr lang="en-US" sz="800" dirty="0"/>
          </a:p>
        </p:txBody>
      </p:sp>
      <p:sp>
        <p:nvSpPr>
          <p:cNvPr id="29" name="Text 2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15 / 38</a:t>
            </a:r>
            <a:endParaRPr lang="en-US" sz="800" dirty="0"/>
          </a:p>
        </p:txBody>
      </p:sp>
      <p:pic>
        <p:nvPicPr>
          <p:cNvPr id="30"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16161"/>
            <a:ext cx="8458200" cy="233315"/>
          </a:xfrm>
          <a:prstGeom prst="rect">
            <a:avLst/>
          </a:prstGeom>
          <a:noFill/>
          <a:ln/>
        </p:spPr>
        <p:txBody>
          <a:bodyPr wrap="square" lIns="0" tIns="0" rIns="0" bIns="0" rtlCol="0" anchor="t">
            <a:normAutofit/>
          </a:bodyPr>
          <a:lstStyle/>
          <a:p>
            <a:pPr algn="l" indent="0" marL="0">
              <a:lnSpc>
                <a:spcPts val="1941"/>
              </a:lnSpc>
              <a:buNone/>
            </a:pPr>
            <a:r>
              <a:rPr lang="en-US" sz="1688" b="1" spc="-20" kern="0" dirty="0">
                <a:solidFill>
                  <a:srgbClr val="1A2A4F"/>
                </a:solidFill>
                <a:latin typeface="Liberation Sans Narrow" pitchFamily="34" charset="0"/>
                <a:ea typeface="Liberation Sans Narrow" pitchFamily="34" charset="-122"/>
                <a:cs typeface="Liberation Sans Narrow" pitchFamily="34" charset="-120"/>
              </a:rPr>
              <a:t>Linear ODE — Worked Example 1</a:t>
            </a:r>
            <a:endParaRPr lang="en-US" sz="1688" dirty="0"/>
          </a:p>
        </p:txBody>
      </p:sp>
      <p:sp>
        <p:nvSpPr>
          <p:cNvPr id="4" name="Text 2"/>
          <p:cNvSpPr/>
          <p:nvPr/>
        </p:nvSpPr>
        <p:spPr>
          <a:xfrm>
            <a:off x="685800" y="976908"/>
            <a:ext cx="8458200" cy="208312"/>
          </a:xfrm>
          <a:prstGeom prst="rect">
            <a:avLst/>
          </a:prstGeom>
          <a:noFill/>
          <a:ln/>
        </p:spPr>
        <p:txBody>
          <a:bodyPr wrap="square" lIns="0" tIns="0" rIns="0" bIns="0" rtlCol="0" anchor="t"/>
          <a:lstStyle/>
          <a:p>
            <a:pPr algn="l" indent="0" marL="0">
              <a:lnSpc>
                <a:spcPts val="1519"/>
              </a:lnSpc>
              <a:buNone/>
            </a:pPr>
            <a:r>
              <a:rPr lang="en-US" sz="1013" i="1" dirty="0">
                <a:solidFill>
                  <a:srgbClr val="1F61C9"/>
                </a:solidFill>
                <a:latin typeface="Tinos" pitchFamily="34" charset="0"/>
                <a:ea typeface="Tinos" pitchFamily="34" charset="-122"/>
                <a:cs typeface="Tinos" pitchFamily="34" charset="-120"/>
              </a:rPr>
              <a:t>Manufacturing the Product Rule</a:t>
            </a:r>
            <a:endParaRPr lang="en-US" sz="1013" dirty="0"/>
          </a:p>
        </p:txBody>
      </p:sp>
      <p:sp>
        <p:nvSpPr>
          <p:cNvPr id="5" name="Text 3"/>
          <p:cNvSpPr/>
          <p:nvPr/>
        </p:nvSpPr>
        <p:spPr>
          <a:xfrm>
            <a:off x="685800" y="1241227"/>
            <a:ext cx="7943850" cy="568486"/>
          </a:xfrm>
          <a:prstGeom prst="roundRect">
            <a:avLst>
              <a:gd name="adj" fmla="val 6702"/>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241227"/>
            <a:ext cx="0" cy="568486"/>
          </a:xfrm>
          <a:prstGeom prst="line">
            <a:avLst/>
          </a:prstGeom>
          <a:noFill/>
          <a:ln w="28575">
            <a:solidFill>
              <a:srgbClr val="1F61C9"/>
            </a:solidFill>
            <a:prstDash val="solid"/>
          </a:ln>
        </p:spPr>
      </p:sp>
      <p:sp>
        <p:nvSpPr>
          <p:cNvPr id="7" name="Text 5"/>
          <p:cNvSpPr/>
          <p:nvPr/>
        </p:nvSpPr>
        <p:spPr>
          <a:xfrm>
            <a:off x="814388" y="1298377"/>
            <a:ext cx="7824978" cy="126159"/>
          </a:xfrm>
          <a:prstGeom prst="rect">
            <a:avLst/>
          </a:prstGeom>
          <a:noFill/>
          <a:ln/>
        </p:spPr>
        <p:txBody>
          <a:bodyPr wrap="square" lIns="0" tIns="0" rIns="0" bIns="0" rtlCol="0" anchor="t">
            <a:normAutofit/>
          </a:bodyPr>
          <a:lstStyle/>
          <a:p>
            <a:pPr algn="l" indent="0" marL="0">
              <a:lnSpc>
                <a:spcPts val="1097"/>
              </a:lnSpc>
              <a:buNone/>
            </a:pPr>
            <a:r>
              <a:rPr lang="en-US" sz="800" b="1" spc="29" kern="0" dirty="0">
                <a:solidFill>
                  <a:srgbClr val="1A2A4F"/>
                </a:solidFill>
                <a:latin typeface="Carlito" pitchFamily="34" charset="0"/>
                <a:ea typeface="Carlito" pitchFamily="34" charset="-122"/>
                <a:cs typeface="Carlito" pitchFamily="34" charset="-120"/>
              </a:rPr>
              <a:t>SOLVE THE INITIAL VALUE PROBLEM:</a:t>
            </a:r>
            <a:endParaRPr lang="en-US" sz="800" dirty="0"/>
          </a:p>
        </p:txBody>
      </p:sp>
      <p:pic>
        <p:nvPicPr>
          <p:cNvPr id="8" name="Image 0" descr="/tmp/h2p-svg-1781853763825-qnsevm.png">    </p:cNvPr>
          <p:cNvPicPr>
            <a:picLocks noChangeAspect="1"/>
          </p:cNvPicPr>
          <p:nvPr/>
        </p:nvPicPr>
        <p:blipFill>
          <a:blip r:embed="rId1"/>
          <a:stretch>
            <a:fillRect/>
          </a:stretch>
        </p:blipFill>
        <p:spPr>
          <a:xfrm>
            <a:off x="3784290" y="1451967"/>
            <a:ext cx="1775333" cy="300596"/>
          </a:xfrm>
          <a:prstGeom prst="rect">
            <a:avLst/>
          </a:prstGeom>
        </p:spPr>
      </p:pic>
      <p:sp>
        <p:nvSpPr>
          <p:cNvPr id="9" name="Text 6"/>
          <p:cNvSpPr/>
          <p:nvPr/>
        </p:nvSpPr>
        <p:spPr>
          <a:xfrm>
            <a:off x="685800" y="1909725"/>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1</a:t>
            </a:r>
            <a:endParaRPr lang="en-US" sz="800" dirty="0"/>
          </a:p>
        </p:txBody>
      </p:sp>
      <p:sp>
        <p:nvSpPr>
          <p:cNvPr id="10" name="Text 7"/>
          <p:cNvSpPr/>
          <p:nvPr/>
        </p:nvSpPr>
        <p:spPr>
          <a:xfrm>
            <a:off x="685800" y="1909725"/>
            <a:ext cx="1610246"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Standard form (divide by x): identify P(x) and Q(x)</a:t>
            </a:r>
            <a:endParaRPr lang="en-US" sz="800" dirty="0"/>
          </a:p>
        </p:txBody>
      </p:sp>
      <p:pic>
        <p:nvPicPr>
          <p:cNvPr id="11" name="Image 1" descr="/tmp/h2p-svg-1781853763825-ak59up.png">    </p:cNvPr>
          <p:cNvPicPr>
            <a:picLocks noChangeAspect="1"/>
          </p:cNvPicPr>
          <p:nvPr/>
        </p:nvPicPr>
        <p:blipFill>
          <a:blip r:embed="rId2"/>
          <a:stretch>
            <a:fillRect/>
          </a:stretch>
        </p:blipFill>
        <p:spPr>
          <a:xfrm>
            <a:off x="4021150" y="1881150"/>
            <a:ext cx="3030513" cy="300596"/>
          </a:xfrm>
          <a:prstGeom prst="rect">
            <a:avLst/>
          </a:prstGeom>
        </p:spPr>
      </p:pic>
      <p:sp>
        <p:nvSpPr>
          <p:cNvPr id="12" name="Text 8"/>
          <p:cNvSpPr/>
          <p:nvPr/>
        </p:nvSpPr>
        <p:spPr>
          <a:xfrm>
            <a:off x="685800" y="2267471"/>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2</a:t>
            </a:r>
            <a:endParaRPr lang="en-US" sz="800" dirty="0"/>
          </a:p>
        </p:txBody>
      </p:sp>
      <p:sp>
        <p:nvSpPr>
          <p:cNvPr id="13" name="Text 9"/>
          <p:cNvSpPr/>
          <p:nvPr/>
        </p:nvSpPr>
        <p:spPr>
          <a:xfrm>
            <a:off x="685800" y="2267471"/>
            <a:ext cx="1546303"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Compute the integrating factor μ(x)</a:t>
            </a:r>
            <a:endParaRPr lang="en-US" sz="800" dirty="0"/>
          </a:p>
        </p:txBody>
      </p:sp>
      <p:pic>
        <p:nvPicPr>
          <p:cNvPr id="14" name="Image 2" descr="/tmp/h2p-svg-1781853763825-9sxf0w.png">    </p:cNvPr>
          <p:cNvPicPr>
            <a:picLocks noChangeAspect="1"/>
          </p:cNvPicPr>
          <p:nvPr/>
        </p:nvPicPr>
        <p:blipFill>
          <a:blip r:embed="rId3"/>
          <a:stretch>
            <a:fillRect/>
          </a:stretch>
        </p:blipFill>
        <p:spPr>
          <a:xfrm>
            <a:off x="4383025" y="2238896"/>
            <a:ext cx="2306650" cy="185403"/>
          </a:xfrm>
          <a:prstGeom prst="rect">
            <a:avLst/>
          </a:prstGeom>
        </p:spPr>
      </p:pic>
      <p:sp>
        <p:nvSpPr>
          <p:cNvPr id="15" name="Text 10"/>
          <p:cNvSpPr/>
          <p:nvPr/>
        </p:nvSpPr>
        <p:spPr>
          <a:xfrm>
            <a:off x="685800" y="2570187"/>
            <a:ext cx="769940"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STEPS 3 &amp; 4</a:t>
            </a:r>
            <a:endParaRPr lang="en-US" sz="800" dirty="0"/>
          </a:p>
        </p:txBody>
      </p:sp>
      <p:sp>
        <p:nvSpPr>
          <p:cNvPr id="16" name="Text 11"/>
          <p:cNvSpPr/>
          <p:nvPr/>
        </p:nvSpPr>
        <p:spPr>
          <a:xfrm>
            <a:off x="685800" y="2570187"/>
            <a:ext cx="1511635" cy="424053"/>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Multiply by μ and collapse the left side as a perfect derivative</a:t>
            </a:r>
            <a:endParaRPr lang="en-US" sz="800" dirty="0"/>
          </a:p>
        </p:txBody>
      </p:sp>
      <p:pic>
        <p:nvPicPr>
          <p:cNvPr id="17" name="Image 3" descr="/tmp/h2p-svg-1781853763825-kro9ma.png">    </p:cNvPr>
          <p:cNvPicPr>
            <a:picLocks noChangeAspect="1"/>
          </p:cNvPicPr>
          <p:nvPr/>
        </p:nvPicPr>
        <p:blipFill>
          <a:blip r:embed="rId4"/>
          <a:stretch>
            <a:fillRect/>
          </a:stretch>
        </p:blipFill>
        <p:spPr>
          <a:xfrm>
            <a:off x="3813646" y="2541612"/>
            <a:ext cx="3445520" cy="300596"/>
          </a:xfrm>
          <a:prstGeom prst="rect">
            <a:avLst/>
          </a:prstGeom>
        </p:spPr>
      </p:pic>
      <p:sp>
        <p:nvSpPr>
          <p:cNvPr id="18" name="Text 12"/>
          <p:cNvSpPr/>
          <p:nvPr/>
        </p:nvSpPr>
        <p:spPr>
          <a:xfrm>
            <a:off x="685800" y="2988543"/>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5</a:t>
            </a:r>
            <a:endParaRPr lang="en-US" sz="800" dirty="0"/>
          </a:p>
        </p:txBody>
      </p:sp>
      <p:sp>
        <p:nvSpPr>
          <p:cNvPr id="19" name="Text 13"/>
          <p:cNvSpPr/>
          <p:nvPr/>
        </p:nvSpPr>
        <p:spPr>
          <a:xfrm>
            <a:off x="685800" y="2988543"/>
            <a:ext cx="1561329"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Integrate both sides with respect to x</a:t>
            </a:r>
            <a:endParaRPr lang="en-US" sz="800" dirty="0"/>
          </a:p>
        </p:txBody>
      </p:sp>
      <p:pic>
        <p:nvPicPr>
          <p:cNvPr id="20" name="Image 4" descr="/tmp/h2p-svg-1781853763825-tyc08e.png">    </p:cNvPr>
          <p:cNvPicPr>
            <a:picLocks noChangeAspect="1"/>
          </p:cNvPicPr>
          <p:nvPr/>
        </p:nvPicPr>
        <p:blipFill>
          <a:blip r:embed="rId5"/>
          <a:stretch>
            <a:fillRect/>
          </a:stretch>
        </p:blipFill>
        <p:spPr>
          <a:xfrm>
            <a:off x="4281115" y="2959968"/>
            <a:ext cx="2510582" cy="344798"/>
          </a:xfrm>
          <a:prstGeom prst="rect">
            <a:avLst/>
          </a:prstGeom>
        </p:spPr>
      </p:pic>
      <p:sp>
        <p:nvSpPr>
          <p:cNvPr id="21" name="Shape 14"/>
          <p:cNvSpPr/>
          <p:nvPr/>
        </p:nvSpPr>
        <p:spPr>
          <a:xfrm>
            <a:off x="685800" y="3379775"/>
            <a:ext cx="7943850" cy="0"/>
          </a:xfrm>
          <a:prstGeom prst="line">
            <a:avLst/>
          </a:prstGeom>
          <a:noFill/>
          <a:ln w="7144">
            <a:solidFill>
              <a:srgbClr val="E3E6EE"/>
            </a:solidFill>
            <a:prstDash val="dash"/>
          </a:ln>
        </p:spPr>
      </p:sp>
      <p:sp>
        <p:nvSpPr>
          <p:cNvPr id="22" name="Text 15"/>
          <p:cNvSpPr/>
          <p:nvPr/>
        </p:nvSpPr>
        <p:spPr>
          <a:xfrm>
            <a:off x="685800" y="3376203"/>
            <a:ext cx="7943850" cy="223676"/>
          </a:xfrm>
          <a:prstGeom prst="rect">
            <a:avLst/>
          </a:prstGeom>
          <a:noFill/>
          <a:ln/>
        </p:spPr>
        <p:txBody>
          <a:bodyPr wrap="square" lIns="0" tIns="42863" rIns="0" bIns="0" rtlCol="0" anchor="t"/>
          <a:lstStyle/>
          <a:p>
            <a:pPr algn="ctr" indent="0" marL="0">
              <a:lnSpc>
                <a:spcPts val="1097"/>
              </a:lnSpc>
              <a:buNone/>
            </a:pPr>
            <a:r>
              <a:rPr lang="en-US" sz="800" i="1" dirty="0">
                <a:solidFill>
                  <a:srgbClr val="4A5160"/>
                </a:solidFill>
                <a:latin typeface="Tinos" pitchFamily="34" charset="0"/>
                <a:ea typeface="Tinos" pitchFamily="34" charset="-122"/>
                <a:cs typeface="Tinos" pitchFamily="34" charset="-120"/>
              </a:rPr>
              <a:t>Continued on next slide — solve for y, apply the IVP, and verify by back-substitution.</a:t>
            </a:r>
            <a:endParaRPr lang="en-US" sz="800" dirty="0"/>
          </a:p>
        </p:txBody>
      </p:sp>
      <p:sp>
        <p:nvSpPr>
          <p:cNvPr id="23" name="Text 16"/>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16 / 38</a:t>
            </a:r>
            <a:endParaRPr lang="en-US" sz="800" dirty="0"/>
          </a:p>
        </p:txBody>
      </p:sp>
      <p:pic>
        <p:nvPicPr>
          <p:cNvPr id="24" name="Image 5" descr="preencoded.png">    </p:cNvPr>
          <p:cNvPicPr>
            <a:picLocks noChangeAspect="1"/>
          </p:cNvPicPr>
          <p:nvPr/>
        </p:nvPicPr>
        <p:blipFill>
          <a:blip r:embed="rId6"/>
          <a:stretch>
            <a:fillRect/>
          </a:stretch>
        </p:blipFill>
        <p:spPr>
          <a:xfrm>
            <a:off x="0" y="0"/>
            <a:ext cx="17145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25950"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VERIFICATION</a:t>
            </a:r>
            <a:endParaRPr lang="en-US" sz="844" dirty="0"/>
          </a:p>
        </p:txBody>
      </p:sp>
      <p:sp>
        <p:nvSpPr>
          <p:cNvPr id="3" name="Text 1"/>
          <p:cNvSpPr/>
          <p:nvPr/>
        </p:nvSpPr>
        <p:spPr>
          <a:xfrm>
            <a:off x="685800" y="701873"/>
            <a:ext cx="8458200" cy="247602"/>
          </a:xfrm>
          <a:prstGeom prst="rect">
            <a:avLst/>
          </a:prstGeom>
          <a:noFill/>
          <a:ln/>
        </p:spPr>
        <p:txBody>
          <a:bodyPr wrap="square" lIns="0" tIns="0" rIns="0" bIns="0" rtlCol="0" anchor="t">
            <a:normAutofit/>
          </a:bodyPr>
          <a:lstStyle/>
          <a:p>
            <a:pPr algn="l" indent="0" marL="0">
              <a:lnSpc>
                <a:spcPts val="1941"/>
              </a:lnSpc>
              <a:buNone/>
            </a:pPr>
            <a:r>
              <a:rPr lang="en-US" sz="1688" b="1" spc="-20" kern="0" dirty="0">
                <a:solidFill>
                  <a:srgbClr val="1A2A4F"/>
                </a:solidFill>
                <a:latin typeface="Carlito" pitchFamily="34" charset="0"/>
                <a:ea typeface="Carlito" pitchFamily="34" charset="-122"/>
                <a:cs typeface="Carlito" pitchFamily="34" charset="-120"/>
              </a:rPr>
              <a:t>Linear ODE — Completion &amp; Control of Error</a:t>
            </a:r>
            <a:endParaRPr lang="en-US" sz="1688" dirty="0"/>
          </a:p>
        </p:txBody>
      </p:sp>
      <p:sp>
        <p:nvSpPr>
          <p:cNvPr id="4" name="Text 2"/>
          <p:cNvSpPr/>
          <p:nvPr/>
        </p:nvSpPr>
        <p:spPr>
          <a:xfrm>
            <a:off x="685800" y="976908"/>
            <a:ext cx="8458200" cy="208312"/>
          </a:xfrm>
          <a:prstGeom prst="rect">
            <a:avLst/>
          </a:prstGeom>
          <a:noFill/>
          <a:ln/>
        </p:spPr>
        <p:txBody>
          <a:bodyPr wrap="none" lIns="0" tIns="0" rIns="0" bIns="0" rtlCol="0" anchor="t"/>
          <a:lstStyle/>
          <a:p>
            <a:pPr algn="l" indent="0" marL="0">
              <a:lnSpc>
                <a:spcPts val="1519"/>
              </a:lnSpc>
              <a:buNone/>
            </a:pPr>
            <a:r>
              <a:rPr lang="en-US" sz="1013" i="1" spc="-5" kern="0" dirty="0">
                <a:solidFill>
                  <a:srgbClr val="1F61C9"/>
                </a:solidFill>
                <a:latin typeface="Carlito" pitchFamily="34" charset="0"/>
                <a:ea typeface="Carlito" pitchFamily="34" charset="-122"/>
                <a:cs typeface="Carlito" pitchFamily="34" charset="-120"/>
              </a:rPr>
              <a:t>The Auto-Education Check</a:t>
            </a:r>
            <a:endParaRPr lang="en-US" sz="1013" dirty="0"/>
          </a:p>
        </p:txBody>
      </p:sp>
      <p:sp>
        <p:nvSpPr>
          <p:cNvPr id="5" name="Text 3"/>
          <p:cNvSpPr/>
          <p:nvPr/>
        </p:nvSpPr>
        <p:spPr>
          <a:xfrm>
            <a:off x="685800" y="1269802"/>
            <a:ext cx="7943850" cy="1190551"/>
          </a:xfrm>
          <a:prstGeom prst="roundRect">
            <a:avLst>
              <a:gd name="adj" fmla="val 3200"/>
            </a:avLst>
          </a:prstGeom>
          <a:solidFill>
            <a:srgbClr val="F3ECF8"/>
          </a:solidFill>
          <a:ln/>
        </p:spPr>
        <p:txBody>
          <a:bodyPr wrap="square" rtlCol="0" anchor="ctr"/>
          <a:lstStyle/>
          <a:p>
            <a:pPr indent="0" marL="0">
              <a:buNone/>
            </a:pPr>
            <a:endParaRPr lang="en-US" dirty="0"/>
          </a:p>
        </p:txBody>
      </p:sp>
      <p:sp>
        <p:nvSpPr>
          <p:cNvPr id="6" name="Shape 4"/>
          <p:cNvSpPr/>
          <p:nvPr/>
        </p:nvSpPr>
        <p:spPr>
          <a:xfrm>
            <a:off x="700088" y="1269802"/>
            <a:ext cx="0" cy="1190551"/>
          </a:xfrm>
          <a:prstGeom prst="line">
            <a:avLst/>
          </a:prstGeom>
          <a:noFill/>
          <a:ln w="28575">
            <a:solidFill>
              <a:srgbClr val="6B2FA0"/>
            </a:solidFill>
            <a:prstDash val="solid"/>
          </a:ln>
        </p:spPr>
      </p:sp>
      <p:sp>
        <p:nvSpPr>
          <p:cNvPr id="7" name="Text 5"/>
          <p:cNvSpPr/>
          <p:nvPr/>
        </p:nvSpPr>
        <p:spPr>
          <a:xfrm>
            <a:off x="842963" y="1341239"/>
            <a:ext cx="7767828" cy="176969"/>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STEP 6 — SOLVE FOR Y AND APPLY IVP:</a:t>
            </a:r>
            <a:endParaRPr lang="en-US" sz="844" dirty="0"/>
          </a:p>
        </p:txBody>
      </p:sp>
      <p:pic>
        <p:nvPicPr>
          <p:cNvPr id="8" name="Image 0" descr="/tmp/h2p-svg-1781853764210-jrdver.png">    </p:cNvPr>
          <p:cNvPicPr>
            <a:picLocks noChangeAspect="1"/>
          </p:cNvPicPr>
          <p:nvPr/>
        </p:nvPicPr>
        <p:blipFill>
          <a:blip r:embed="rId1"/>
          <a:stretch>
            <a:fillRect/>
          </a:stretch>
        </p:blipFill>
        <p:spPr>
          <a:xfrm>
            <a:off x="4151300" y="1554547"/>
            <a:ext cx="1041313" cy="341226"/>
          </a:xfrm>
          <a:prstGeom prst="rect">
            <a:avLst/>
          </a:prstGeom>
        </p:spPr>
      </p:pic>
      <p:pic>
        <p:nvPicPr>
          <p:cNvPr id="9" name="Image 1" descr="/tmp/h2p-svg-1781853764213-wykosg.png">    </p:cNvPr>
          <p:cNvPicPr>
            <a:picLocks noChangeAspect="1"/>
          </p:cNvPicPr>
          <p:nvPr/>
        </p:nvPicPr>
        <p:blipFill>
          <a:blip r:embed="rId2"/>
          <a:stretch>
            <a:fillRect/>
          </a:stretch>
        </p:blipFill>
        <p:spPr>
          <a:xfrm>
            <a:off x="2962535" y="1945221"/>
            <a:ext cx="3418842" cy="379958"/>
          </a:xfrm>
          <a:prstGeom prst="rect">
            <a:avLst/>
          </a:prstGeom>
        </p:spPr>
      </p:pic>
      <p:sp>
        <p:nvSpPr>
          <p:cNvPr id="10" name="Text 6"/>
          <p:cNvSpPr/>
          <p:nvPr/>
        </p:nvSpPr>
        <p:spPr>
          <a:xfrm>
            <a:off x="4141477" y="2574652"/>
            <a:ext cx="1032495" cy="164592"/>
          </a:xfrm>
          <a:prstGeom prst="rect">
            <a:avLst/>
          </a:prstGeom>
          <a:noFill/>
          <a:ln/>
        </p:spPr>
        <p:txBody>
          <a:bodyPr wrap="none" lIns="16716" tIns="0" rIns="0" bIns="0" rtlCol="0" anchor="t"/>
          <a:lstStyle/>
          <a:p>
            <a:pPr algn="ctr" indent="0" marL="0">
              <a:lnSpc>
                <a:spcPts val="1097"/>
              </a:lnSpc>
              <a:buNone/>
            </a:pPr>
            <a:r>
              <a:rPr lang="en-US" sz="800" b="1" spc="146"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11" name="Text 7"/>
          <p:cNvSpPr/>
          <p:nvPr/>
        </p:nvSpPr>
        <p:spPr>
          <a:xfrm>
            <a:off x="3845458" y="2760390"/>
            <a:ext cx="1624422" cy="547390"/>
          </a:xfrm>
          <a:prstGeom prst="roundRect">
            <a:avLst>
              <a:gd name="adj" fmla="val 6960"/>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12" name="Image 2" descr="/tmp/h2p-svg-1781853764213-hiy0ag.png">    </p:cNvPr>
          <p:cNvPicPr>
            <a:picLocks noChangeAspect="1"/>
          </p:cNvPicPr>
          <p:nvPr/>
        </p:nvPicPr>
        <p:blipFill>
          <a:blip r:embed="rId3"/>
          <a:stretch>
            <a:fillRect/>
          </a:stretch>
        </p:blipFill>
        <p:spPr>
          <a:xfrm>
            <a:off x="3920468" y="2847901"/>
            <a:ext cx="1474403" cy="372368"/>
          </a:xfrm>
          <a:prstGeom prst="rect">
            <a:avLst/>
          </a:prstGeom>
        </p:spPr>
      </p:pic>
      <p:sp>
        <p:nvSpPr>
          <p:cNvPr id="13" name="Text 8"/>
          <p:cNvSpPr/>
          <p:nvPr/>
        </p:nvSpPr>
        <p:spPr>
          <a:xfrm>
            <a:off x="685800" y="3411364"/>
            <a:ext cx="7943850" cy="1675544"/>
          </a:xfrm>
          <a:prstGeom prst="roundRect">
            <a:avLst>
              <a:gd name="adj" fmla="val 2274"/>
            </a:avLst>
          </a:prstGeom>
          <a:solidFill>
            <a:srgbClr val="FCEFD9"/>
          </a:solidFill>
          <a:ln/>
        </p:spPr>
        <p:txBody>
          <a:bodyPr wrap="square" rtlCol="0" anchor="ctr"/>
          <a:lstStyle/>
          <a:p>
            <a:pPr indent="0" marL="0">
              <a:buNone/>
            </a:pPr>
            <a:endParaRPr lang="en-US" dirty="0"/>
          </a:p>
        </p:txBody>
      </p:sp>
      <p:sp>
        <p:nvSpPr>
          <p:cNvPr id="14" name="Shape 9"/>
          <p:cNvSpPr/>
          <p:nvPr/>
        </p:nvSpPr>
        <p:spPr>
          <a:xfrm>
            <a:off x="700088" y="3411364"/>
            <a:ext cx="0" cy="1675544"/>
          </a:xfrm>
          <a:prstGeom prst="line">
            <a:avLst/>
          </a:prstGeom>
          <a:noFill/>
          <a:ln w="28575">
            <a:solidFill>
              <a:srgbClr val="E07B00"/>
            </a:solidFill>
            <a:prstDash val="solid"/>
          </a:ln>
        </p:spPr>
      </p:sp>
      <p:sp>
        <p:nvSpPr>
          <p:cNvPr id="15" name="Text 10"/>
          <p:cNvSpPr/>
          <p:nvPr/>
        </p:nvSpPr>
        <p:spPr>
          <a:xfrm>
            <a:off x="846534" y="3495303"/>
            <a:ext cx="135731" cy="135731"/>
          </a:xfrm>
          <a:prstGeom prst="roundRect">
            <a:avLst>
              <a:gd name="adj" fmla="val 28070"/>
            </a:avLst>
          </a:prstGeom>
          <a:noFill/>
          <a:ln w="7144">
            <a:solidFill>
              <a:srgbClr val="E07B00"/>
            </a:solidFill>
            <a:prstDash val="solid"/>
          </a:ln>
        </p:spPr>
        <p:txBody>
          <a:bodyPr wrap="square" rtlCol="0" anchor="ctr"/>
          <a:lstStyle/>
          <a:p>
            <a:pPr indent="0" marL="0">
              <a:buNone/>
            </a:pPr>
            <a:endParaRPr lang="en-US" dirty="0"/>
          </a:p>
        </p:txBody>
      </p:sp>
      <p:sp>
        <p:nvSpPr>
          <p:cNvPr id="16" name="Text 11"/>
          <p:cNvSpPr/>
          <p:nvPr/>
        </p:nvSpPr>
        <p:spPr>
          <a:xfrm>
            <a:off x="844748" y="3493517"/>
            <a:ext cx="139303" cy="139303"/>
          </a:xfrm>
          <a:prstGeom prst="rect">
            <a:avLst/>
          </a:prstGeom>
          <a:noFill/>
          <a:ln/>
        </p:spPr>
        <p:txBody>
          <a:bodyPr wrap="none" lIns="0" tIns="0" rIns="0" bIns="0" rtlCol="0" anchor="ctr"/>
          <a:lstStyle/>
          <a:p>
            <a:pPr algn="ctr" indent="0" marL="0">
              <a:buNone/>
            </a:pPr>
            <a:r>
              <a:rPr lang="en-US" sz="800" b="1" spc="68" kern="0" dirty="0">
                <a:solidFill>
                  <a:srgbClr val="E07B00"/>
                </a:solidFill>
                <a:latin typeface="Segoe UI Symbol" pitchFamily="34" charset="0"/>
                <a:ea typeface="Segoe UI Symbol" pitchFamily="34" charset="-122"/>
                <a:cs typeface="Segoe UI Symbol" pitchFamily="34" charset="-120"/>
              </a:rPr>
              <a:t>✓</a:t>
            </a:r>
            <a:endParaRPr lang="en-US" sz="800" dirty="0"/>
          </a:p>
        </p:txBody>
      </p:sp>
      <p:sp>
        <p:nvSpPr>
          <p:cNvPr id="17" name="Text 12"/>
          <p:cNvSpPr/>
          <p:nvPr/>
        </p:nvSpPr>
        <p:spPr>
          <a:xfrm>
            <a:off x="1042988" y="3482801"/>
            <a:ext cx="7458075"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E07B00"/>
                </a:solidFill>
                <a:latin typeface="Carlito" pitchFamily="34" charset="0"/>
                <a:ea typeface="Carlito" pitchFamily="34" charset="-122"/>
                <a:cs typeface="Carlito" pitchFamily="34" charset="-120"/>
              </a:rPr>
              <a:t>CONTROL OF ERROR · MONTESSORI AUTO-EDUCATION</a:t>
            </a:r>
            <a:endParaRPr lang="en-US" sz="844" dirty="0"/>
          </a:p>
        </p:txBody>
      </p:sp>
      <p:sp>
        <p:nvSpPr>
          <p:cNvPr id="18" name="Text 13"/>
          <p:cNvSpPr/>
          <p:nvPr/>
        </p:nvSpPr>
        <p:spPr>
          <a:xfrm>
            <a:off x="842963" y="3672111"/>
            <a:ext cx="7658100" cy="161208"/>
          </a:xfrm>
          <a:prstGeom prst="rect">
            <a:avLst/>
          </a:prstGeom>
          <a:noFill/>
          <a:ln/>
        </p:spPr>
        <p:txBody>
          <a:bodyPr wrap="square" lIns="0" tIns="0" rIns="0" bIns="0" rtlCol="0" anchor="t">
            <a:normAutofit/>
          </a:bodyPr>
          <a:lstStyle/>
          <a:p>
            <a:pPr algn="l" indent="0" marL="0">
              <a:lnSpc>
                <a:spcPts val="1097"/>
              </a:lnSpc>
              <a:buNone/>
            </a:pPr>
            <a:r>
              <a:rPr lang="en-US" sz="800" i="1" dirty="0">
                <a:solidFill>
                  <a:srgbClr val="4A5160"/>
                </a:solidFill>
                <a:latin typeface="Carlito" pitchFamily="34" charset="0"/>
                <a:ea typeface="Carlito" pitchFamily="34" charset="-122"/>
                <a:cs typeface="Carlito" pitchFamily="34" charset="-120"/>
              </a:rPr>
              <a:t>Never trust an unverified algebraic manipulation. Substitute y and y′ back into the original ODE:</a:t>
            </a:r>
            <a:endParaRPr lang="en-US" sz="800" dirty="0"/>
          </a:p>
        </p:txBody>
      </p:sp>
      <p:pic>
        <p:nvPicPr>
          <p:cNvPr id="19" name="Image 3" descr="/tmp/h2p-svg-1781853764213-7mlr4e.png">    </p:cNvPr>
          <p:cNvPicPr>
            <a:picLocks noChangeAspect="1"/>
          </p:cNvPicPr>
          <p:nvPr/>
        </p:nvPicPr>
        <p:blipFill>
          <a:blip r:embed="rId4"/>
          <a:stretch>
            <a:fillRect/>
          </a:stretch>
        </p:blipFill>
        <p:spPr>
          <a:xfrm>
            <a:off x="4146835" y="3860750"/>
            <a:ext cx="1050243" cy="302940"/>
          </a:xfrm>
          <a:prstGeom prst="rect">
            <a:avLst/>
          </a:prstGeom>
        </p:spPr>
      </p:pic>
      <p:pic>
        <p:nvPicPr>
          <p:cNvPr id="20" name="Image 4" descr="/tmp/h2p-svg-1781853764213-bomu9u.png">    </p:cNvPr>
          <p:cNvPicPr>
            <a:picLocks noChangeAspect="1"/>
          </p:cNvPicPr>
          <p:nvPr/>
        </p:nvPicPr>
        <p:blipFill>
          <a:blip r:embed="rId5"/>
          <a:stretch>
            <a:fillRect/>
          </a:stretch>
        </p:blipFill>
        <p:spPr>
          <a:xfrm>
            <a:off x="3315370" y="4210236"/>
            <a:ext cx="2713174" cy="348928"/>
          </a:xfrm>
          <a:prstGeom prst="rect">
            <a:avLst/>
          </a:prstGeom>
        </p:spPr>
      </p:pic>
      <p:pic>
        <p:nvPicPr>
          <p:cNvPr id="21" name="Image 5" descr="/tmp/h2p-svg-1781853764214-rxb2tb.png">    </p:cNvPr>
          <p:cNvPicPr>
            <a:picLocks noChangeAspect="1"/>
          </p:cNvPicPr>
          <p:nvPr/>
        </p:nvPicPr>
        <p:blipFill>
          <a:blip r:embed="rId6"/>
          <a:stretch>
            <a:fillRect/>
          </a:stretch>
        </p:blipFill>
        <p:spPr>
          <a:xfrm>
            <a:off x="3009193" y="4605710"/>
            <a:ext cx="3325639" cy="348928"/>
          </a:xfrm>
          <a:prstGeom prst="rect">
            <a:avLst/>
          </a:prstGeom>
        </p:spPr>
      </p:pic>
      <p:sp>
        <p:nvSpPr>
          <p:cNvPr id="22" name="Text 14"/>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17 / 38</a:t>
            </a:r>
            <a:endParaRPr lang="en-US" sz="800" dirty="0"/>
          </a:p>
        </p:txBody>
      </p:sp>
      <p:pic>
        <p:nvPicPr>
          <p:cNvPr id="23"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01873"/>
            <a:ext cx="8458200" cy="183978"/>
          </a:xfrm>
          <a:prstGeom prst="rect">
            <a:avLst/>
          </a:prstGeom>
          <a:noFill/>
          <a:ln/>
        </p:spPr>
        <p:txBody>
          <a:bodyPr wrap="square" lIns="0" tIns="0" rIns="0" bIns="0" rtlCol="0" anchor="t">
            <a:normAutofit/>
          </a:bodyPr>
          <a:lstStyle/>
          <a:p>
            <a:pPr algn="l" indent="0" marL="0">
              <a:lnSpc>
                <a:spcPts val="1609"/>
              </a:lnSpc>
              <a:buNone/>
            </a:pPr>
            <a:r>
              <a:rPr lang="en-US" sz="1463" b="1" spc="-18" kern="0" dirty="0">
                <a:solidFill>
                  <a:srgbClr val="1A2A4F"/>
                </a:solidFill>
                <a:latin typeface="Liberation Sans Narrow" pitchFamily="34" charset="0"/>
                <a:ea typeface="Liberation Sans Narrow" pitchFamily="34" charset="-122"/>
                <a:cs typeface="Liberation Sans Narrow" pitchFamily="34" charset="-120"/>
              </a:rPr>
              <a:t>Linear ODE — Worked Example 2</a:t>
            </a:r>
            <a:endParaRPr lang="en-US" sz="1463" dirty="0"/>
          </a:p>
        </p:txBody>
      </p:sp>
      <p:sp>
        <p:nvSpPr>
          <p:cNvPr id="4" name="Text 2"/>
          <p:cNvSpPr/>
          <p:nvPr/>
        </p:nvSpPr>
        <p:spPr>
          <a:xfrm>
            <a:off x="685800" y="913284"/>
            <a:ext cx="8458200" cy="173593"/>
          </a:xfrm>
          <a:prstGeom prst="rect">
            <a:avLst/>
          </a:prstGeom>
          <a:noFill/>
          <a:ln/>
        </p:spPr>
        <p:txBody>
          <a:bodyPr wrap="none" lIns="0" tIns="0" rIns="0" bIns="0" rtlCol="0" anchor="t"/>
          <a:lstStyle/>
          <a:p>
            <a:pPr algn="l" indent="0" marL="0">
              <a:lnSpc>
                <a:spcPts val="1266"/>
              </a:lnSpc>
              <a:buNone/>
            </a:pPr>
            <a:r>
              <a:rPr lang="en-US" sz="844" i="1" spc="-4" kern="0" dirty="0">
                <a:solidFill>
                  <a:srgbClr val="1F61C9"/>
                </a:solidFill>
                <a:latin typeface="Carlito" pitchFamily="34" charset="0"/>
                <a:ea typeface="Carlito" pitchFamily="34" charset="-122"/>
                <a:cs typeface="Carlito" pitchFamily="34" charset="-120"/>
              </a:rPr>
              <a:t>An RL Circuit</a:t>
            </a:r>
            <a:endParaRPr lang="en-US" sz="844" dirty="0"/>
          </a:p>
        </p:txBody>
      </p:sp>
      <p:sp>
        <p:nvSpPr>
          <p:cNvPr id="5" name="Text 3"/>
          <p:cNvSpPr/>
          <p:nvPr/>
        </p:nvSpPr>
        <p:spPr>
          <a:xfrm>
            <a:off x="685800" y="1116881"/>
            <a:ext cx="7943850" cy="988516"/>
          </a:xfrm>
          <a:prstGeom prst="roundRect">
            <a:avLst>
              <a:gd name="adj" fmla="val 3854"/>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16881"/>
            <a:ext cx="0" cy="988516"/>
          </a:xfrm>
          <a:prstGeom prst="line">
            <a:avLst/>
          </a:prstGeom>
          <a:noFill/>
          <a:ln w="28575">
            <a:solidFill>
              <a:srgbClr val="1F61C9"/>
            </a:solidFill>
            <a:prstDash val="solid"/>
          </a:ln>
        </p:spPr>
      </p:sp>
      <p:sp>
        <p:nvSpPr>
          <p:cNvPr id="7" name="Text 5"/>
          <p:cNvSpPr/>
          <p:nvPr/>
        </p:nvSpPr>
        <p:spPr>
          <a:xfrm>
            <a:off x="828675" y="1152599"/>
            <a:ext cx="7686675" cy="126047"/>
          </a:xfrm>
          <a:prstGeom prst="rect">
            <a:avLst/>
          </a:prstGeom>
          <a:noFill/>
          <a:ln/>
        </p:spPr>
        <p:txBody>
          <a:bodyPr wrap="square" lIns="0" tIns="0" rIns="0" bIns="0" rtlCol="0" anchor="t">
            <a:normAutofit/>
          </a:bodyPr>
          <a:lstStyle/>
          <a:p>
            <a:pPr algn="l" indent="0" marL="0">
              <a:lnSpc>
                <a:spcPts val="911"/>
              </a:lnSpc>
              <a:buNone/>
            </a:pPr>
            <a:r>
              <a:rPr lang="en-US" sz="800" dirty="0">
                <a:solidFill>
                  <a:srgbClr val="14171F"/>
                </a:solidFill>
                <a:latin typeface="Carlito" pitchFamily="34" charset="0"/>
                <a:ea typeface="Carlito" pitchFamily="34" charset="-122"/>
                <a:cs typeface="Carlito" pitchFamily="34" charset="-120"/>
              </a:rPr>
              <a:t>An RL circuit with R = 10 Ω, L = 2 H, and a 12 V battery is switched on at t = 0. Find the current I(t). Kirchhoff's voltage law gives:</a:t>
            </a:r>
            <a:endParaRPr lang="en-US" sz="800" dirty="0"/>
          </a:p>
        </p:txBody>
      </p:sp>
      <p:pic>
        <p:nvPicPr>
          <p:cNvPr id="8" name="Image 0" descr="/tmp/h2p-svg-1781853764440-akfd96.png">    </p:cNvPr>
          <p:cNvPicPr>
            <a:picLocks noChangeAspect="1"/>
          </p:cNvPicPr>
          <p:nvPr/>
        </p:nvPicPr>
        <p:blipFill>
          <a:blip r:embed="rId1"/>
          <a:stretch>
            <a:fillRect/>
          </a:stretch>
        </p:blipFill>
        <p:spPr>
          <a:xfrm>
            <a:off x="3898813" y="1306078"/>
            <a:ext cx="1546399" cy="267221"/>
          </a:xfrm>
          <a:prstGeom prst="rect">
            <a:avLst/>
          </a:prstGeom>
        </p:spPr>
      </p:pic>
      <p:sp>
        <p:nvSpPr>
          <p:cNvPr id="9" name="Text 6"/>
          <p:cNvSpPr/>
          <p:nvPr/>
        </p:nvSpPr>
        <p:spPr>
          <a:xfrm>
            <a:off x="828675" y="1611139"/>
            <a:ext cx="7796403" cy="126047"/>
          </a:xfrm>
          <a:prstGeom prst="rect">
            <a:avLst/>
          </a:prstGeom>
          <a:noFill/>
          <a:ln/>
        </p:spPr>
        <p:txBody>
          <a:bodyPr wrap="square" lIns="0" tIns="0" rIns="0" bIns="0" rtlCol="0" anchor="t">
            <a:normAutofit/>
          </a:bodyPr>
          <a:lstStyle/>
          <a:p>
            <a:pPr algn="l" indent="0" marL="0">
              <a:lnSpc>
                <a:spcPts val="911"/>
              </a:lnSpc>
              <a:buNone/>
            </a:pPr>
            <a:r>
              <a:rPr lang="en-US" sz="800" dirty="0">
                <a:solidFill>
                  <a:srgbClr val="14171F"/>
                </a:solidFill>
                <a:latin typeface="Liberation Sans Narrow" pitchFamily="34" charset="0"/>
                <a:ea typeface="Liberation Sans Narrow" pitchFamily="34" charset="-122"/>
                <a:cs typeface="Liberation Sans Narrow" pitchFamily="34" charset="-120"/>
              </a:rPr>
              <a:t>Substituting L = 2, R = 10, V = 12:</a:t>
            </a:r>
            <a:endParaRPr lang="en-US" sz="800" dirty="0"/>
          </a:p>
        </p:txBody>
      </p:sp>
      <p:pic>
        <p:nvPicPr>
          <p:cNvPr id="10" name="Image 1" descr="/tmp/h2p-svg-1781853764441-voik7j.png">    </p:cNvPr>
          <p:cNvPicPr>
            <a:picLocks noChangeAspect="1"/>
          </p:cNvPicPr>
          <p:nvPr/>
        </p:nvPicPr>
        <p:blipFill>
          <a:blip r:embed="rId2"/>
          <a:stretch>
            <a:fillRect/>
          </a:stretch>
        </p:blipFill>
        <p:spPr>
          <a:xfrm>
            <a:off x="3879949" y="1764618"/>
            <a:ext cx="1584015" cy="267221"/>
          </a:xfrm>
          <a:prstGeom prst="rect">
            <a:avLst/>
          </a:prstGeom>
        </p:spPr>
      </p:pic>
      <p:sp>
        <p:nvSpPr>
          <p:cNvPr id="11" name="Shape 7"/>
          <p:cNvSpPr/>
          <p:nvPr/>
        </p:nvSpPr>
        <p:spPr>
          <a:xfrm>
            <a:off x="685800" y="2507679"/>
            <a:ext cx="7943850" cy="0"/>
          </a:xfrm>
          <a:prstGeom prst="line">
            <a:avLst/>
          </a:prstGeom>
          <a:noFill/>
          <a:ln w="7144">
            <a:solidFill>
              <a:srgbClr val="E3E6EE"/>
            </a:solidFill>
            <a:prstDash val="dash"/>
          </a:ln>
        </p:spPr>
      </p:sp>
      <p:sp>
        <p:nvSpPr>
          <p:cNvPr id="12" name="Text 8"/>
          <p:cNvSpPr/>
          <p:nvPr/>
        </p:nvSpPr>
        <p:spPr>
          <a:xfrm>
            <a:off x="685800" y="2175272"/>
            <a:ext cx="2065325" cy="321692"/>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1</a:t>
            </a:r>
            <a:endParaRPr lang="en-US" sz="800" dirty="0"/>
          </a:p>
          <a:p>
            <a:pPr algn="r" indent="0" marL="0">
              <a:lnSpc>
                <a:spcPts val="773"/>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Standard form (divide by 2)</a:t>
            </a:r>
            <a:endParaRPr lang="en-US" sz="800" dirty="0"/>
          </a:p>
          <a:p>
            <a:pPr algn="r" indent="0" marL="0">
              <a:lnSpc>
                <a:spcPts val="773"/>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P(t) = 5, Q(t) = 6</a:t>
            </a:r>
            <a:endParaRPr lang="en-US" sz="800" dirty="0"/>
          </a:p>
        </p:txBody>
      </p:sp>
      <p:pic>
        <p:nvPicPr>
          <p:cNvPr id="13" name="Image 2" descr="/tmp/h2p-svg-1781853764441-0jid1u.png">    </p:cNvPr>
          <p:cNvPicPr>
            <a:picLocks noChangeAspect="1"/>
          </p:cNvPicPr>
          <p:nvPr/>
        </p:nvPicPr>
        <p:blipFill>
          <a:blip r:embed="rId3"/>
          <a:stretch>
            <a:fillRect/>
          </a:stretch>
        </p:blipFill>
        <p:spPr>
          <a:xfrm>
            <a:off x="5422441" y="2189001"/>
            <a:ext cx="735806" cy="267221"/>
          </a:xfrm>
          <a:prstGeom prst="rect">
            <a:avLst/>
          </a:prstGeom>
        </p:spPr>
      </p:pic>
      <p:sp>
        <p:nvSpPr>
          <p:cNvPr id="14" name="Shape 9"/>
          <p:cNvSpPr/>
          <p:nvPr/>
        </p:nvSpPr>
        <p:spPr>
          <a:xfrm>
            <a:off x="685800" y="2790639"/>
            <a:ext cx="7943850" cy="0"/>
          </a:xfrm>
          <a:prstGeom prst="line">
            <a:avLst/>
          </a:prstGeom>
          <a:noFill/>
          <a:ln w="7144">
            <a:solidFill>
              <a:srgbClr val="E3E6EE"/>
            </a:solidFill>
            <a:prstDash val="dash"/>
          </a:ln>
        </p:spPr>
      </p:sp>
      <p:sp>
        <p:nvSpPr>
          <p:cNvPr id="15" name="Text 10"/>
          <p:cNvSpPr/>
          <p:nvPr/>
        </p:nvSpPr>
        <p:spPr>
          <a:xfrm>
            <a:off x="685800" y="2554449"/>
            <a:ext cx="2065325" cy="225475"/>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2</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Integrating factor</a:t>
            </a:r>
            <a:endParaRPr lang="en-US" sz="800" dirty="0"/>
          </a:p>
        </p:txBody>
      </p:sp>
      <p:pic>
        <p:nvPicPr>
          <p:cNvPr id="16" name="Image 3" descr="/tmp/h2p-svg-1781853764441-ajg06c.png">    </p:cNvPr>
          <p:cNvPicPr>
            <a:picLocks noChangeAspect="1"/>
          </p:cNvPicPr>
          <p:nvPr/>
        </p:nvPicPr>
        <p:blipFill>
          <a:blip r:embed="rId4"/>
          <a:stretch>
            <a:fillRect/>
          </a:stretch>
        </p:blipFill>
        <p:spPr>
          <a:xfrm>
            <a:off x="5285482" y="2566281"/>
            <a:ext cx="1009613" cy="159283"/>
          </a:xfrm>
          <a:prstGeom prst="rect">
            <a:avLst/>
          </a:prstGeom>
        </p:spPr>
      </p:pic>
      <p:sp>
        <p:nvSpPr>
          <p:cNvPr id="17" name="Shape 11"/>
          <p:cNvSpPr/>
          <p:nvPr/>
        </p:nvSpPr>
        <p:spPr>
          <a:xfrm>
            <a:off x="685800" y="3475881"/>
            <a:ext cx="7943850" cy="0"/>
          </a:xfrm>
          <a:prstGeom prst="line">
            <a:avLst/>
          </a:prstGeom>
          <a:noFill/>
          <a:ln w="7144">
            <a:solidFill>
              <a:srgbClr val="E3E6EE"/>
            </a:solidFill>
            <a:prstDash val="dash"/>
          </a:ln>
        </p:spPr>
      </p:sp>
      <p:sp>
        <p:nvSpPr>
          <p:cNvPr id="18" name="Text 12"/>
          <p:cNvSpPr/>
          <p:nvPr/>
        </p:nvSpPr>
        <p:spPr>
          <a:xfrm>
            <a:off x="685800" y="3038549"/>
            <a:ext cx="2065325" cy="27432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Steps 3 &amp; 4</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Multiply by μ and collapse the left side</a:t>
            </a:r>
            <a:endParaRPr lang="en-US" sz="800" dirty="0"/>
          </a:p>
        </p:txBody>
      </p:sp>
      <p:pic>
        <p:nvPicPr>
          <p:cNvPr id="19" name="Image 4" descr="/tmp/h2p-svg-1781853764445-lmgeur.png">    </p:cNvPr>
          <p:cNvPicPr>
            <a:picLocks noChangeAspect="1"/>
          </p:cNvPicPr>
          <p:nvPr/>
        </p:nvPicPr>
        <p:blipFill>
          <a:blip r:embed="rId5"/>
          <a:stretch>
            <a:fillRect/>
          </a:stretch>
        </p:blipFill>
        <p:spPr>
          <a:xfrm>
            <a:off x="5208687" y="2849240"/>
            <a:ext cx="1163315" cy="267221"/>
          </a:xfrm>
          <a:prstGeom prst="rect">
            <a:avLst/>
          </a:prstGeom>
        </p:spPr>
      </p:pic>
      <p:pic>
        <p:nvPicPr>
          <p:cNvPr id="20" name="Image 5" descr="/tmp/h2p-svg-1781853764445-nynn9j.png">    </p:cNvPr>
          <p:cNvPicPr>
            <a:picLocks noChangeAspect="1"/>
          </p:cNvPicPr>
          <p:nvPr/>
        </p:nvPicPr>
        <p:blipFill>
          <a:blip r:embed="rId6"/>
          <a:stretch>
            <a:fillRect/>
          </a:stretch>
        </p:blipFill>
        <p:spPr>
          <a:xfrm>
            <a:off x="5361050" y="3157203"/>
            <a:ext cx="858589" cy="267221"/>
          </a:xfrm>
          <a:prstGeom prst="rect">
            <a:avLst/>
          </a:prstGeom>
        </p:spPr>
      </p:pic>
      <p:sp>
        <p:nvSpPr>
          <p:cNvPr id="21" name="Shape 13"/>
          <p:cNvSpPr/>
          <p:nvPr/>
        </p:nvSpPr>
        <p:spPr>
          <a:xfrm>
            <a:off x="685800" y="3873140"/>
            <a:ext cx="7943850" cy="0"/>
          </a:xfrm>
          <a:prstGeom prst="line">
            <a:avLst/>
          </a:prstGeom>
          <a:noFill/>
          <a:ln w="7144">
            <a:solidFill>
              <a:srgbClr val="E3E6EE"/>
            </a:solidFill>
            <a:prstDash val="dash"/>
          </a:ln>
        </p:spPr>
      </p:sp>
      <p:sp>
        <p:nvSpPr>
          <p:cNvPr id="22" name="Text 14"/>
          <p:cNvSpPr/>
          <p:nvPr/>
        </p:nvSpPr>
        <p:spPr>
          <a:xfrm>
            <a:off x="685800" y="3579800"/>
            <a:ext cx="2065325" cy="27432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5</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Integrate both sides</a:t>
            </a:r>
            <a:endParaRPr lang="en-US" sz="800" dirty="0"/>
          </a:p>
        </p:txBody>
      </p:sp>
      <p:pic>
        <p:nvPicPr>
          <p:cNvPr id="23" name="Image 6" descr="/tmp/h2p-svg-1781853764445-v5zf0r.png">    </p:cNvPr>
          <p:cNvPicPr>
            <a:picLocks noChangeAspect="1"/>
          </p:cNvPicPr>
          <p:nvPr/>
        </p:nvPicPr>
        <p:blipFill>
          <a:blip r:embed="rId7"/>
          <a:stretch>
            <a:fillRect/>
          </a:stretch>
        </p:blipFill>
        <p:spPr>
          <a:xfrm>
            <a:off x="5009443" y="3534482"/>
            <a:ext cx="1561802" cy="287201"/>
          </a:xfrm>
          <a:prstGeom prst="rect">
            <a:avLst/>
          </a:prstGeom>
        </p:spPr>
      </p:pic>
      <p:sp>
        <p:nvSpPr>
          <p:cNvPr id="24" name="Text 15"/>
          <p:cNvSpPr/>
          <p:nvPr/>
        </p:nvSpPr>
        <p:spPr>
          <a:xfrm>
            <a:off x="685800" y="3913882"/>
            <a:ext cx="2065325" cy="274320"/>
          </a:xfrm>
          <a:prstGeom prst="rect">
            <a:avLst/>
          </a:prstGeom>
          <a:noFill/>
          <a:ln/>
        </p:spPr>
        <p:txBody>
          <a:bodyPr wrap="square" lIns="0" tIns="0" rIns="28575" bIns="0" rtlCol="0" anchor="t"/>
          <a:lstStyle/>
          <a:p>
            <a:pPr algn="r" indent="0" marL="0">
              <a:lnSpc>
                <a:spcPts val="773"/>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6</a:t>
            </a:r>
            <a:endParaRPr lang="en-US" sz="800" dirty="0"/>
          </a:p>
          <a:p>
            <a:pPr algn="r" indent="0" marL="0">
              <a:lnSpc>
                <a:spcPts val="773"/>
              </a:lnSpc>
              <a:buNone/>
            </a:pPr>
            <a:r>
              <a:rPr lang="en-US" sz="800" i="1" dirty="0">
                <a:solidFill>
                  <a:srgbClr val="4A5160"/>
                </a:solidFill>
                <a:latin typeface="Carlito" pitchFamily="34" charset="0"/>
                <a:ea typeface="Carlito" pitchFamily="34" charset="-122"/>
                <a:cs typeface="Carlito" pitchFamily="34" charset="-120"/>
              </a:rPr>
              <a:t>Solve for I(t)</a:t>
            </a:r>
            <a:endParaRPr lang="en-US" sz="800" dirty="0"/>
          </a:p>
        </p:txBody>
      </p:sp>
      <p:pic>
        <p:nvPicPr>
          <p:cNvPr id="25" name="Image 7" descr="/tmp/h2p-svg-1781853764445-weorp0.png">    </p:cNvPr>
          <p:cNvPicPr>
            <a:picLocks noChangeAspect="1"/>
          </p:cNvPicPr>
          <p:nvPr/>
        </p:nvPicPr>
        <p:blipFill>
          <a:blip r:embed="rId8"/>
          <a:stretch>
            <a:fillRect/>
          </a:stretch>
        </p:blipFill>
        <p:spPr>
          <a:xfrm>
            <a:off x="5297202" y="3931741"/>
            <a:ext cx="986172" cy="160846"/>
          </a:xfrm>
          <a:prstGeom prst="rect">
            <a:avLst/>
          </a:prstGeom>
        </p:spPr>
      </p:pic>
      <p:sp>
        <p:nvSpPr>
          <p:cNvPr id="26" name="Text 16"/>
          <p:cNvSpPr/>
          <p:nvPr/>
        </p:nvSpPr>
        <p:spPr>
          <a:xfrm>
            <a:off x="685800" y="4169048"/>
            <a:ext cx="7943850" cy="297024"/>
          </a:xfrm>
          <a:prstGeom prst="roundRect">
            <a:avLst>
              <a:gd name="adj" fmla="val 12827"/>
            </a:avLst>
          </a:prstGeom>
          <a:solidFill>
            <a:srgbClr val="F3ECF8"/>
          </a:solidFill>
          <a:ln/>
        </p:spPr>
        <p:txBody>
          <a:bodyPr wrap="square" rtlCol="0" anchor="ctr"/>
          <a:lstStyle/>
          <a:p>
            <a:pPr indent="0" marL="0">
              <a:buNone/>
            </a:pPr>
            <a:endParaRPr lang="en-US" dirty="0"/>
          </a:p>
        </p:txBody>
      </p:sp>
      <p:sp>
        <p:nvSpPr>
          <p:cNvPr id="27" name="Shape 17"/>
          <p:cNvSpPr/>
          <p:nvPr/>
        </p:nvSpPr>
        <p:spPr>
          <a:xfrm>
            <a:off x="700088" y="4169048"/>
            <a:ext cx="0" cy="297024"/>
          </a:xfrm>
          <a:prstGeom prst="line">
            <a:avLst/>
          </a:prstGeom>
          <a:noFill/>
          <a:ln w="28575">
            <a:solidFill>
              <a:srgbClr val="6B2FA0"/>
            </a:solidFill>
            <a:prstDash val="solid"/>
          </a:ln>
        </p:spPr>
      </p:sp>
      <p:sp>
        <p:nvSpPr>
          <p:cNvPr id="28" name="Text 18"/>
          <p:cNvSpPr/>
          <p:nvPr/>
        </p:nvSpPr>
        <p:spPr>
          <a:xfrm>
            <a:off x="828675" y="4258568"/>
            <a:ext cx="1998464" cy="164592"/>
          </a:xfrm>
          <a:prstGeom prst="rect">
            <a:avLst/>
          </a:prstGeom>
          <a:noFill/>
          <a:ln/>
        </p:spPr>
        <p:txBody>
          <a:bodyPr wrap="none" lIns="0" tIns="0" rIns="28575" bIns="0" rtlCol="0" anchor="t"/>
          <a:lstStyle/>
          <a:p>
            <a:pPr algn="r" indent="0" marL="0">
              <a:lnSpc>
                <a:spcPts val="928"/>
              </a:lnSpc>
              <a:buNone/>
            </a:pPr>
            <a:r>
              <a:rPr lang="en-US" sz="800" i="1" dirty="0">
                <a:solidFill>
                  <a:srgbClr val="14171F"/>
                </a:solidFill>
                <a:latin typeface="Liberation Sans Narrow" pitchFamily="34" charset="0"/>
                <a:ea typeface="Liberation Sans Narrow" pitchFamily="34" charset="-122"/>
                <a:cs typeface="Liberation Sans Narrow" pitchFamily="34" charset="-120"/>
              </a:rPr>
              <a:t>Apply I(0) = 0:</a:t>
            </a:r>
            <a:endParaRPr lang="en-US" sz="800" dirty="0"/>
          </a:p>
        </p:txBody>
      </p:sp>
      <p:pic>
        <p:nvPicPr>
          <p:cNvPr id="29" name="Image 8" descr="/tmp/h2p-svg-1781853764445-hscg1x.png">    </p:cNvPr>
          <p:cNvPicPr>
            <a:picLocks noChangeAspect="1"/>
          </p:cNvPicPr>
          <p:nvPr/>
        </p:nvPicPr>
        <p:blipFill>
          <a:blip r:embed="rId9"/>
          <a:stretch>
            <a:fillRect/>
          </a:stretch>
        </p:blipFill>
        <p:spPr>
          <a:xfrm>
            <a:off x="5058445" y="4238365"/>
            <a:ext cx="1425401" cy="158390"/>
          </a:xfrm>
          <a:prstGeom prst="rect">
            <a:avLst/>
          </a:prstGeom>
        </p:spPr>
      </p:pic>
      <p:sp>
        <p:nvSpPr>
          <p:cNvPr id="30" name="Text 19"/>
          <p:cNvSpPr/>
          <p:nvPr/>
        </p:nvSpPr>
        <p:spPr>
          <a:xfrm>
            <a:off x="3560601" y="4700699"/>
            <a:ext cx="794296" cy="164592"/>
          </a:xfrm>
          <a:prstGeom prst="rect">
            <a:avLst/>
          </a:prstGeom>
          <a:noFill/>
          <a:ln/>
        </p:spPr>
        <p:txBody>
          <a:bodyPr wrap="none" lIns="12859" tIns="0" rIns="0" bIns="0" rtlCol="0" anchor="t"/>
          <a:lstStyle/>
          <a:p>
            <a:pPr algn="ctr" indent="0" marL="0">
              <a:lnSpc>
                <a:spcPts val="844"/>
              </a:lnSpc>
              <a:buNone/>
            </a:pPr>
            <a:r>
              <a:rPr lang="en-US" sz="800" b="1" spc="113"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31" name="Text 20"/>
          <p:cNvSpPr/>
          <p:nvPr/>
        </p:nvSpPr>
        <p:spPr>
          <a:xfrm>
            <a:off x="4399434" y="4505362"/>
            <a:ext cx="1351843" cy="455526"/>
          </a:xfrm>
          <a:prstGeom prst="roundRect">
            <a:avLst>
              <a:gd name="adj" fmla="val 8364"/>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32" name="Image 9" descr="/tmp/h2p-svg-1781853764445-mpfcmv.png">    </p:cNvPr>
          <p:cNvPicPr>
            <a:picLocks noChangeAspect="1"/>
          </p:cNvPicPr>
          <p:nvPr/>
        </p:nvPicPr>
        <p:blipFill>
          <a:blip r:embed="rId10"/>
          <a:stretch>
            <a:fillRect/>
          </a:stretch>
        </p:blipFill>
        <p:spPr>
          <a:xfrm>
            <a:off x="4474443" y="4584055"/>
            <a:ext cx="1201824" cy="298140"/>
          </a:xfrm>
          <a:prstGeom prst="rect">
            <a:avLst/>
          </a:prstGeom>
        </p:spPr>
      </p:pic>
      <p:sp>
        <p:nvSpPr>
          <p:cNvPr id="33" name="Text 21"/>
          <p:cNvSpPr/>
          <p:nvPr/>
        </p:nvSpPr>
        <p:spPr>
          <a:xfrm>
            <a:off x="685800" y="4978747"/>
            <a:ext cx="7943850" cy="141536"/>
          </a:xfrm>
          <a:prstGeom prst="roundRect">
            <a:avLst>
              <a:gd name="adj" fmla="val 26919"/>
            </a:avLst>
          </a:prstGeom>
          <a:solidFill>
            <a:srgbClr val="F6F7FB"/>
          </a:solidFill>
          <a:ln/>
        </p:spPr>
        <p:txBody>
          <a:bodyPr wrap="square" rtlCol="0" anchor="ctr"/>
          <a:lstStyle/>
          <a:p>
            <a:pPr indent="0" marL="0">
              <a:buNone/>
            </a:pPr>
            <a:endParaRPr lang="en-US" dirty="0"/>
          </a:p>
        </p:txBody>
      </p:sp>
      <p:sp>
        <p:nvSpPr>
          <p:cNvPr id="34" name="Shape 22"/>
          <p:cNvSpPr/>
          <p:nvPr/>
        </p:nvSpPr>
        <p:spPr>
          <a:xfrm>
            <a:off x="700088" y="4978747"/>
            <a:ext cx="0" cy="141536"/>
          </a:xfrm>
          <a:prstGeom prst="line">
            <a:avLst/>
          </a:prstGeom>
          <a:noFill/>
          <a:ln w="28575">
            <a:solidFill>
              <a:srgbClr val="1F61C9"/>
            </a:solidFill>
            <a:prstDash val="solid"/>
          </a:ln>
        </p:spPr>
      </p:sp>
      <p:sp>
        <p:nvSpPr>
          <p:cNvPr id="35" name="Text 23"/>
          <p:cNvSpPr/>
          <p:nvPr/>
        </p:nvSpPr>
        <p:spPr>
          <a:xfrm>
            <a:off x="814388" y="5000179"/>
            <a:ext cx="860010" cy="105817"/>
          </a:xfrm>
          <a:prstGeom prst="rect">
            <a:avLst/>
          </a:prstGeom>
          <a:noFill/>
          <a:ln/>
        </p:spPr>
        <p:txBody>
          <a:bodyPr wrap="square" lIns="0" tIns="0" rIns="0" bIns="0" rtlCol="0" anchor="t"/>
          <a:lstStyle/>
          <a:p>
            <a:pPr algn="l" indent="0" marL="0">
              <a:lnSpc>
                <a:spcPts val="731"/>
              </a:lnSpc>
              <a:buNone/>
            </a:pPr>
            <a:r>
              <a:rPr lang="en-US" sz="800" b="1" dirty="0">
                <a:solidFill>
                  <a:srgbClr val="1F61C9"/>
                </a:solidFill>
                <a:latin typeface="Carlito" pitchFamily="34" charset="0"/>
                <a:ea typeface="Carlito" pitchFamily="34" charset="-122"/>
                <a:cs typeface="Carlito" pitchFamily="34" charset="-120"/>
              </a:rPr>
              <a:t>Physical meaning:</a:t>
            </a:r>
            <a:endParaRPr lang="en-US" sz="800" dirty="0"/>
          </a:p>
        </p:txBody>
      </p:sp>
      <p:sp>
        <p:nvSpPr>
          <p:cNvPr id="36" name="Text 24"/>
          <p:cNvSpPr/>
          <p:nvPr/>
        </p:nvSpPr>
        <p:spPr>
          <a:xfrm>
            <a:off x="1576760" y="5000179"/>
            <a:ext cx="6307820" cy="105817"/>
          </a:xfrm>
          <a:prstGeom prst="rect">
            <a:avLst/>
          </a:prstGeom>
          <a:noFill/>
          <a:ln/>
        </p:spPr>
        <p:txBody>
          <a:bodyPr wrap="square" lIns="0" tIns="0" rIns="0" bIns="0" rtlCol="0" anchor="t"/>
          <a:lstStyle/>
          <a:p>
            <a:pPr algn="l" indent="0" marL="0">
              <a:lnSpc>
                <a:spcPts val="731"/>
              </a:lnSpc>
              <a:buNone/>
            </a:pPr>
            <a:r>
              <a:rPr lang="en-US" sz="800" i="1" dirty="0">
                <a:solidFill>
                  <a:srgbClr val="14171F"/>
                </a:solidFill>
                <a:latin typeface="Carlito" pitchFamily="34" charset="0"/>
                <a:ea typeface="Carlito" pitchFamily="34" charset="-122"/>
                <a:cs typeface="Carlito" pitchFamily="34" charset="-120"/>
              </a:rPr>
              <a:t>The current rises exponentially from 0 to its steady-state value I</a:t>
            </a:r>
            <a:pPr algn="l" indent="0" marL="0">
              <a:lnSpc>
                <a:spcPts val="731"/>
              </a:lnSpc>
              <a:buNone/>
            </a:pPr>
            <a:r>
              <a:rPr lang="en-US" sz="800" i="1" baseline="-40000" dirty="0">
                <a:solidFill>
                  <a:srgbClr val="14171F"/>
                </a:solidFill>
                <a:latin typeface="Carlito" pitchFamily="34" charset="0"/>
                <a:ea typeface="Carlito" pitchFamily="34" charset="-122"/>
                <a:cs typeface="Carlito" pitchFamily="34" charset="-120"/>
              </a:rPr>
              <a:t>∞</a:t>
            </a:r>
            <a:pPr algn="l" indent="0" marL="0">
              <a:lnSpc>
                <a:spcPts val="731"/>
              </a:lnSpc>
              <a:buNone/>
            </a:pPr>
            <a:r>
              <a:rPr lang="en-US" sz="800" i="1" dirty="0">
                <a:solidFill>
                  <a:srgbClr val="14171F"/>
                </a:solidFill>
                <a:latin typeface="Carlito" pitchFamily="34" charset="0"/>
                <a:ea typeface="Carlito" pitchFamily="34" charset="-122"/>
                <a:cs typeface="Carlito" pitchFamily="34" charset="-120"/>
              </a:rPr>
              <a:t> = V/R = 1.2 A with time constant τ = L/R = 0.2 s. After t = 5τ = 1 s, the current is within 1% of its final value.</a:t>
            </a:r>
            <a:endParaRPr lang="en-US" sz="800" dirty="0"/>
          </a:p>
        </p:txBody>
      </p:sp>
      <p:sp>
        <p:nvSpPr>
          <p:cNvPr id="37" name="Text 25"/>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18 / 38</a:t>
            </a:r>
            <a:endParaRPr lang="en-US" sz="800" dirty="0"/>
          </a:p>
        </p:txBody>
      </p:sp>
      <p:pic>
        <p:nvPicPr>
          <p:cNvPr id="38" name="Image 10" descr="preencoded.png">    </p:cNvPr>
          <p:cNvPicPr>
            <a:picLocks noChangeAspect="1"/>
          </p:cNvPicPr>
          <p:nvPr/>
        </p:nvPicPr>
        <p:blipFill>
          <a:blip r:embed="rId11"/>
          <a:stretch>
            <a:fillRect/>
          </a:stretch>
        </p:blipFill>
        <p:spPr>
          <a:xfrm>
            <a:off x="0" y="0"/>
            <a:ext cx="17145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3361076"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MOTIVATION &amp; FOUNDATIONS</a:t>
            </a:r>
            <a:endParaRPr lang="en-US" sz="844" dirty="0"/>
          </a:p>
        </p:txBody>
      </p:sp>
      <p:sp>
        <p:nvSpPr>
          <p:cNvPr id="3" name="Text 1"/>
          <p:cNvSpPr/>
          <p:nvPr/>
        </p:nvSpPr>
        <p:spPr>
          <a:xfrm>
            <a:off x="685800" y="716161"/>
            <a:ext cx="7943850" cy="206861"/>
          </a:xfrm>
          <a:prstGeom prst="rect">
            <a:avLst/>
          </a:prstGeom>
          <a:noFill/>
          <a:ln/>
        </p:spPr>
        <p:txBody>
          <a:bodyPr wrap="square" lIns="0" tIns="0" rIns="0" bIns="0" rtlCol="0" anchor="t">
            <a:normAutofit/>
          </a:bodyPr>
          <a:lstStyle/>
          <a:p>
            <a:pPr algn="l" indent="0" marL="0">
              <a:lnSpc>
                <a:spcPts val="1733"/>
              </a:lnSpc>
              <a:buNone/>
            </a:pPr>
            <a:r>
              <a:rPr lang="en-US" sz="1575" b="1" spc="-19" kern="0" dirty="0">
                <a:solidFill>
                  <a:srgbClr val="1A2A4F"/>
                </a:solidFill>
                <a:latin typeface="Carlito" pitchFamily="34" charset="0"/>
                <a:ea typeface="Carlito" pitchFamily="34" charset="-122"/>
                <a:cs typeface="Carlito" pitchFamily="34" charset="-120"/>
              </a:rPr>
              <a:t>Why Exact Equations? — From Multivariable Calculus</a:t>
            </a:r>
            <a:endParaRPr lang="en-US" sz="1575" dirty="0"/>
          </a:p>
        </p:txBody>
      </p:sp>
      <p:sp>
        <p:nvSpPr>
          <p:cNvPr id="4" name="Text 2"/>
          <p:cNvSpPr/>
          <p:nvPr/>
        </p:nvSpPr>
        <p:spPr>
          <a:xfrm>
            <a:off x="685800" y="950454"/>
            <a:ext cx="8458200" cy="173593"/>
          </a:xfrm>
          <a:prstGeom prst="rect">
            <a:avLst/>
          </a:prstGeom>
          <a:noFill/>
          <a:ln/>
        </p:spPr>
        <p:txBody>
          <a:bodyPr wrap="square" lIns="0" tIns="0" rIns="0" bIns="0" rtlCol="0" anchor="t"/>
          <a:lstStyle/>
          <a:p>
            <a:pPr algn="l" indent="0" marL="0">
              <a:lnSpc>
                <a:spcPts val="1266"/>
              </a:lnSpc>
              <a:buNone/>
            </a:pPr>
            <a:r>
              <a:rPr lang="en-US" sz="844" i="1" dirty="0">
                <a:solidFill>
                  <a:srgbClr val="1F61C9"/>
                </a:solidFill>
                <a:latin typeface="Carlito" pitchFamily="34" charset="0"/>
                <a:ea typeface="Carlito" pitchFamily="34" charset="-122"/>
                <a:cs typeface="Carlito" pitchFamily="34" charset="-120"/>
              </a:rPr>
              <a:t>The Geometry of Differential Forms</a:t>
            </a:r>
            <a:endParaRPr lang="en-US" sz="844" dirty="0"/>
          </a:p>
        </p:txBody>
      </p:sp>
      <p:sp>
        <p:nvSpPr>
          <p:cNvPr id="5" name="Text 3"/>
          <p:cNvSpPr/>
          <p:nvPr/>
        </p:nvSpPr>
        <p:spPr>
          <a:xfrm>
            <a:off x="685800" y="1168338"/>
            <a:ext cx="7715250" cy="329184"/>
          </a:xfrm>
          <a:prstGeom prst="rect">
            <a:avLst/>
          </a:prstGeom>
          <a:noFill/>
          <a:ln/>
        </p:spPr>
        <p:txBody>
          <a:bodyPr wrap="square" lIns="0" tIns="0" rIns="0" bIns="0" rtlCol="0" anchor="t"/>
          <a:lstStyle/>
          <a:p>
            <a:pPr algn="l" indent="0" marL="0">
              <a:lnSpc>
                <a:spcPts val="1181"/>
              </a:lnSpc>
              <a:buNone/>
            </a:pPr>
            <a:r>
              <a:rPr lang="en-US" sz="800" dirty="0">
                <a:solidFill>
                  <a:srgbClr val="14171F"/>
                </a:solidFill>
                <a:latin typeface="Carlito" pitchFamily="34" charset="0"/>
                <a:ea typeface="Carlito" pitchFamily="34" charset="-122"/>
                <a:cs typeface="Carlito" pitchFamily="34" charset="-120"/>
              </a:rPr>
              <a:t>Exact equations are not arbitrary algebraic forms — they are the differential equations of level curves. To understand them, we trace the path from the multivariable chain rule to the geometry of conservative vector fields and potential functions.</a:t>
            </a:r>
            <a:endParaRPr lang="en-US" sz="800" dirty="0"/>
          </a:p>
        </p:txBody>
      </p:sp>
      <p:sp>
        <p:nvSpPr>
          <p:cNvPr id="6" name="Text 4"/>
          <p:cNvSpPr/>
          <p:nvPr/>
        </p:nvSpPr>
        <p:spPr>
          <a:xfrm>
            <a:off x="685800" y="1554100"/>
            <a:ext cx="3929063" cy="1120787"/>
          </a:xfrm>
          <a:prstGeom prst="roundRect">
            <a:avLst>
              <a:gd name="adj" fmla="val 5099"/>
            </a:avLst>
          </a:prstGeom>
          <a:solidFill>
            <a:srgbClr val="F6F7FB"/>
          </a:solidFill>
          <a:ln/>
        </p:spPr>
        <p:txBody>
          <a:bodyPr wrap="square" rtlCol="0" anchor="ctr"/>
          <a:lstStyle/>
          <a:p>
            <a:pPr indent="0" marL="0">
              <a:buNone/>
            </a:pPr>
            <a:endParaRPr lang="en-US" dirty="0"/>
          </a:p>
        </p:txBody>
      </p:sp>
      <p:sp>
        <p:nvSpPr>
          <p:cNvPr id="7" name="Shape 5"/>
          <p:cNvSpPr/>
          <p:nvPr/>
        </p:nvSpPr>
        <p:spPr>
          <a:xfrm>
            <a:off x="685800" y="1564816"/>
            <a:ext cx="3929063" cy="0"/>
          </a:xfrm>
          <a:prstGeom prst="line">
            <a:avLst/>
          </a:prstGeom>
          <a:noFill/>
          <a:ln w="21431">
            <a:solidFill>
              <a:srgbClr val="1F61C9"/>
            </a:solidFill>
            <a:prstDash val="solid"/>
          </a:ln>
        </p:spPr>
      </p:sp>
      <p:sp>
        <p:nvSpPr>
          <p:cNvPr id="8" name="Shape 6"/>
          <p:cNvSpPr/>
          <p:nvPr/>
        </p:nvSpPr>
        <p:spPr>
          <a:xfrm>
            <a:off x="4611291" y="1554100"/>
            <a:ext cx="0" cy="1120787"/>
          </a:xfrm>
          <a:prstGeom prst="line">
            <a:avLst/>
          </a:prstGeom>
          <a:noFill/>
          <a:ln w="7144">
            <a:solidFill>
              <a:srgbClr val="E3E6EE"/>
            </a:solidFill>
            <a:prstDash val="solid"/>
          </a:ln>
        </p:spPr>
      </p:sp>
      <p:sp>
        <p:nvSpPr>
          <p:cNvPr id="9" name="Shape 7"/>
          <p:cNvSpPr/>
          <p:nvPr/>
        </p:nvSpPr>
        <p:spPr>
          <a:xfrm>
            <a:off x="685800" y="2671316"/>
            <a:ext cx="3929063" cy="0"/>
          </a:xfrm>
          <a:prstGeom prst="line">
            <a:avLst/>
          </a:prstGeom>
          <a:noFill/>
          <a:ln w="7144">
            <a:solidFill>
              <a:srgbClr val="E3E6EE"/>
            </a:solidFill>
            <a:prstDash val="solid"/>
          </a:ln>
        </p:spPr>
      </p:sp>
      <p:sp>
        <p:nvSpPr>
          <p:cNvPr id="10" name="Shape 8"/>
          <p:cNvSpPr/>
          <p:nvPr/>
        </p:nvSpPr>
        <p:spPr>
          <a:xfrm>
            <a:off x="689372" y="1554100"/>
            <a:ext cx="0" cy="1120787"/>
          </a:xfrm>
          <a:prstGeom prst="line">
            <a:avLst/>
          </a:prstGeom>
          <a:noFill/>
          <a:ln w="7144">
            <a:solidFill>
              <a:srgbClr val="E3E6EE"/>
            </a:solidFill>
            <a:prstDash val="solid"/>
          </a:ln>
        </p:spPr>
      </p:sp>
      <p:sp>
        <p:nvSpPr>
          <p:cNvPr id="11" name="Text 9"/>
          <p:cNvSpPr/>
          <p:nvPr/>
        </p:nvSpPr>
        <p:spPr>
          <a:xfrm>
            <a:off x="792956" y="1646969"/>
            <a:ext cx="3824478" cy="119015"/>
          </a:xfrm>
          <a:prstGeom prst="rect">
            <a:avLst/>
          </a:prstGeom>
          <a:noFill/>
          <a:ln/>
        </p:spPr>
        <p:txBody>
          <a:bodyPr wrap="squar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THE MULTIVARIABLE CHAIN RULE</a:t>
            </a:r>
            <a:endParaRPr lang="en-US" sz="800" dirty="0"/>
          </a:p>
        </p:txBody>
      </p:sp>
      <p:sp>
        <p:nvSpPr>
          <p:cNvPr id="12" name="Text 10"/>
          <p:cNvSpPr/>
          <p:nvPr/>
        </p:nvSpPr>
        <p:spPr>
          <a:xfrm>
            <a:off x="792956" y="1793416"/>
            <a:ext cx="3714750" cy="241128"/>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For a smooth function F(x, y), the total differential dF captures how F changes under infinitesimal changes to both variables:</a:t>
            </a:r>
            <a:endParaRPr lang="en-US" sz="800" dirty="0"/>
          </a:p>
        </p:txBody>
      </p:sp>
      <p:pic>
        <p:nvPicPr>
          <p:cNvPr id="13" name="Image 0" descr="/tmp/h2p-svg-1781853764795-hcef15.png">    </p:cNvPr>
          <p:cNvPicPr>
            <a:picLocks noChangeAspect="1"/>
          </p:cNvPicPr>
          <p:nvPr/>
        </p:nvPicPr>
        <p:blipFill>
          <a:blip r:embed="rId1"/>
          <a:stretch>
            <a:fillRect/>
          </a:stretch>
        </p:blipFill>
        <p:spPr>
          <a:xfrm>
            <a:off x="2018667" y="2102718"/>
            <a:ext cx="1263328" cy="295015"/>
          </a:xfrm>
          <a:prstGeom prst="rect">
            <a:avLst/>
          </a:prstGeom>
        </p:spPr>
      </p:pic>
      <p:sp>
        <p:nvSpPr>
          <p:cNvPr id="14" name="Text 11"/>
          <p:cNvSpPr/>
          <p:nvPr/>
        </p:nvSpPr>
        <p:spPr>
          <a:xfrm>
            <a:off x="792956" y="2467049"/>
            <a:ext cx="3824478" cy="136401"/>
          </a:xfrm>
          <a:prstGeom prst="rect">
            <a:avLst/>
          </a:prstGeom>
          <a:noFill/>
          <a:ln/>
        </p:spPr>
        <p:txBody>
          <a:bodyPr wrap="square" lIns="0" tIns="0" rIns="0" bIns="0" rtlCol="0" anchor="t"/>
          <a:lstStyle/>
          <a:p>
            <a:pPr algn="ctr" indent="0" marL="0">
              <a:lnSpc>
                <a:spcPts val="928"/>
              </a:lnSpc>
              <a:buNone/>
            </a:pPr>
            <a:r>
              <a:rPr lang="en-US" sz="800" i="1" dirty="0">
                <a:solidFill>
                  <a:srgbClr val="4A5160"/>
                </a:solidFill>
                <a:latin typeface="Tinos" pitchFamily="34" charset="0"/>
                <a:ea typeface="Tinos" pitchFamily="34" charset="-122"/>
                <a:cs typeface="Tinos" pitchFamily="34" charset="-120"/>
              </a:rPr>
              <a:t>The chain rule, rewritten in differential form.</a:t>
            </a:r>
            <a:endParaRPr lang="en-US" sz="800" dirty="0"/>
          </a:p>
        </p:txBody>
      </p:sp>
      <p:sp>
        <p:nvSpPr>
          <p:cNvPr id="15" name="Text 12"/>
          <p:cNvSpPr/>
          <p:nvPr/>
        </p:nvSpPr>
        <p:spPr>
          <a:xfrm>
            <a:off x="4700588" y="1554100"/>
            <a:ext cx="3929063" cy="1120787"/>
          </a:xfrm>
          <a:prstGeom prst="roundRect">
            <a:avLst>
              <a:gd name="adj" fmla="val 5099"/>
            </a:avLst>
          </a:prstGeom>
          <a:solidFill>
            <a:srgbClr val="F6F7FB"/>
          </a:solidFill>
          <a:ln/>
        </p:spPr>
        <p:txBody>
          <a:bodyPr wrap="square" rtlCol="0" anchor="ctr"/>
          <a:lstStyle/>
          <a:p>
            <a:pPr indent="0" marL="0">
              <a:buNone/>
            </a:pPr>
            <a:endParaRPr lang="en-US" dirty="0"/>
          </a:p>
        </p:txBody>
      </p:sp>
      <p:sp>
        <p:nvSpPr>
          <p:cNvPr id="16" name="Shape 13"/>
          <p:cNvSpPr/>
          <p:nvPr/>
        </p:nvSpPr>
        <p:spPr>
          <a:xfrm>
            <a:off x="4700588" y="1564816"/>
            <a:ext cx="3929063" cy="0"/>
          </a:xfrm>
          <a:prstGeom prst="line">
            <a:avLst/>
          </a:prstGeom>
          <a:noFill/>
          <a:ln w="21431">
            <a:solidFill>
              <a:srgbClr val="1F61C9"/>
            </a:solidFill>
            <a:prstDash val="solid"/>
          </a:ln>
        </p:spPr>
      </p:sp>
      <p:sp>
        <p:nvSpPr>
          <p:cNvPr id="17" name="Shape 14"/>
          <p:cNvSpPr/>
          <p:nvPr/>
        </p:nvSpPr>
        <p:spPr>
          <a:xfrm>
            <a:off x="8626078" y="1554100"/>
            <a:ext cx="0" cy="1120787"/>
          </a:xfrm>
          <a:prstGeom prst="line">
            <a:avLst/>
          </a:prstGeom>
          <a:noFill/>
          <a:ln w="7144">
            <a:solidFill>
              <a:srgbClr val="E3E6EE"/>
            </a:solidFill>
            <a:prstDash val="solid"/>
          </a:ln>
        </p:spPr>
      </p:sp>
      <p:sp>
        <p:nvSpPr>
          <p:cNvPr id="18" name="Shape 15"/>
          <p:cNvSpPr/>
          <p:nvPr/>
        </p:nvSpPr>
        <p:spPr>
          <a:xfrm>
            <a:off x="4700588" y="2671316"/>
            <a:ext cx="3929063" cy="0"/>
          </a:xfrm>
          <a:prstGeom prst="line">
            <a:avLst/>
          </a:prstGeom>
          <a:noFill/>
          <a:ln w="7144">
            <a:solidFill>
              <a:srgbClr val="E3E6EE"/>
            </a:solidFill>
            <a:prstDash val="solid"/>
          </a:ln>
        </p:spPr>
      </p:sp>
      <p:sp>
        <p:nvSpPr>
          <p:cNvPr id="19" name="Shape 16"/>
          <p:cNvSpPr/>
          <p:nvPr/>
        </p:nvSpPr>
        <p:spPr>
          <a:xfrm>
            <a:off x="4704159" y="1554100"/>
            <a:ext cx="0" cy="1120787"/>
          </a:xfrm>
          <a:prstGeom prst="line">
            <a:avLst/>
          </a:prstGeom>
          <a:noFill/>
          <a:ln w="7144">
            <a:solidFill>
              <a:srgbClr val="E3E6EE"/>
            </a:solidFill>
            <a:prstDash val="solid"/>
          </a:ln>
        </p:spPr>
      </p:sp>
      <p:sp>
        <p:nvSpPr>
          <p:cNvPr id="20" name="Text 17"/>
          <p:cNvSpPr/>
          <p:nvPr/>
        </p:nvSpPr>
        <p:spPr>
          <a:xfrm>
            <a:off x="4807744" y="1646969"/>
            <a:ext cx="3714750" cy="119015"/>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LEVEL CURVES</a:t>
            </a:r>
            <a:endParaRPr lang="en-US" sz="800" dirty="0"/>
          </a:p>
        </p:txBody>
      </p:sp>
      <p:sp>
        <p:nvSpPr>
          <p:cNvPr id="21" name="Text 18"/>
          <p:cNvSpPr/>
          <p:nvPr/>
        </p:nvSpPr>
        <p:spPr>
          <a:xfrm>
            <a:off x="4807744" y="1793416"/>
            <a:ext cx="3714750" cy="241128"/>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A level curve of F is a curve along which F(x, y) = C (constant). Along such a curve, dF = 0, which gives:</a:t>
            </a:r>
            <a:endParaRPr lang="en-US" sz="800" dirty="0"/>
          </a:p>
        </p:txBody>
      </p:sp>
      <p:pic>
        <p:nvPicPr>
          <p:cNvPr id="22" name="Image 1" descr="/tmp/h2p-svg-1781853764796-no4f9f.png">    </p:cNvPr>
          <p:cNvPicPr>
            <a:picLocks noChangeAspect="1"/>
          </p:cNvPicPr>
          <p:nvPr/>
        </p:nvPicPr>
        <p:blipFill>
          <a:blip r:embed="rId2"/>
          <a:stretch>
            <a:fillRect/>
          </a:stretch>
        </p:blipFill>
        <p:spPr>
          <a:xfrm>
            <a:off x="6083126" y="2102718"/>
            <a:ext cx="1163873" cy="295015"/>
          </a:xfrm>
          <a:prstGeom prst="rect">
            <a:avLst/>
          </a:prstGeom>
        </p:spPr>
      </p:pic>
      <p:sp>
        <p:nvSpPr>
          <p:cNvPr id="23" name="Text 19"/>
          <p:cNvSpPr/>
          <p:nvPr/>
        </p:nvSpPr>
        <p:spPr>
          <a:xfrm>
            <a:off x="4807744" y="2467049"/>
            <a:ext cx="3714750" cy="136401"/>
          </a:xfrm>
          <a:prstGeom prst="rect">
            <a:avLst/>
          </a:prstGeom>
          <a:noFill/>
          <a:ln/>
        </p:spPr>
        <p:txBody>
          <a:bodyPr wrap="square" lIns="0" tIns="0" rIns="0" bIns="0" rtlCol="0" anchor="t"/>
          <a:lstStyle/>
          <a:p>
            <a:pPr algn="ctr" indent="0" marL="0">
              <a:lnSpc>
                <a:spcPts val="928"/>
              </a:lnSpc>
              <a:buNone/>
            </a:pPr>
            <a:r>
              <a:rPr lang="en-US" sz="800" i="1" dirty="0">
                <a:solidFill>
                  <a:srgbClr val="4A5160"/>
                </a:solidFill>
                <a:latin typeface="Tinos" pitchFamily="34" charset="0"/>
                <a:ea typeface="Tinos" pitchFamily="34" charset="-122"/>
                <a:cs typeface="Tinos" pitchFamily="34" charset="-120"/>
              </a:rPr>
              <a:t>Examples: contour lines on a map, isotherms, indifference curves.</a:t>
            </a:r>
            <a:endParaRPr lang="en-US" sz="800" dirty="0"/>
          </a:p>
        </p:txBody>
      </p:sp>
      <p:sp>
        <p:nvSpPr>
          <p:cNvPr id="24" name="Text 20"/>
          <p:cNvSpPr/>
          <p:nvPr/>
        </p:nvSpPr>
        <p:spPr>
          <a:xfrm>
            <a:off x="685800" y="2760613"/>
            <a:ext cx="3929063" cy="1120787"/>
          </a:xfrm>
          <a:prstGeom prst="roundRect">
            <a:avLst>
              <a:gd name="adj" fmla="val 5099"/>
            </a:avLst>
          </a:prstGeom>
          <a:solidFill>
            <a:srgbClr val="F6F7FB"/>
          </a:solidFill>
          <a:ln/>
        </p:spPr>
        <p:txBody>
          <a:bodyPr wrap="square" rtlCol="0" anchor="ctr"/>
          <a:lstStyle/>
          <a:p>
            <a:pPr indent="0" marL="0">
              <a:buNone/>
            </a:pPr>
            <a:endParaRPr lang="en-US" dirty="0"/>
          </a:p>
        </p:txBody>
      </p:sp>
      <p:sp>
        <p:nvSpPr>
          <p:cNvPr id="25" name="Shape 21"/>
          <p:cNvSpPr/>
          <p:nvPr/>
        </p:nvSpPr>
        <p:spPr>
          <a:xfrm>
            <a:off x="685800" y="2771329"/>
            <a:ext cx="3929063" cy="0"/>
          </a:xfrm>
          <a:prstGeom prst="line">
            <a:avLst/>
          </a:prstGeom>
          <a:noFill/>
          <a:ln w="21431">
            <a:solidFill>
              <a:srgbClr val="1F61C9"/>
            </a:solidFill>
            <a:prstDash val="solid"/>
          </a:ln>
        </p:spPr>
      </p:sp>
      <p:sp>
        <p:nvSpPr>
          <p:cNvPr id="26" name="Shape 22"/>
          <p:cNvSpPr/>
          <p:nvPr/>
        </p:nvSpPr>
        <p:spPr>
          <a:xfrm>
            <a:off x="4611291" y="2760613"/>
            <a:ext cx="0" cy="1120787"/>
          </a:xfrm>
          <a:prstGeom prst="line">
            <a:avLst/>
          </a:prstGeom>
          <a:noFill/>
          <a:ln w="7144">
            <a:solidFill>
              <a:srgbClr val="E3E6EE"/>
            </a:solidFill>
            <a:prstDash val="solid"/>
          </a:ln>
        </p:spPr>
      </p:sp>
      <p:sp>
        <p:nvSpPr>
          <p:cNvPr id="27" name="Shape 23"/>
          <p:cNvSpPr/>
          <p:nvPr/>
        </p:nvSpPr>
        <p:spPr>
          <a:xfrm>
            <a:off x="685800" y="3877828"/>
            <a:ext cx="3929063" cy="0"/>
          </a:xfrm>
          <a:prstGeom prst="line">
            <a:avLst/>
          </a:prstGeom>
          <a:noFill/>
          <a:ln w="7144">
            <a:solidFill>
              <a:srgbClr val="E3E6EE"/>
            </a:solidFill>
            <a:prstDash val="solid"/>
          </a:ln>
        </p:spPr>
      </p:sp>
      <p:sp>
        <p:nvSpPr>
          <p:cNvPr id="28" name="Shape 24"/>
          <p:cNvSpPr/>
          <p:nvPr/>
        </p:nvSpPr>
        <p:spPr>
          <a:xfrm>
            <a:off x="689372" y="2760613"/>
            <a:ext cx="0" cy="1120787"/>
          </a:xfrm>
          <a:prstGeom prst="line">
            <a:avLst/>
          </a:prstGeom>
          <a:noFill/>
          <a:ln w="7144">
            <a:solidFill>
              <a:srgbClr val="E3E6EE"/>
            </a:solidFill>
            <a:prstDash val="solid"/>
          </a:ln>
        </p:spPr>
      </p:sp>
      <p:sp>
        <p:nvSpPr>
          <p:cNvPr id="29" name="Text 25"/>
          <p:cNvSpPr/>
          <p:nvPr/>
        </p:nvSpPr>
        <p:spPr>
          <a:xfrm>
            <a:off x="792956" y="2853482"/>
            <a:ext cx="3824478" cy="119015"/>
          </a:xfrm>
          <a:prstGeom prst="rect">
            <a:avLst/>
          </a:prstGeom>
          <a:noFill/>
          <a:ln/>
        </p:spPr>
        <p:txBody>
          <a:bodyPr wrap="squar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CONSERVATIVE FIELDS &amp; POTENTIALS</a:t>
            </a:r>
            <a:endParaRPr lang="en-US" sz="800" dirty="0"/>
          </a:p>
        </p:txBody>
      </p:sp>
      <p:sp>
        <p:nvSpPr>
          <p:cNvPr id="30" name="Text 26"/>
          <p:cNvSpPr/>
          <p:nvPr/>
        </p:nvSpPr>
        <p:spPr>
          <a:xfrm>
            <a:off x="792956" y="2999929"/>
            <a:ext cx="3714750" cy="259657"/>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A vector field F = (M, N) is conservative if it is the gradient of some scalar potential Φ, i.e. F = ∇Φ. Then Φ</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 M and Φ</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 N, and line integrals are path-independent.</a:t>
            </a:r>
            <a:endParaRPr lang="en-US" sz="800" dirty="0"/>
          </a:p>
        </p:txBody>
      </p:sp>
      <p:pic>
        <p:nvPicPr>
          <p:cNvPr id="31" name="Image 2" descr="/tmp/h2p-svg-1781853764796-b2odvq.png">    </p:cNvPr>
          <p:cNvPicPr>
            <a:picLocks noChangeAspect="1"/>
          </p:cNvPicPr>
          <p:nvPr/>
        </p:nvPicPr>
        <p:blipFill>
          <a:blip r:embed="rId3"/>
          <a:stretch>
            <a:fillRect/>
          </a:stretch>
        </p:blipFill>
        <p:spPr>
          <a:xfrm>
            <a:off x="1812503" y="3327760"/>
            <a:ext cx="1675544" cy="293787"/>
          </a:xfrm>
          <a:prstGeom prst="rect">
            <a:avLst/>
          </a:prstGeom>
        </p:spPr>
      </p:pic>
      <p:sp>
        <p:nvSpPr>
          <p:cNvPr id="32" name="Text 27"/>
          <p:cNvSpPr/>
          <p:nvPr/>
        </p:nvSpPr>
        <p:spPr>
          <a:xfrm>
            <a:off x="792956" y="3690863"/>
            <a:ext cx="3824478" cy="119100"/>
          </a:xfrm>
          <a:prstGeom prst="rect">
            <a:avLst/>
          </a:prstGeom>
          <a:noFill/>
          <a:ln/>
        </p:spPr>
        <p:txBody>
          <a:bodyPr wrap="square" lIns="0" tIns="0" rIns="0" bIns="0" rtlCol="0" anchor="t"/>
          <a:lstStyle/>
          <a:p>
            <a:pPr algn="ctr" indent="0" marL="0">
              <a:lnSpc>
                <a:spcPts val="928"/>
              </a:lnSpc>
              <a:buNone/>
            </a:pPr>
            <a:r>
              <a:rPr lang="en-US" sz="800" i="1" dirty="0">
                <a:solidFill>
                  <a:srgbClr val="4A5160"/>
                </a:solidFill>
                <a:latin typeface="Tinos" pitchFamily="34" charset="0"/>
                <a:ea typeface="Tinos" pitchFamily="34" charset="-122"/>
                <a:cs typeface="Tinos" pitchFamily="34" charset="-120"/>
              </a:rPr>
              <a:t>Examples: gravity, electrostatics.</a:t>
            </a:r>
            <a:endParaRPr lang="en-US" sz="800" dirty="0"/>
          </a:p>
        </p:txBody>
      </p:sp>
      <p:sp>
        <p:nvSpPr>
          <p:cNvPr id="33" name="Text 28"/>
          <p:cNvSpPr/>
          <p:nvPr/>
        </p:nvSpPr>
        <p:spPr>
          <a:xfrm>
            <a:off x="4700588" y="2760613"/>
            <a:ext cx="3929063" cy="1120787"/>
          </a:xfrm>
          <a:prstGeom prst="roundRect">
            <a:avLst>
              <a:gd name="adj" fmla="val 5099"/>
            </a:avLst>
          </a:prstGeom>
          <a:solidFill>
            <a:srgbClr val="F6F7FB"/>
          </a:solidFill>
          <a:ln/>
        </p:spPr>
        <p:txBody>
          <a:bodyPr wrap="square" rtlCol="0" anchor="ctr"/>
          <a:lstStyle/>
          <a:p>
            <a:pPr indent="0" marL="0">
              <a:buNone/>
            </a:pPr>
            <a:endParaRPr lang="en-US" dirty="0"/>
          </a:p>
        </p:txBody>
      </p:sp>
      <p:sp>
        <p:nvSpPr>
          <p:cNvPr id="34" name="Shape 29"/>
          <p:cNvSpPr/>
          <p:nvPr/>
        </p:nvSpPr>
        <p:spPr>
          <a:xfrm>
            <a:off x="4700588" y="2771329"/>
            <a:ext cx="3929063" cy="0"/>
          </a:xfrm>
          <a:prstGeom prst="line">
            <a:avLst/>
          </a:prstGeom>
          <a:noFill/>
          <a:ln w="21431">
            <a:solidFill>
              <a:srgbClr val="1F61C9"/>
            </a:solidFill>
            <a:prstDash val="solid"/>
          </a:ln>
        </p:spPr>
      </p:sp>
      <p:sp>
        <p:nvSpPr>
          <p:cNvPr id="35" name="Shape 30"/>
          <p:cNvSpPr/>
          <p:nvPr/>
        </p:nvSpPr>
        <p:spPr>
          <a:xfrm>
            <a:off x="8626078" y="2760613"/>
            <a:ext cx="0" cy="1120787"/>
          </a:xfrm>
          <a:prstGeom prst="line">
            <a:avLst/>
          </a:prstGeom>
          <a:noFill/>
          <a:ln w="7144">
            <a:solidFill>
              <a:srgbClr val="E3E6EE"/>
            </a:solidFill>
            <a:prstDash val="solid"/>
          </a:ln>
        </p:spPr>
      </p:sp>
      <p:sp>
        <p:nvSpPr>
          <p:cNvPr id="36" name="Shape 31"/>
          <p:cNvSpPr/>
          <p:nvPr/>
        </p:nvSpPr>
        <p:spPr>
          <a:xfrm>
            <a:off x="4700588" y="3877828"/>
            <a:ext cx="3929063" cy="0"/>
          </a:xfrm>
          <a:prstGeom prst="line">
            <a:avLst/>
          </a:prstGeom>
          <a:noFill/>
          <a:ln w="7144">
            <a:solidFill>
              <a:srgbClr val="E3E6EE"/>
            </a:solidFill>
            <a:prstDash val="solid"/>
          </a:ln>
        </p:spPr>
      </p:sp>
      <p:sp>
        <p:nvSpPr>
          <p:cNvPr id="37" name="Shape 32"/>
          <p:cNvSpPr/>
          <p:nvPr/>
        </p:nvSpPr>
        <p:spPr>
          <a:xfrm>
            <a:off x="4704159" y="2760613"/>
            <a:ext cx="0" cy="1120787"/>
          </a:xfrm>
          <a:prstGeom prst="line">
            <a:avLst/>
          </a:prstGeom>
          <a:noFill/>
          <a:ln w="7144">
            <a:solidFill>
              <a:srgbClr val="E3E6EE"/>
            </a:solidFill>
            <a:prstDash val="solid"/>
          </a:ln>
        </p:spPr>
      </p:sp>
      <p:sp>
        <p:nvSpPr>
          <p:cNvPr id="38" name="Text 33"/>
          <p:cNvSpPr/>
          <p:nvPr/>
        </p:nvSpPr>
        <p:spPr>
          <a:xfrm>
            <a:off x="4807744" y="2853482"/>
            <a:ext cx="3714750" cy="119015"/>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EXACT DIFFERENTIALS</a:t>
            </a:r>
            <a:endParaRPr lang="en-US" sz="800" dirty="0"/>
          </a:p>
        </p:txBody>
      </p:sp>
      <p:sp>
        <p:nvSpPr>
          <p:cNvPr id="39" name="Text 34"/>
          <p:cNvSpPr/>
          <p:nvPr/>
        </p:nvSpPr>
        <p:spPr>
          <a:xfrm>
            <a:off x="4807744" y="2999929"/>
            <a:ext cx="3714750" cy="259657"/>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The 1-form M dx + N dy is exact iff it equals dΦ for some potential Φ. By Clairaut’s theorem, this holds iff M</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 N</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on a simply connected region.</a:t>
            </a:r>
            <a:endParaRPr lang="en-US" sz="800" dirty="0"/>
          </a:p>
        </p:txBody>
      </p:sp>
      <p:pic>
        <p:nvPicPr>
          <p:cNvPr id="40" name="Image 3" descr="/tmp/h2p-svg-1781853764796-9xsuxm.png">    </p:cNvPr>
          <p:cNvPicPr>
            <a:picLocks noChangeAspect="1"/>
          </p:cNvPicPr>
          <p:nvPr/>
        </p:nvPicPr>
        <p:blipFill>
          <a:blip r:embed="rId4"/>
          <a:stretch>
            <a:fillRect/>
          </a:stretch>
        </p:blipFill>
        <p:spPr>
          <a:xfrm>
            <a:off x="5603156" y="3327760"/>
            <a:ext cx="2123926" cy="295015"/>
          </a:xfrm>
          <a:prstGeom prst="rect">
            <a:avLst/>
          </a:prstGeom>
        </p:spPr>
      </p:pic>
      <p:sp>
        <p:nvSpPr>
          <p:cNvPr id="41" name="Text 35"/>
          <p:cNvSpPr/>
          <p:nvPr/>
        </p:nvSpPr>
        <p:spPr>
          <a:xfrm>
            <a:off x="4807744" y="3692091"/>
            <a:ext cx="3824478" cy="117872"/>
          </a:xfrm>
          <a:prstGeom prst="rect">
            <a:avLst/>
          </a:prstGeom>
          <a:noFill/>
          <a:ln/>
        </p:spPr>
        <p:txBody>
          <a:bodyPr wrap="square" lIns="0" tIns="0" rIns="0" bIns="0" rtlCol="0" anchor="t"/>
          <a:lstStyle/>
          <a:p>
            <a:pPr algn="ctr" indent="0" marL="0">
              <a:lnSpc>
                <a:spcPts val="928"/>
              </a:lnSpc>
              <a:buNone/>
            </a:pPr>
            <a:r>
              <a:rPr lang="en-US" sz="800" i="1" dirty="0">
                <a:solidFill>
                  <a:srgbClr val="4A5160"/>
                </a:solidFill>
                <a:latin typeface="Tinos" pitchFamily="34" charset="0"/>
                <a:ea typeface="Tinos" pitchFamily="34" charset="-122"/>
                <a:cs typeface="Tinos" pitchFamily="34" charset="-120"/>
              </a:rPr>
              <a:t>The bridge from vector calculus to ODEs.</a:t>
            </a:r>
            <a:endParaRPr lang="en-US" sz="800" dirty="0"/>
          </a:p>
        </p:txBody>
      </p:sp>
      <p:sp>
        <p:nvSpPr>
          <p:cNvPr id="42" name="Text 36"/>
          <p:cNvSpPr/>
          <p:nvPr/>
        </p:nvSpPr>
        <p:spPr>
          <a:xfrm>
            <a:off x="685800" y="3967125"/>
            <a:ext cx="7943850" cy="537121"/>
          </a:xfrm>
          <a:prstGeom prst="roundRect">
            <a:avLst>
              <a:gd name="adj" fmla="val 7093"/>
            </a:avLst>
          </a:prstGeom>
          <a:solidFill>
            <a:srgbClr val="F6F7FB"/>
          </a:solidFill>
          <a:ln/>
        </p:spPr>
        <p:txBody>
          <a:bodyPr wrap="square" rtlCol="0" anchor="ctr"/>
          <a:lstStyle/>
          <a:p>
            <a:pPr indent="0" marL="0">
              <a:buNone/>
            </a:pPr>
            <a:endParaRPr lang="en-US" dirty="0"/>
          </a:p>
        </p:txBody>
      </p:sp>
      <p:sp>
        <p:nvSpPr>
          <p:cNvPr id="43" name="Shape 37"/>
          <p:cNvSpPr/>
          <p:nvPr/>
        </p:nvSpPr>
        <p:spPr>
          <a:xfrm>
            <a:off x="700088" y="3967125"/>
            <a:ext cx="0" cy="537121"/>
          </a:xfrm>
          <a:prstGeom prst="line">
            <a:avLst/>
          </a:prstGeom>
          <a:noFill/>
          <a:ln w="28575">
            <a:solidFill>
              <a:srgbClr val="1F61C9"/>
            </a:solidFill>
            <a:prstDash val="solid"/>
          </a:ln>
        </p:spPr>
      </p:sp>
      <p:sp>
        <p:nvSpPr>
          <p:cNvPr id="44" name="Text 38"/>
          <p:cNvSpPr/>
          <p:nvPr/>
        </p:nvSpPr>
        <p:spPr>
          <a:xfrm>
            <a:off x="828675" y="4031419"/>
            <a:ext cx="7686675" cy="111871"/>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THE BRIDGE TO ODES</a:t>
            </a:r>
            <a:endParaRPr lang="en-US" sz="800" dirty="0"/>
          </a:p>
        </p:txBody>
      </p:sp>
      <p:sp>
        <p:nvSpPr>
          <p:cNvPr id="45" name="Text 39"/>
          <p:cNvSpPr/>
          <p:nvPr/>
        </p:nvSpPr>
        <p:spPr>
          <a:xfrm>
            <a:off x="828675" y="4170722"/>
            <a:ext cx="7686675" cy="269230"/>
          </a:xfrm>
          <a:prstGeom prst="rect">
            <a:avLst/>
          </a:prstGeom>
          <a:noFill/>
          <a:ln/>
        </p:spPr>
        <p:txBody>
          <a:bodyPr wrap="square" lIns="0" tIns="0" rIns="0" bIns="0" rtlCol="0" anchor="t"/>
          <a:lstStyle/>
          <a:p>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Every exact equation M dx + N dy = 0 is the ODE of a family of level curves Φ(x, y) = C. Solving the ODE means finding the potential Φ — the “antiderivative” of the vector field (M, N). The general solution is the family of level curves of Φ. This is the geometric content of every exact equation.</a:t>
            </a:r>
            <a:endParaRPr lang="en-US" sz="800" dirty="0"/>
          </a:p>
        </p:txBody>
      </p:sp>
      <p:sp>
        <p:nvSpPr>
          <p:cNvPr id="46" name="Text 40"/>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19 / 38</a:t>
            </a:r>
            <a:endParaRPr lang="en-US" sz="800" dirty="0"/>
          </a:p>
        </p:txBody>
      </p:sp>
      <p:pic>
        <p:nvPicPr>
          <p:cNvPr id="47" name="Image 4" descr="preencoded.png">    </p:cNvPr>
          <p:cNvPicPr>
            <a:picLocks noChangeAspect="1"/>
          </p:cNvPicPr>
          <p:nvPr/>
        </p:nvPicPr>
        <p:blipFill>
          <a:blip r:embed="rId5"/>
          <a:stretch>
            <a:fillRect/>
          </a:stretch>
        </p:blipFill>
        <p:spPr>
          <a:xfrm>
            <a:off x="0" y="0"/>
            <a:ext cx="17145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3728033"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Carlito" pitchFamily="34" charset="0"/>
                <a:ea typeface="Carlito" pitchFamily="34" charset="-122"/>
                <a:cs typeface="Carlito" pitchFamily="34" charset="-120"/>
              </a:rPr>
              <a:t>MODULE 3 · APPLICATION — MICROECONOMICS</a:t>
            </a:r>
            <a:endParaRPr lang="en-US" sz="844" dirty="0"/>
          </a:p>
        </p:txBody>
      </p:sp>
      <p:sp>
        <p:nvSpPr>
          <p:cNvPr id="3" name="Text 1"/>
          <p:cNvSpPr/>
          <p:nvPr/>
        </p:nvSpPr>
        <p:spPr>
          <a:xfrm>
            <a:off x="685800" y="716161"/>
            <a:ext cx="8458200" cy="206861"/>
          </a:xfrm>
          <a:prstGeom prst="rect">
            <a:avLst/>
          </a:prstGeom>
          <a:noFill/>
          <a:ln/>
        </p:spPr>
        <p:txBody>
          <a:bodyPr wrap="square" lIns="0" tIns="0" rIns="0" bIns="0" rtlCol="0" anchor="t">
            <a:normAutofit/>
          </a:bodyPr>
          <a:lstStyle/>
          <a:p>
            <a:pPr algn="l" indent="0" marL="0">
              <a:lnSpc>
                <a:spcPts val="1733"/>
              </a:lnSpc>
              <a:buNone/>
            </a:pPr>
            <a:r>
              <a:rPr lang="en-US" sz="1575" b="1" spc="-19" kern="0" dirty="0">
                <a:solidFill>
                  <a:srgbClr val="1A2A4F"/>
                </a:solidFill>
                <a:latin typeface="Carlito" pitchFamily="34" charset="0"/>
                <a:ea typeface="Carlito" pitchFamily="34" charset="-122"/>
                <a:cs typeface="Carlito" pitchFamily="34" charset="-120"/>
              </a:rPr>
              <a:t>Indifference Curves — A Consumer Theory Model</a:t>
            </a:r>
            <a:endParaRPr lang="en-US" sz="1575" dirty="0"/>
          </a:p>
        </p:txBody>
      </p:sp>
      <p:sp>
        <p:nvSpPr>
          <p:cNvPr id="4" name="Text 2"/>
          <p:cNvSpPr/>
          <p:nvPr/>
        </p:nvSpPr>
        <p:spPr>
          <a:xfrm>
            <a:off x="685800" y="950454"/>
            <a:ext cx="8458200" cy="173593"/>
          </a:xfrm>
          <a:prstGeom prst="rect">
            <a:avLst/>
          </a:prstGeom>
          <a:noFill/>
          <a:ln/>
        </p:spPr>
        <p:txBody>
          <a:bodyPr wrap="square" lIns="0" tIns="0" rIns="0" bIns="0" rtlCol="0" anchor="t"/>
          <a:lstStyle/>
          <a:p>
            <a:pPr algn="l" indent="0" marL="0">
              <a:lnSpc>
                <a:spcPts val="1266"/>
              </a:lnSpc>
              <a:buNone/>
            </a:pPr>
            <a:r>
              <a:rPr lang="en-US" sz="844" i="1" dirty="0">
                <a:solidFill>
                  <a:srgbClr val="1F61C9"/>
                </a:solidFill>
                <a:latin typeface="Carlito" pitchFamily="34" charset="0"/>
                <a:ea typeface="Carlito" pitchFamily="34" charset="-122"/>
                <a:cs typeface="Carlito" pitchFamily="34" charset="-120"/>
              </a:rPr>
              <a:t>From Utility Functions to Exact Differentials</a:t>
            </a:r>
            <a:endParaRPr lang="en-US" sz="844" dirty="0"/>
          </a:p>
        </p:txBody>
      </p:sp>
      <p:sp>
        <p:nvSpPr>
          <p:cNvPr id="5" name="Text 3"/>
          <p:cNvSpPr/>
          <p:nvPr/>
        </p:nvSpPr>
        <p:spPr>
          <a:xfrm>
            <a:off x="685800" y="1182625"/>
            <a:ext cx="7943850" cy="784138"/>
          </a:xfrm>
          <a:prstGeom prst="roundRect">
            <a:avLst>
              <a:gd name="adj" fmla="val 4859"/>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82625"/>
            <a:ext cx="0" cy="784138"/>
          </a:xfrm>
          <a:prstGeom prst="line">
            <a:avLst/>
          </a:prstGeom>
          <a:noFill/>
          <a:ln w="28575">
            <a:solidFill>
              <a:srgbClr val="1F61C9"/>
            </a:solidFill>
            <a:prstDash val="solid"/>
          </a:ln>
        </p:spPr>
      </p:sp>
      <p:sp>
        <p:nvSpPr>
          <p:cNvPr id="7" name="Text 5"/>
          <p:cNvSpPr/>
          <p:nvPr/>
        </p:nvSpPr>
        <p:spPr>
          <a:xfrm>
            <a:off x="828675" y="1239775"/>
            <a:ext cx="7686675" cy="104727"/>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THE MODEL</a:t>
            </a:r>
            <a:endParaRPr lang="en-US" sz="800" dirty="0"/>
          </a:p>
        </p:txBody>
      </p:sp>
      <p:sp>
        <p:nvSpPr>
          <p:cNvPr id="8" name="Text 6"/>
          <p:cNvSpPr/>
          <p:nvPr/>
        </p:nvSpPr>
        <p:spPr>
          <a:xfrm>
            <a:off x="828675" y="1371935"/>
            <a:ext cx="7686675" cy="278968"/>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14171F"/>
                </a:solidFill>
                <a:latin typeface="Carlito" pitchFamily="34" charset="0"/>
                <a:ea typeface="Carlito" pitchFamily="34" charset="-122"/>
                <a:cs typeface="Carlito" pitchFamily="34" charset="-120"/>
              </a:rPr>
              <a:t>A consumer’s utility function U(x, y) measures satisfaction from consuming x units of good 1 and y units of good 2. Indifference curves are level curves U(x, y) = C — the consumer is indifferent between any two bundles on the same curve. We use the Cobb-Douglas family:</a:t>
            </a:r>
            <a:endParaRPr lang="en-US" sz="800" dirty="0"/>
          </a:p>
        </p:txBody>
      </p:sp>
      <p:pic>
        <p:nvPicPr>
          <p:cNvPr id="9" name="Image 0" descr="/tmp/h2p-svg-1781853764867-pfkw2s.png">    </p:cNvPr>
          <p:cNvPicPr>
            <a:picLocks noChangeAspect="1"/>
          </p:cNvPicPr>
          <p:nvPr/>
        </p:nvPicPr>
        <p:blipFill>
          <a:blip r:embed="rId1"/>
          <a:stretch>
            <a:fillRect/>
          </a:stretch>
        </p:blipFill>
        <p:spPr>
          <a:xfrm>
            <a:off x="3874033" y="1678335"/>
            <a:ext cx="1595847" cy="167767"/>
          </a:xfrm>
          <a:prstGeom prst="rect">
            <a:avLst/>
          </a:prstGeom>
        </p:spPr>
      </p:pic>
      <p:sp>
        <p:nvSpPr>
          <p:cNvPr id="10" name="Text 7"/>
          <p:cNvSpPr/>
          <p:nvPr/>
        </p:nvSpPr>
        <p:spPr>
          <a:xfrm>
            <a:off x="685800" y="2038201"/>
            <a:ext cx="5880921" cy="119015"/>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DERIVATION</a:t>
            </a:r>
            <a:endParaRPr lang="en-US" sz="800" dirty="0"/>
          </a:p>
        </p:txBody>
      </p:sp>
      <p:sp>
        <p:nvSpPr>
          <p:cNvPr id="11" name="Shape 8"/>
          <p:cNvSpPr/>
          <p:nvPr/>
        </p:nvSpPr>
        <p:spPr>
          <a:xfrm>
            <a:off x="685800" y="2601776"/>
            <a:ext cx="4766221" cy="0"/>
          </a:xfrm>
          <a:prstGeom prst="line">
            <a:avLst/>
          </a:prstGeom>
          <a:noFill/>
          <a:ln w="7144">
            <a:solidFill>
              <a:srgbClr val="E3E6EE"/>
            </a:solidFill>
            <a:prstDash val="dash"/>
          </a:ln>
        </p:spPr>
      </p:sp>
      <p:sp>
        <p:nvSpPr>
          <p:cNvPr id="12" name="Text 9"/>
          <p:cNvSpPr/>
          <p:nvPr/>
        </p:nvSpPr>
        <p:spPr>
          <a:xfrm>
            <a:off x="685800" y="2206079"/>
            <a:ext cx="1811164" cy="345082"/>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1.</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Compute marginal utilities (partial derivatives of U):</a:t>
            </a:r>
            <a:endParaRPr lang="en-US" sz="800" dirty="0"/>
          </a:p>
        </p:txBody>
      </p:sp>
      <p:pic>
        <p:nvPicPr>
          <p:cNvPr id="13" name="Image 1" descr="/tmp/h2p-svg-1781853764868-h860mf.png">    </p:cNvPr>
          <p:cNvPicPr>
            <a:picLocks noChangeAspect="1"/>
          </p:cNvPicPr>
          <p:nvPr/>
        </p:nvPicPr>
        <p:blipFill>
          <a:blip r:embed="rId2"/>
          <a:stretch>
            <a:fillRect/>
          </a:stretch>
        </p:blipFill>
        <p:spPr>
          <a:xfrm>
            <a:off x="2648210" y="2243919"/>
            <a:ext cx="2795327" cy="295015"/>
          </a:xfrm>
          <a:prstGeom prst="rect">
            <a:avLst/>
          </a:prstGeom>
        </p:spPr>
      </p:pic>
      <p:sp>
        <p:nvSpPr>
          <p:cNvPr id="14" name="Shape 10"/>
          <p:cNvSpPr/>
          <p:nvPr/>
        </p:nvSpPr>
        <p:spPr>
          <a:xfrm>
            <a:off x="685800" y="3037098"/>
            <a:ext cx="4766221" cy="0"/>
          </a:xfrm>
          <a:prstGeom prst="line">
            <a:avLst/>
          </a:prstGeom>
          <a:noFill/>
          <a:ln w="7144">
            <a:solidFill>
              <a:srgbClr val="E3E6EE"/>
            </a:solidFill>
            <a:prstDash val="dash"/>
          </a:ln>
        </p:spPr>
      </p:sp>
      <p:sp>
        <p:nvSpPr>
          <p:cNvPr id="15" name="Text 11"/>
          <p:cNvSpPr/>
          <p:nvPr/>
        </p:nvSpPr>
        <p:spPr>
          <a:xfrm>
            <a:off x="685800" y="2633923"/>
            <a:ext cx="1811164" cy="345082"/>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2.</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The Marginal Rate of Substitution (MRS) is their ratio:</a:t>
            </a:r>
            <a:endParaRPr lang="en-US" sz="800" dirty="0"/>
          </a:p>
        </p:txBody>
      </p:sp>
      <p:pic>
        <p:nvPicPr>
          <p:cNvPr id="16" name="Image 2" descr="/tmp/h2p-svg-1781853764868-cnnhk0.png">    </p:cNvPr>
          <p:cNvPicPr>
            <a:picLocks noChangeAspect="1"/>
          </p:cNvPicPr>
          <p:nvPr/>
        </p:nvPicPr>
        <p:blipFill>
          <a:blip r:embed="rId3"/>
          <a:stretch>
            <a:fillRect/>
          </a:stretch>
        </p:blipFill>
        <p:spPr>
          <a:xfrm>
            <a:off x="3383793" y="2671763"/>
            <a:ext cx="1324161" cy="302493"/>
          </a:xfrm>
          <a:prstGeom prst="rect">
            <a:avLst/>
          </a:prstGeom>
        </p:spPr>
      </p:pic>
      <p:sp>
        <p:nvSpPr>
          <p:cNvPr id="17" name="Shape 12"/>
          <p:cNvSpPr/>
          <p:nvPr/>
        </p:nvSpPr>
        <p:spPr>
          <a:xfrm>
            <a:off x="685800" y="3341377"/>
            <a:ext cx="4766221" cy="0"/>
          </a:xfrm>
          <a:prstGeom prst="line">
            <a:avLst/>
          </a:prstGeom>
          <a:noFill/>
          <a:ln w="7144">
            <a:solidFill>
              <a:srgbClr val="E3E6EE"/>
            </a:solidFill>
            <a:prstDash val="dash"/>
          </a:ln>
        </p:spPr>
      </p:sp>
      <p:sp>
        <p:nvSpPr>
          <p:cNvPr id="18" name="Text 13"/>
          <p:cNvSpPr/>
          <p:nvPr/>
        </p:nvSpPr>
        <p:spPr>
          <a:xfrm>
            <a:off x="685800" y="3069245"/>
            <a:ext cx="1811164" cy="247129"/>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3.</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The total differential of U (the multivariable chain rule):</a:t>
            </a:r>
            <a:endParaRPr lang="en-US" sz="800" dirty="0"/>
          </a:p>
        </p:txBody>
      </p:sp>
      <p:pic>
        <p:nvPicPr>
          <p:cNvPr id="19" name="Image 3" descr="/tmp/h2p-svg-1781853764869-wklssb.png">    </p:cNvPr>
          <p:cNvPicPr>
            <a:picLocks noChangeAspect="1"/>
          </p:cNvPicPr>
          <p:nvPr/>
        </p:nvPicPr>
        <p:blipFill>
          <a:blip r:embed="rId4"/>
          <a:stretch>
            <a:fillRect/>
          </a:stretch>
        </p:blipFill>
        <p:spPr>
          <a:xfrm>
            <a:off x="2587042" y="3107085"/>
            <a:ext cx="2917775" cy="154930"/>
          </a:xfrm>
          <a:prstGeom prst="rect">
            <a:avLst/>
          </a:prstGeom>
        </p:spPr>
      </p:pic>
      <p:sp>
        <p:nvSpPr>
          <p:cNvPr id="20" name="Shape 14"/>
          <p:cNvSpPr/>
          <p:nvPr/>
        </p:nvSpPr>
        <p:spPr>
          <a:xfrm>
            <a:off x="685800" y="3747790"/>
            <a:ext cx="4766221" cy="0"/>
          </a:xfrm>
          <a:prstGeom prst="line">
            <a:avLst/>
          </a:prstGeom>
          <a:noFill/>
          <a:ln w="7144">
            <a:solidFill>
              <a:srgbClr val="E3E6EE"/>
            </a:solidFill>
            <a:prstDash val="dash"/>
          </a:ln>
        </p:spPr>
      </p:sp>
      <p:sp>
        <p:nvSpPr>
          <p:cNvPr id="21" name="Text 15"/>
          <p:cNvSpPr/>
          <p:nvPr/>
        </p:nvSpPr>
        <p:spPr>
          <a:xfrm>
            <a:off x="685800" y="3373524"/>
            <a:ext cx="1811164" cy="349262"/>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4.</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Along an indifference curve, utility is constant, so dU = 0. This gives the exact ODE:</a:t>
            </a:r>
            <a:endParaRPr lang="en-US" sz="800" dirty="0"/>
          </a:p>
        </p:txBody>
      </p:sp>
      <p:pic>
        <p:nvPicPr>
          <p:cNvPr id="22" name="Image 4" descr="/tmp/h2p-svg-1781853764870-lha9d0.png">    </p:cNvPr>
          <p:cNvPicPr>
            <a:picLocks noChangeAspect="1"/>
          </p:cNvPicPr>
          <p:nvPr/>
        </p:nvPicPr>
        <p:blipFill>
          <a:blip r:embed="rId5"/>
          <a:stretch>
            <a:fillRect/>
          </a:stretch>
        </p:blipFill>
        <p:spPr>
          <a:xfrm>
            <a:off x="3244155" y="3411364"/>
            <a:ext cx="1603549" cy="143321"/>
          </a:xfrm>
          <a:prstGeom prst="rect">
            <a:avLst/>
          </a:prstGeom>
        </p:spPr>
      </p:pic>
      <p:sp>
        <p:nvSpPr>
          <p:cNvPr id="23" name="Text 16"/>
          <p:cNvSpPr/>
          <p:nvPr/>
        </p:nvSpPr>
        <p:spPr>
          <a:xfrm>
            <a:off x="685800" y="3779937"/>
            <a:ext cx="1811164" cy="418026"/>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5.</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Verify exactness (with M = a x</a:t>
            </a:r>
            <a:pPr algn="r" indent="0" marL="0">
              <a:lnSpc>
                <a:spcPts val="804"/>
              </a:lnSpc>
              <a:buNone/>
            </a:pPr>
            <a:r>
              <a:rPr lang="en-US" sz="800" i="1" baseline="30000" dirty="0">
                <a:solidFill>
                  <a:srgbClr val="4A5160"/>
                </a:solidFill>
                <a:latin typeface="Liberation Sans Narrow" pitchFamily="34" charset="0"/>
                <a:ea typeface="Liberation Sans Narrow" pitchFamily="34" charset="-122"/>
                <a:cs typeface="Liberation Sans Narrow" pitchFamily="34" charset="-120"/>
              </a:rPr>
              <a:t>a−1</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y</a:t>
            </a:r>
            <a:pPr algn="r" indent="0" marL="0">
              <a:lnSpc>
                <a:spcPts val="804"/>
              </a:lnSpc>
              <a:buNone/>
            </a:pPr>
            <a:r>
              <a:rPr lang="en-US" sz="800" i="1" baseline="30000" dirty="0">
                <a:solidFill>
                  <a:srgbClr val="4A5160"/>
                </a:solidFill>
                <a:latin typeface="Carlito" pitchFamily="34" charset="0"/>
                <a:ea typeface="Carlito" pitchFamily="34" charset="-122"/>
                <a:cs typeface="Carlito" pitchFamily="34" charset="-120"/>
              </a:rPr>
              <a:t>b</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and N = b x</a:t>
            </a:r>
            <a:pPr algn="r" indent="0" marL="0">
              <a:lnSpc>
                <a:spcPts val="804"/>
              </a:lnSpc>
              <a:buNone/>
            </a:pPr>
            <a:r>
              <a:rPr lang="en-US" sz="800" i="1" baseline="30000" dirty="0">
                <a:solidFill>
                  <a:srgbClr val="4A5160"/>
                </a:solidFill>
                <a:latin typeface="Carlito" pitchFamily="34" charset="0"/>
                <a:ea typeface="Carlito" pitchFamily="34" charset="-122"/>
                <a:cs typeface="Carlito" pitchFamily="34" charset="-120"/>
              </a:rPr>
              <a:t>a</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y</a:t>
            </a:r>
            <a:pPr algn="r" indent="0" marL="0">
              <a:lnSpc>
                <a:spcPts val="804"/>
              </a:lnSpc>
              <a:buNone/>
            </a:pPr>
            <a:r>
              <a:rPr lang="en-US" sz="800" i="1" baseline="30000" dirty="0">
                <a:solidFill>
                  <a:srgbClr val="4A5160"/>
                </a:solidFill>
                <a:latin typeface="Liberation Sans Narrow" pitchFamily="34" charset="0"/>
                <a:ea typeface="Liberation Sans Narrow" pitchFamily="34" charset="-122"/>
                <a:cs typeface="Liberation Sans Narrow" pitchFamily="34" charset="-120"/>
              </a:rPr>
              <a:t>b−1</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a:t>
            </a:r>
            <a:endParaRPr lang="en-US" sz="800" dirty="0"/>
          </a:p>
        </p:txBody>
      </p:sp>
      <p:pic>
        <p:nvPicPr>
          <p:cNvPr id="24" name="Image 5" descr="/tmp/h2p-svg-1781853764870-e09sbw.png">    </p:cNvPr>
          <p:cNvPicPr>
            <a:picLocks noChangeAspect="1"/>
          </p:cNvPicPr>
          <p:nvPr/>
        </p:nvPicPr>
        <p:blipFill>
          <a:blip r:embed="rId6"/>
          <a:stretch>
            <a:fillRect/>
          </a:stretch>
        </p:blipFill>
        <p:spPr>
          <a:xfrm>
            <a:off x="2980730" y="3817776"/>
            <a:ext cx="2130400" cy="154930"/>
          </a:xfrm>
          <a:prstGeom prst="rect">
            <a:avLst/>
          </a:prstGeom>
        </p:spPr>
      </p:pic>
      <p:pic>
        <p:nvPicPr>
          <p:cNvPr id="25" name="Image 6" descr="/tmp/h2p-svg-1781853764870-lgn32i.png">    </p:cNvPr>
          <p:cNvPicPr>
            <a:picLocks noChangeAspect="1"/>
          </p:cNvPicPr>
          <p:nvPr/>
        </p:nvPicPr>
        <p:blipFill>
          <a:blip r:embed="rId7"/>
          <a:stretch>
            <a:fillRect/>
          </a:stretch>
        </p:blipFill>
        <p:spPr>
          <a:xfrm>
            <a:off x="3317937" y="4023271"/>
            <a:ext cx="1455874" cy="129369"/>
          </a:xfrm>
          <a:prstGeom prst="rect">
            <a:avLst/>
          </a:prstGeom>
        </p:spPr>
      </p:pic>
      <p:sp>
        <p:nvSpPr>
          <p:cNvPr id="26" name="Text 17"/>
          <p:cNvSpPr/>
          <p:nvPr/>
        </p:nvSpPr>
        <p:spPr>
          <a:xfrm>
            <a:off x="5566321" y="2038201"/>
            <a:ext cx="3177518" cy="2032062"/>
          </a:xfrm>
          <a:prstGeom prst="roundRect">
            <a:avLst>
              <a:gd name="adj" fmla="val 1875"/>
            </a:avLst>
          </a:prstGeom>
          <a:solidFill>
            <a:srgbClr val="F6F7FB"/>
          </a:solidFill>
          <a:ln/>
        </p:spPr>
        <p:txBody>
          <a:bodyPr wrap="square" rtlCol="0" anchor="ctr"/>
          <a:lstStyle/>
          <a:p>
            <a:pPr indent="0" marL="0">
              <a:buNone/>
            </a:pPr>
            <a:endParaRPr lang="en-US" dirty="0"/>
          </a:p>
        </p:txBody>
      </p:sp>
      <p:sp>
        <p:nvSpPr>
          <p:cNvPr id="27" name="Shape 18"/>
          <p:cNvSpPr/>
          <p:nvPr/>
        </p:nvSpPr>
        <p:spPr>
          <a:xfrm>
            <a:off x="5580608" y="2038201"/>
            <a:ext cx="0" cy="2032062"/>
          </a:xfrm>
          <a:prstGeom prst="line">
            <a:avLst/>
          </a:prstGeom>
          <a:noFill/>
          <a:ln w="28575">
            <a:solidFill>
              <a:srgbClr val="1F61C9"/>
            </a:solidFill>
            <a:prstDash val="solid"/>
          </a:ln>
        </p:spPr>
      </p:sp>
      <p:sp>
        <p:nvSpPr>
          <p:cNvPr id="28" name="Text 19"/>
          <p:cNvSpPr/>
          <p:nvPr/>
        </p:nvSpPr>
        <p:spPr>
          <a:xfrm>
            <a:off x="5694908" y="2109639"/>
            <a:ext cx="2948918" cy="104727"/>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ECONOMIC INTUITION</a:t>
            </a:r>
            <a:endParaRPr lang="en-US" sz="800" dirty="0"/>
          </a:p>
        </p:txBody>
      </p:sp>
      <p:sp>
        <p:nvSpPr>
          <p:cNvPr id="29" name="Text 20"/>
          <p:cNvSpPr/>
          <p:nvPr/>
        </p:nvSpPr>
        <p:spPr>
          <a:xfrm>
            <a:off x="5694908" y="2241798"/>
            <a:ext cx="2948918" cy="389696"/>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The MRS measures the rate at which the consumer is willing to trade good 2 for good 1 while remaining equally satisfied. A high MRS means the consumer values good 1 highly relative to good 2.</a:t>
            </a:r>
            <a:endParaRPr lang="en-US" sz="800" dirty="0"/>
          </a:p>
        </p:txBody>
      </p:sp>
      <p:sp>
        <p:nvSpPr>
          <p:cNvPr id="30" name="Text 21"/>
          <p:cNvSpPr/>
          <p:nvPr/>
        </p:nvSpPr>
        <p:spPr>
          <a:xfrm>
            <a:off x="5694908" y="2658926"/>
            <a:ext cx="2948918" cy="104727"/>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WHY EXACT?</a:t>
            </a:r>
            <a:endParaRPr lang="en-US" sz="800" dirty="0"/>
          </a:p>
        </p:txBody>
      </p:sp>
      <p:sp>
        <p:nvSpPr>
          <p:cNvPr id="31" name="Text 22"/>
          <p:cNvSpPr/>
          <p:nvPr/>
        </p:nvSpPr>
        <p:spPr>
          <a:xfrm>
            <a:off x="5694908" y="2791085"/>
            <a:ext cx="2948918" cy="546747"/>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Utility U is the potential function. The exact equation MU</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dx + MU</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dy = 0 is just dU = 0 along level curves — i.e. the ODE of the indifference curves. The exactness condition M</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 N</a:t>
            </a:r>
            <a:pPr algn="l" indent="0" marL="0">
              <a:lnSpc>
                <a:spcPts val="945"/>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holds automatically because mixed partials of U are equal (Clairaut).</a:t>
            </a:r>
            <a:endParaRPr lang="en-US" sz="800" dirty="0"/>
          </a:p>
        </p:txBody>
      </p:sp>
      <p:sp>
        <p:nvSpPr>
          <p:cNvPr id="32" name="Text 23"/>
          <p:cNvSpPr/>
          <p:nvPr/>
        </p:nvSpPr>
        <p:spPr>
          <a:xfrm>
            <a:off x="5694908" y="3365264"/>
            <a:ext cx="2948918" cy="104727"/>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COBB-DOUGLAS</a:t>
            </a:r>
            <a:endParaRPr lang="en-US" sz="800" dirty="0"/>
          </a:p>
        </p:txBody>
      </p:sp>
      <p:sp>
        <p:nvSpPr>
          <p:cNvPr id="33" name="Text 24"/>
          <p:cNvSpPr/>
          <p:nvPr/>
        </p:nvSpPr>
        <p:spPr>
          <a:xfrm>
            <a:off x="5694908" y="3497424"/>
            <a:ext cx="2948918" cy="501402"/>
          </a:xfrm>
          <a:prstGeom prst="rect">
            <a:avLst/>
          </a:prstGeom>
          <a:noFill/>
          <a:ln/>
        </p:spPr>
        <p:txBody>
          <a:bodyPr wrap="square" lIns="0" tIns="0" rIns="0" bIns="0" rtlCol="0" anchor="t"/>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The Cobb-Douglas form x</a:t>
            </a:r>
            <a:pPr algn="l" indent="0" marL="0">
              <a:lnSpc>
                <a:spcPts val="945"/>
              </a:lnSpc>
              <a:buNone/>
            </a:pPr>
            <a:r>
              <a:rPr lang="en-US" sz="800" baseline="30000" dirty="0">
                <a:solidFill>
                  <a:srgbClr val="14171F"/>
                </a:solidFill>
                <a:latin typeface="Carlito" pitchFamily="34" charset="0"/>
                <a:ea typeface="Carlito" pitchFamily="34" charset="-122"/>
                <a:cs typeface="Carlito" pitchFamily="34" charset="-120"/>
              </a:rPr>
              <a:t>a</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y</a:t>
            </a:r>
            <a:pPr algn="l" indent="0" marL="0">
              <a:lnSpc>
                <a:spcPts val="945"/>
              </a:lnSpc>
              <a:buNone/>
            </a:pPr>
            <a:r>
              <a:rPr lang="en-US" sz="800" baseline="30000" dirty="0">
                <a:solidFill>
                  <a:srgbClr val="14171F"/>
                </a:solidFill>
                <a:latin typeface="Carlito" pitchFamily="34" charset="0"/>
                <a:ea typeface="Carlito" pitchFamily="34" charset="-122"/>
                <a:cs typeface="Carlito" pitchFamily="34" charset="-120"/>
              </a:rPr>
              <a:t>b</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is the workhorse of consumer theory. It captures diminishing marginal utility and a constant elasticity of substitution, and its indifference curves are smooth, convex, and asymptotic to both axes.</a:t>
            </a:r>
            <a:endParaRPr lang="en-US" sz="800" dirty="0"/>
          </a:p>
        </p:txBody>
      </p:sp>
      <p:sp>
        <p:nvSpPr>
          <p:cNvPr id="34" name="Text 25"/>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20 / 38</a:t>
            </a:r>
            <a:endParaRPr lang="en-US" sz="800" dirty="0"/>
          </a:p>
        </p:txBody>
      </p:sp>
      <p:pic>
        <p:nvPicPr>
          <p:cNvPr id="35" name="Image 7" descr="preencoded.png">    </p:cNvPr>
          <p:cNvPicPr>
            <a:picLocks noChangeAspect="1"/>
          </p:cNvPicPr>
          <p:nvPr/>
        </p:nvPicPr>
        <p:blipFill>
          <a:blip r:embed="rId8"/>
          <a:stretch>
            <a:fillRect/>
          </a:stretch>
        </p:blipFill>
        <p:spPr>
          <a:xfrm>
            <a:off x="0" y="0"/>
            <a:ext cx="17145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3728033"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Carlito" pitchFamily="34" charset="0"/>
                <a:ea typeface="Carlito" pitchFamily="34" charset="-122"/>
                <a:cs typeface="Carlito" pitchFamily="34" charset="-120"/>
              </a:rPr>
              <a:t>MODULE 3 · APPLICATION — MICROECONOMICS</a:t>
            </a:r>
            <a:endParaRPr lang="en-US" sz="844" dirty="0"/>
          </a:p>
        </p:txBody>
      </p:sp>
      <p:sp>
        <p:nvSpPr>
          <p:cNvPr id="3" name="Text 1"/>
          <p:cNvSpPr/>
          <p:nvPr/>
        </p:nvSpPr>
        <p:spPr>
          <a:xfrm>
            <a:off x="685800" y="716161"/>
            <a:ext cx="8458200" cy="206861"/>
          </a:xfrm>
          <a:prstGeom prst="rect">
            <a:avLst/>
          </a:prstGeom>
          <a:noFill/>
          <a:ln/>
        </p:spPr>
        <p:txBody>
          <a:bodyPr wrap="square" lIns="0" tIns="0" rIns="0" bIns="0" rtlCol="0" anchor="t">
            <a:normAutofit/>
          </a:bodyPr>
          <a:lstStyle/>
          <a:p>
            <a:pPr algn="l" indent="0" marL="0">
              <a:lnSpc>
                <a:spcPts val="1733"/>
              </a:lnSpc>
              <a:buNone/>
            </a:pPr>
            <a:r>
              <a:rPr lang="en-US" sz="1575" b="1" spc="-19" kern="0" dirty="0">
                <a:solidFill>
                  <a:srgbClr val="1A2A4F"/>
                </a:solidFill>
                <a:latin typeface="Carlito" pitchFamily="34" charset="0"/>
                <a:ea typeface="Carlito" pitchFamily="34" charset="-122"/>
                <a:cs typeface="Carlito" pitchFamily="34" charset="-120"/>
              </a:rPr>
              <a:t>Indifference Curves — Solve &amp; Interpret</a:t>
            </a:r>
            <a:endParaRPr lang="en-US" sz="1575" dirty="0"/>
          </a:p>
        </p:txBody>
      </p:sp>
      <p:sp>
        <p:nvSpPr>
          <p:cNvPr id="4" name="Text 2"/>
          <p:cNvSpPr/>
          <p:nvPr/>
        </p:nvSpPr>
        <p:spPr>
          <a:xfrm>
            <a:off x="685800" y="950454"/>
            <a:ext cx="8458200" cy="173593"/>
          </a:xfrm>
          <a:prstGeom prst="rect">
            <a:avLst/>
          </a:prstGeom>
          <a:noFill/>
          <a:ln/>
        </p:spPr>
        <p:txBody>
          <a:bodyPr wrap="square" lIns="0" tIns="0" rIns="0" bIns="0" rtlCol="0" anchor="t"/>
          <a:lstStyle/>
          <a:p>
            <a:pPr algn="l" indent="0" marL="0">
              <a:lnSpc>
                <a:spcPts val="1266"/>
              </a:lnSpc>
              <a:buNone/>
            </a:pPr>
            <a:r>
              <a:rPr lang="en-US" sz="844" i="1" dirty="0">
                <a:solidFill>
                  <a:srgbClr val="1F61C9"/>
                </a:solidFill>
                <a:latin typeface="Carlito" pitchFamily="34" charset="0"/>
                <a:ea typeface="Carlito" pitchFamily="34" charset="-122"/>
                <a:cs typeface="Carlito" pitchFamily="34" charset="-120"/>
              </a:rPr>
              <a:t>From Potential to Prediction</a:t>
            </a:r>
            <a:endParaRPr lang="en-US" sz="844" dirty="0"/>
          </a:p>
        </p:txBody>
      </p:sp>
      <p:sp>
        <p:nvSpPr>
          <p:cNvPr id="5" name="Text 3"/>
          <p:cNvSpPr/>
          <p:nvPr/>
        </p:nvSpPr>
        <p:spPr>
          <a:xfrm>
            <a:off x="685800" y="1168338"/>
            <a:ext cx="7943850" cy="369689"/>
          </a:xfrm>
          <a:prstGeom prst="roundRect">
            <a:avLst>
              <a:gd name="adj" fmla="val 10306"/>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68338"/>
            <a:ext cx="0" cy="369689"/>
          </a:xfrm>
          <a:prstGeom prst="line">
            <a:avLst/>
          </a:prstGeom>
          <a:noFill/>
          <a:ln w="28575">
            <a:solidFill>
              <a:srgbClr val="1F61C9"/>
            </a:solidFill>
            <a:prstDash val="solid"/>
          </a:ln>
        </p:spPr>
      </p:sp>
      <p:sp>
        <p:nvSpPr>
          <p:cNvPr id="7" name="Text 5"/>
          <p:cNvSpPr/>
          <p:nvPr/>
        </p:nvSpPr>
        <p:spPr>
          <a:xfrm>
            <a:off x="814388" y="1211200"/>
            <a:ext cx="7824978" cy="97584"/>
          </a:xfrm>
          <a:prstGeom prst="rect">
            <a:avLst/>
          </a:prstGeom>
          <a:noFill/>
          <a:ln/>
        </p:spPr>
        <p:txBody>
          <a:bodyPr wrap="squar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RECALL FROM THE PREVIOUS SLIDE</a:t>
            </a:r>
            <a:endParaRPr lang="en-US" sz="800" dirty="0"/>
          </a:p>
        </p:txBody>
      </p:sp>
      <p:pic>
        <p:nvPicPr>
          <p:cNvPr id="8" name="Image 0" descr="/tmp/h2p-svg-1781853764947-6z5gvg.png">    </p:cNvPr>
          <p:cNvPicPr>
            <a:picLocks noChangeAspect="1"/>
          </p:cNvPicPr>
          <p:nvPr/>
        </p:nvPicPr>
        <p:blipFill>
          <a:blip r:embed="rId1"/>
          <a:stretch>
            <a:fillRect/>
          </a:stretch>
        </p:blipFill>
        <p:spPr>
          <a:xfrm>
            <a:off x="3287576" y="1336216"/>
            <a:ext cx="2768873" cy="149126"/>
          </a:xfrm>
          <a:prstGeom prst="rect">
            <a:avLst/>
          </a:prstGeom>
        </p:spPr>
      </p:pic>
      <p:sp>
        <p:nvSpPr>
          <p:cNvPr id="9" name="Text 6"/>
          <p:cNvSpPr/>
          <p:nvPr/>
        </p:nvSpPr>
        <p:spPr>
          <a:xfrm>
            <a:off x="685800" y="1602321"/>
            <a:ext cx="8458200" cy="111871"/>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SOLVE THE EXACT EQUATION</a:t>
            </a:r>
            <a:endParaRPr lang="en-US" sz="800" dirty="0"/>
          </a:p>
        </p:txBody>
      </p:sp>
      <p:sp>
        <p:nvSpPr>
          <p:cNvPr id="10" name="Text 7"/>
          <p:cNvSpPr/>
          <p:nvPr/>
        </p:nvSpPr>
        <p:spPr>
          <a:xfrm>
            <a:off x="685800" y="1755911"/>
            <a:ext cx="3018569" cy="238939"/>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1.</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Integrate M = a x</a:t>
            </a:r>
            <a:pPr algn="r" indent="0" marL="0">
              <a:lnSpc>
                <a:spcPts val="804"/>
              </a:lnSpc>
              <a:buNone/>
            </a:pPr>
            <a:r>
              <a:rPr lang="en-US" sz="800" i="1" baseline="30000" dirty="0">
                <a:solidFill>
                  <a:srgbClr val="4A5160"/>
                </a:solidFill>
                <a:latin typeface="Liberation Sans Narrow" pitchFamily="34" charset="0"/>
                <a:ea typeface="Liberation Sans Narrow" pitchFamily="34" charset="-122"/>
                <a:cs typeface="Liberation Sans Narrow" pitchFamily="34" charset="-120"/>
              </a:rPr>
              <a:t>a−1</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y</a:t>
            </a:r>
            <a:pPr algn="r" indent="0" marL="0">
              <a:lnSpc>
                <a:spcPts val="804"/>
              </a:lnSpc>
              <a:buNone/>
            </a:pPr>
            <a:r>
              <a:rPr lang="en-US" sz="800" i="1" baseline="30000" dirty="0">
                <a:solidFill>
                  <a:srgbClr val="4A5160"/>
                </a:solidFill>
                <a:latin typeface="Carlito" pitchFamily="34" charset="0"/>
                <a:ea typeface="Carlito" pitchFamily="34" charset="-122"/>
                <a:cs typeface="Carlito" pitchFamily="34" charset="-120"/>
              </a:rPr>
              <a:t>b</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with respect to x:</a:t>
            </a:r>
            <a:endParaRPr lang="en-US" sz="800" dirty="0"/>
          </a:p>
        </p:txBody>
      </p:sp>
      <p:pic>
        <p:nvPicPr>
          <p:cNvPr id="11" name="Image 1" descr="/tmp/h2p-svg-1781853764947-s4tac1.png">    </p:cNvPr>
          <p:cNvPicPr>
            <a:picLocks noChangeAspect="1"/>
          </p:cNvPicPr>
          <p:nvPr/>
        </p:nvPicPr>
        <p:blipFill>
          <a:blip r:embed="rId2"/>
          <a:stretch>
            <a:fillRect/>
          </a:stretch>
        </p:blipFill>
        <p:spPr>
          <a:xfrm>
            <a:off x="5174977" y="1755911"/>
            <a:ext cx="2126717" cy="287201"/>
          </a:xfrm>
          <a:prstGeom prst="rect">
            <a:avLst/>
          </a:prstGeom>
        </p:spPr>
      </p:pic>
      <p:sp>
        <p:nvSpPr>
          <p:cNvPr id="12" name="Text 8"/>
          <p:cNvSpPr/>
          <p:nvPr/>
        </p:nvSpPr>
        <p:spPr>
          <a:xfrm>
            <a:off x="685800" y="2071688"/>
            <a:ext cx="3018569" cy="202467"/>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2.</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Differentiate in y and match to N:</a:t>
            </a:r>
            <a:endParaRPr lang="en-US" sz="800" dirty="0"/>
          </a:p>
        </p:txBody>
      </p:sp>
      <p:pic>
        <p:nvPicPr>
          <p:cNvPr id="13" name="Image 2" descr="/tmp/h2p-svg-1781853764947-ylsn0y.png">    </p:cNvPr>
          <p:cNvPicPr>
            <a:picLocks noChangeAspect="1"/>
          </p:cNvPicPr>
          <p:nvPr/>
        </p:nvPicPr>
        <p:blipFill>
          <a:blip r:embed="rId3"/>
          <a:stretch>
            <a:fillRect/>
          </a:stretch>
        </p:blipFill>
        <p:spPr>
          <a:xfrm>
            <a:off x="5202994" y="2071688"/>
            <a:ext cx="2070795" cy="330622"/>
          </a:xfrm>
          <a:prstGeom prst="rect">
            <a:avLst/>
          </a:prstGeom>
        </p:spPr>
      </p:pic>
      <p:sp>
        <p:nvSpPr>
          <p:cNvPr id="14" name="Text 9"/>
          <p:cNvSpPr/>
          <p:nvPr/>
        </p:nvSpPr>
        <p:spPr>
          <a:xfrm>
            <a:off x="685800" y="2430884"/>
            <a:ext cx="3018569" cy="202467"/>
          </a:xfrm>
          <a:prstGeom prst="rect">
            <a:avLst/>
          </a:prstGeom>
          <a:noFill/>
          <a:ln/>
        </p:spPr>
        <p:txBody>
          <a:bodyPr wrap="square" lIns="0" tIns="42863" rIns="28575" bIns="0" rtlCol="0" anchor="t"/>
          <a:lstStyle/>
          <a:p>
            <a:pPr algn="r" indent="0" marL="0">
              <a:lnSpc>
                <a:spcPts val="804"/>
              </a:lnSpc>
              <a:buNone/>
            </a:pPr>
            <a:r>
              <a:rPr lang="en-US" sz="800" b="1" i="1" spc="25" kern="0" dirty="0">
                <a:solidFill>
                  <a:srgbClr val="1A2A4F"/>
                </a:solidFill>
                <a:latin typeface="Liberation Sans Narrow" pitchFamily="34" charset="0"/>
                <a:ea typeface="Liberation Sans Narrow" pitchFamily="34" charset="-122"/>
                <a:cs typeface="Liberation Sans Narrow" pitchFamily="34" charset="-120"/>
              </a:rPr>
              <a:t>Step 3.</a:t>
            </a:r>
            <a:pPr algn="r" indent="0" marL="0">
              <a:lnSpc>
                <a:spcPts val="804"/>
              </a:lnSpc>
              <a:buNone/>
            </a:pPr>
            <a:r>
              <a:rPr lang="en-US" sz="800" i="1" dirty="0">
                <a:solidFill>
                  <a:srgbClr val="4A5160"/>
                </a:solidFill>
                <a:latin typeface="Carlito" pitchFamily="34" charset="0"/>
                <a:ea typeface="Carlito" pitchFamily="34" charset="-122"/>
                <a:cs typeface="Carlito" pitchFamily="34" charset="-120"/>
              </a:rPr>
              <a:t> The potential is the utility function itself (as expected):</a:t>
            </a:r>
            <a:endParaRPr lang="en-US" sz="800" dirty="0"/>
          </a:p>
        </p:txBody>
      </p:sp>
      <p:pic>
        <p:nvPicPr>
          <p:cNvPr id="15" name="Image 3" descr="/tmp/h2p-svg-1781853764947-e2uzyo.png">    </p:cNvPr>
          <p:cNvPicPr>
            <a:picLocks noChangeAspect="1"/>
          </p:cNvPicPr>
          <p:nvPr/>
        </p:nvPicPr>
        <p:blipFill>
          <a:blip r:embed="rId4"/>
          <a:stretch>
            <a:fillRect/>
          </a:stretch>
        </p:blipFill>
        <p:spPr>
          <a:xfrm>
            <a:off x="5549354" y="2430884"/>
            <a:ext cx="1377962" cy="149126"/>
          </a:xfrm>
          <a:prstGeom prst="rect">
            <a:avLst/>
          </a:prstGeom>
        </p:spPr>
      </p:pic>
      <p:sp>
        <p:nvSpPr>
          <p:cNvPr id="16" name="Text 10"/>
          <p:cNvSpPr/>
          <p:nvPr/>
        </p:nvSpPr>
        <p:spPr>
          <a:xfrm>
            <a:off x="368046" y="2646983"/>
            <a:ext cx="8579358" cy="101156"/>
          </a:xfrm>
          <a:prstGeom prst="rect">
            <a:avLst/>
          </a:prstGeom>
          <a:noFill/>
          <a:ln/>
        </p:spPr>
        <p:txBody>
          <a:bodyPr wrap="square" lIns="0" tIns="0" rIns="0" bIns="0" rtlCol="0" anchor="t">
            <a:normAutofit/>
          </a:bodyPr>
          <a:lstStyle/>
          <a:p>
            <a:pPr algn="ctr" indent="0" marL="0">
              <a:lnSpc>
                <a:spcPts val="844"/>
              </a:lnSpc>
              <a:buNone/>
            </a:pPr>
            <a:r>
              <a:rPr lang="en-US" sz="800" b="1" spc="113" kern="0" dirty="0">
                <a:solidFill>
                  <a:srgbClr val="E07B00"/>
                </a:solidFill>
                <a:latin typeface="Carlito" pitchFamily="34" charset="0"/>
                <a:ea typeface="Carlito" pitchFamily="34" charset="-122"/>
                <a:cs typeface="Carlito" pitchFamily="34" charset="-120"/>
              </a:rPr>
              <a:t>FINAL ANSWER — THE FAMILY OF INDIFFERENCE CURVES</a:t>
            </a:r>
            <a:endParaRPr lang="en-US" sz="800" dirty="0"/>
          </a:p>
        </p:txBody>
      </p:sp>
      <p:sp>
        <p:nvSpPr>
          <p:cNvPr id="17" name="Text 11"/>
          <p:cNvSpPr/>
          <p:nvPr/>
        </p:nvSpPr>
        <p:spPr>
          <a:xfrm>
            <a:off x="4263256" y="2779142"/>
            <a:ext cx="788826" cy="356406"/>
          </a:xfrm>
          <a:prstGeom prst="roundRect">
            <a:avLst>
              <a:gd name="adj" fmla="val 10690"/>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18" name="Image 4" descr="/tmp/h2p-svg-1781853764947-nt17so.png">    </p:cNvPr>
          <p:cNvPicPr>
            <a:picLocks noChangeAspect="1"/>
          </p:cNvPicPr>
          <p:nvPr/>
        </p:nvPicPr>
        <p:blipFill>
          <a:blip r:embed="rId5"/>
          <a:stretch>
            <a:fillRect/>
          </a:stretch>
        </p:blipFill>
        <p:spPr>
          <a:xfrm>
            <a:off x="4366840" y="2864979"/>
            <a:ext cx="581658" cy="161181"/>
          </a:xfrm>
          <a:prstGeom prst="rect">
            <a:avLst/>
          </a:prstGeom>
        </p:spPr>
      </p:pic>
      <p:sp>
        <p:nvSpPr>
          <p:cNvPr id="19" name="Text 12"/>
          <p:cNvSpPr/>
          <p:nvPr/>
        </p:nvSpPr>
        <p:spPr>
          <a:xfrm>
            <a:off x="685800" y="3203414"/>
            <a:ext cx="8458200" cy="111871"/>
          </a:xfrm>
          <a:prstGeom prst="rect">
            <a:avLst/>
          </a:prstGeom>
          <a:noFill/>
          <a:ln/>
        </p:spPr>
        <p:txBody>
          <a:bodyPr wrap="squar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APPLICATION — A SPECIFIC BUNDLE</a:t>
            </a:r>
            <a:endParaRPr lang="en-US" sz="800" dirty="0"/>
          </a:p>
        </p:txBody>
      </p:sp>
      <p:sp>
        <p:nvSpPr>
          <p:cNvPr id="20" name="Text 13"/>
          <p:cNvSpPr/>
          <p:nvPr/>
        </p:nvSpPr>
        <p:spPr>
          <a:xfrm>
            <a:off x="685800" y="3342717"/>
            <a:ext cx="4448547" cy="241128"/>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Take U(x, y) = √(x y), so a = b = ½. The consumer currently holds the bundle (4, 9), giving utility U = √36 = 6. How much of good 2 will the consumer give up for a small additional amount of good 1?</a:t>
            </a:r>
            <a:endParaRPr lang="en-US" sz="800" dirty="0"/>
          </a:p>
        </p:txBody>
      </p:sp>
      <p:sp>
        <p:nvSpPr>
          <p:cNvPr id="21" name="Text 14"/>
          <p:cNvSpPr/>
          <p:nvPr/>
        </p:nvSpPr>
        <p:spPr>
          <a:xfrm>
            <a:off x="685800" y="3611277"/>
            <a:ext cx="4448547" cy="307051"/>
          </a:xfrm>
          <a:prstGeom prst="rect">
            <a:avLst/>
          </a:prstGeom>
          <a:noFill/>
          <a:ln/>
        </p:spPr>
        <p:txBody>
          <a:bodyPr wrap="square" lIns="0" tIns="0" rIns="0" bIns="0" rtlCol="0" anchor="t"/>
          <a:lstStyle/>
          <a:p>
            <a:pPr algn="l" indent="0" marL="0">
              <a:lnSpc>
                <a:spcPts val="866"/>
              </a:lnSpc>
              <a:buNone/>
            </a:pPr>
            <a:r>
              <a:rPr lang="en-US" sz="800" i="1" dirty="0">
                <a:solidFill>
                  <a:srgbClr val="4A5160"/>
                </a:solidFill>
                <a:latin typeface="Tinos" pitchFamily="34" charset="0"/>
                <a:ea typeface="Tinos" pitchFamily="34" charset="-122"/>
                <a:cs typeface="Tinos" pitchFamily="34" charset="-120"/>
              </a:rPr>
              <a:t>So at the margin, the consumer is willing to give up 2.25 units of good 2 for 1 unit of good 1. For an infinitesimal trade dx, the change dy = −MRS · dx keeps the consumer on the same indifference curve.</a:t>
            </a:r>
            <a:endParaRPr lang="en-US" sz="800" dirty="0"/>
          </a:p>
        </p:txBody>
      </p:sp>
      <p:sp>
        <p:nvSpPr>
          <p:cNvPr id="22" name="Text 15"/>
          <p:cNvSpPr/>
          <p:nvPr/>
        </p:nvSpPr>
        <p:spPr>
          <a:xfrm>
            <a:off x="5234360" y="3342717"/>
            <a:ext cx="3495191" cy="576746"/>
          </a:xfrm>
          <a:prstGeom prst="roundRect">
            <a:avLst>
              <a:gd name="adj" fmla="val 6606"/>
            </a:avLst>
          </a:prstGeom>
          <a:solidFill>
            <a:srgbClr val="F3ECF8"/>
          </a:solidFill>
          <a:ln/>
        </p:spPr>
        <p:txBody>
          <a:bodyPr wrap="square" rtlCol="0" anchor="ctr"/>
          <a:lstStyle/>
          <a:p>
            <a:pPr indent="0" marL="0">
              <a:buNone/>
            </a:pPr>
            <a:endParaRPr lang="en-US" dirty="0"/>
          </a:p>
        </p:txBody>
      </p:sp>
      <p:sp>
        <p:nvSpPr>
          <p:cNvPr id="23" name="Shape 16"/>
          <p:cNvSpPr/>
          <p:nvPr/>
        </p:nvSpPr>
        <p:spPr>
          <a:xfrm>
            <a:off x="5248647" y="3342717"/>
            <a:ext cx="0" cy="576746"/>
          </a:xfrm>
          <a:prstGeom prst="line">
            <a:avLst/>
          </a:prstGeom>
          <a:noFill/>
          <a:ln w="28575">
            <a:solidFill>
              <a:srgbClr val="6B2FA0"/>
            </a:solidFill>
            <a:prstDash val="solid"/>
          </a:ln>
        </p:spPr>
      </p:sp>
      <p:sp>
        <p:nvSpPr>
          <p:cNvPr id="24" name="Text 17"/>
          <p:cNvSpPr/>
          <p:nvPr/>
        </p:nvSpPr>
        <p:spPr>
          <a:xfrm>
            <a:off x="5348660" y="3385579"/>
            <a:ext cx="3295166" cy="123368"/>
          </a:xfrm>
          <a:prstGeom prst="rect">
            <a:avLst/>
          </a:prstGeom>
          <a:noFill/>
          <a:ln/>
        </p:spPr>
        <p:txBody>
          <a:bodyPr wrap="none" lIns="0" tIns="0" rIns="0" bIns="0" rtlCol="0" anchor="t">
            <a:normAutofit/>
          </a:bodyPr>
          <a:lstStyle/>
          <a:p>
            <a:pPr algn="ctr" indent="0" marL="0">
              <a:lnSpc>
                <a:spcPts val="844"/>
              </a:lnSpc>
              <a:buNone/>
            </a:pPr>
            <a:r>
              <a:rPr lang="en-US" sz="800" b="1" spc="56" kern="0" dirty="0">
                <a:solidFill>
                  <a:srgbClr val="6B2FA0"/>
                </a:solidFill>
                <a:latin typeface="Liberation Sans Narrow" pitchFamily="34" charset="0"/>
                <a:ea typeface="Liberation Sans Narrow" pitchFamily="34" charset="-122"/>
                <a:cs typeface="Liberation Sans Narrow" pitchFamily="34" charset="-120"/>
              </a:rPr>
              <a:t>MRS AT (4, 9)</a:t>
            </a:r>
            <a:endParaRPr lang="en-US" sz="800" dirty="0"/>
          </a:p>
        </p:txBody>
      </p:sp>
      <p:pic>
        <p:nvPicPr>
          <p:cNvPr id="25" name="Image 5" descr="/tmp/h2p-svg-1781853764947-kleleo.png">    </p:cNvPr>
          <p:cNvPicPr>
            <a:picLocks noChangeAspect="1"/>
          </p:cNvPicPr>
          <p:nvPr/>
        </p:nvPicPr>
        <p:blipFill>
          <a:blip r:embed="rId6"/>
          <a:stretch>
            <a:fillRect/>
          </a:stretch>
        </p:blipFill>
        <p:spPr>
          <a:xfrm>
            <a:off x="6061360" y="3536379"/>
            <a:ext cx="1869653" cy="296577"/>
          </a:xfrm>
          <a:prstGeom prst="rect">
            <a:avLst/>
          </a:prstGeom>
        </p:spPr>
      </p:pic>
      <p:sp>
        <p:nvSpPr>
          <p:cNvPr id="26" name="Text 18"/>
          <p:cNvSpPr/>
          <p:nvPr/>
        </p:nvSpPr>
        <p:spPr>
          <a:xfrm>
            <a:off x="685800" y="3976613"/>
            <a:ext cx="7943850" cy="889285"/>
          </a:xfrm>
          <a:prstGeom prst="roundRect">
            <a:avLst>
              <a:gd name="adj" fmla="val 4284"/>
            </a:avLst>
          </a:prstGeom>
          <a:solidFill>
            <a:srgbClr val="FCEFD9"/>
          </a:solidFill>
          <a:ln/>
        </p:spPr>
        <p:txBody>
          <a:bodyPr wrap="square" rtlCol="0" anchor="ctr"/>
          <a:lstStyle/>
          <a:p>
            <a:pPr indent="0" marL="0">
              <a:buNone/>
            </a:pPr>
            <a:endParaRPr lang="en-US" dirty="0"/>
          </a:p>
        </p:txBody>
      </p:sp>
      <p:sp>
        <p:nvSpPr>
          <p:cNvPr id="27" name="Shape 19"/>
          <p:cNvSpPr/>
          <p:nvPr/>
        </p:nvSpPr>
        <p:spPr>
          <a:xfrm>
            <a:off x="700088" y="3976613"/>
            <a:ext cx="0" cy="889285"/>
          </a:xfrm>
          <a:prstGeom prst="line">
            <a:avLst/>
          </a:prstGeom>
          <a:noFill/>
          <a:ln w="28575">
            <a:solidFill>
              <a:srgbClr val="E07B00"/>
            </a:solidFill>
            <a:prstDash val="solid"/>
          </a:ln>
        </p:spPr>
      </p:sp>
      <p:sp>
        <p:nvSpPr>
          <p:cNvPr id="28" name="Text 20"/>
          <p:cNvSpPr/>
          <p:nvPr/>
        </p:nvSpPr>
        <p:spPr>
          <a:xfrm>
            <a:off x="814388" y="4026619"/>
            <a:ext cx="7715250" cy="111871"/>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E07B00"/>
                </a:solidFill>
                <a:latin typeface="Carlito" pitchFamily="34" charset="0"/>
                <a:ea typeface="Carlito" pitchFamily="34" charset="-122"/>
                <a:cs typeface="Carlito" pitchFamily="34" charset="-120"/>
              </a:rPr>
              <a:t>ECONOMIC INTERPRETATION</a:t>
            </a:r>
            <a:endParaRPr lang="en-US" sz="800" dirty="0"/>
          </a:p>
        </p:txBody>
      </p:sp>
      <p:sp>
        <p:nvSpPr>
          <p:cNvPr id="29" name="Text 21"/>
          <p:cNvSpPr/>
          <p:nvPr/>
        </p:nvSpPr>
        <p:spPr>
          <a:xfrm>
            <a:off x="814388" y="4165922"/>
            <a:ext cx="7715250" cy="106848"/>
          </a:xfrm>
          <a:prstGeom prst="rect">
            <a:avLst/>
          </a:prstGeom>
          <a:noFill/>
          <a:ln/>
        </p:spPr>
        <p:txBody>
          <a:bodyPr wrap="square" lIns="100013" tIns="0" rIns="0" bIns="0" rtlCol="0" anchor="t">
            <a:normAutofit/>
          </a:bodyPr>
          <a:lstStyle/>
          <a:p>
            <a:pPr algn="l" indent="0" marL="0">
              <a:lnSpc>
                <a:spcPts val="945"/>
              </a:lnSpc>
              <a:buNone/>
            </a:pPr>
            <a:r>
              <a:rPr lang="en-US" sz="800" b="1" dirty="0">
                <a:solidFill>
                  <a:srgbClr val="E07B00"/>
                </a:solidFill>
                <a:latin typeface="Carlito" pitchFamily="34" charset="0"/>
                <a:ea typeface="Carlito" pitchFamily="34" charset="-122"/>
                <a:cs typeface="Carlito" pitchFamily="34" charset="-120"/>
              </a:rPr>
              <a:t>▸</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The MRS of 2.25 quantifies the consumer’s marginal willingness to trade — at this bundle, good 1 is valued at 2.25 units of good 2.</a:t>
            </a:r>
            <a:endParaRPr lang="en-US" sz="800" dirty="0"/>
          </a:p>
        </p:txBody>
      </p:sp>
      <p:sp>
        <p:nvSpPr>
          <p:cNvPr id="30" name="Text 22"/>
          <p:cNvSpPr/>
          <p:nvPr/>
        </p:nvSpPr>
        <p:spPr>
          <a:xfrm>
            <a:off x="814388" y="4300203"/>
            <a:ext cx="7715250" cy="226841"/>
          </a:xfrm>
          <a:prstGeom prst="rect">
            <a:avLst/>
          </a:prstGeom>
          <a:noFill/>
          <a:ln/>
        </p:spPr>
        <p:txBody>
          <a:bodyPr wrap="square" lIns="100013" tIns="0" rIns="0" bIns="0" rtlCol="0" anchor="t">
            <a:normAutofit/>
          </a:bodyPr>
          <a:lstStyle/>
          <a:p>
            <a:pPr algn="l" indent="0" marL="0">
              <a:lnSpc>
                <a:spcPts val="945"/>
              </a:lnSpc>
              <a:buNone/>
            </a:pPr>
            <a:r>
              <a:rPr lang="en-US" sz="800" b="1" dirty="0">
                <a:solidFill>
                  <a:srgbClr val="E07B00"/>
                </a:solidFill>
                <a:latin typeface="Carlito" pitchFamily="34" charset="0"/>
                <a:ea typeface="Carlito" pitchFamily="34" charset="-122"/>
                <a:cs typeface="Carlito" pitchFamily="34" charset="-120"/>
              </a:rPr>
              <a:t>▸</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As x increases along the indifference curve, y decreases and the MRS = y/x falls — this is diminishing MRS, the mathematical expression of “the more you have of something, the less you value an additional unit.”</a:t>
            </a:r>
            <a:endParaRPr lang="en-US" sz="800" dirty="0"/>
          </a:p>
        </p:txBody>
      </p:sp>
      <p:sp>
        <p:nvSpPr>
          <p:cNvPr id="31" name="Text 23"/>
          <p:cNvSpPr/>
          <p:nvPr/>
        </p:nvSpPr>
        <p:spPr>
          <a:xfrm>
            <a:off x="814388" y="4554475"/>
            <a:ext cx="7715250" cy="261417"/>
          </a:xfrm>
          <a:prstGeom prst="rect">
            <a:avLst/>
          </a:prstGeom>
          <a:noFill/>
          <a:ln/>
        </p:spPr>
        <p:txBody>
          <a:bodyPr wrap="square" lIns="100013" tIns="0" rIns="0" bIns="0" rtlCol="0" anchor="t"/>
          <a:lstStyle/>
          <a:p>
            <a:pPr algn="l" indent="0" marL="0">
              <a:lnSpc>
                <a:spcPts val="945"/>
              </a:lnSpc>
              <a:buNone/>
            </a:pPr>
            <a:r>
              <a:rPr lang="en-US" sz="800" b="1" dirty="0">
                <a:solidFill>
                  <a:srgbClr val="E07B00"/>
                </a:solidFill>
                <a:latin typeface="Carlito" pitchFamily="34" charset="0"/>
                <a:ea typeface="Carlito" pitchFamily="34" charset="-122"/>
                <a:cs typeface="Carlito" pitchFamily="34" charset="-120"/>
              </a:rPr>
              <a:t>▸</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The indifference curves x</a:t>
            </a:r>
            <a:pPr algn="l" indent="0" marL="0">
              <a:lnSpc>
                <a:spcPts val="945"/>
              </a:lnSpc>
              <a:buNone/>
            </a:pPr>
            <a:r>
              <a:rPr lang="en-US" sz="800" baseline="30000" dirty="0">
                <a:solidFill>
                  <a:srgbClr val="14171F"/>
                </a:solidFill>
                <a:latin typeface="Carlito" pitchFamily="34" charset="0"/>
                <a:ea typeface="Carlito" pitchFamily="34" charset="-122"/>
                <a:cs typeface="Carlito" pitchFamily="34" charset="-120"/>
              </a:rPr>
              <a:t>a</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y</a:t>
            </a:r>
            <a:pPr algn="l" indent="0" marL="0">
              <a:lnSpc>
                <a:spcPts val="945"/>
              </a:lnSpc>
              <a:buNone/>
            </a:pPr>
            <a:r>
              <a:rPr lang="en-US" sz="800" baseline="30000" dirty="0">
                <a:solidFill>
                  <a:srgbClr val="14171F"/>
                </a:solidFill>
                <a:latin typeface="Carlito" pitchFamily="34" charset="0"/>
                <a:ea typeface="Carlito" pitchFamily="34" charset="-122"/>
                <a:cs typeface="Carlito" pitchFamily="34" charset="-120"/>
              </a:rPr>
              <a:t>b</a:t>
            </a:r>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 = C are convex (bowed toward the origin), reflecting precisely this diminishing willingness to trade. Solving the exact ODE has produced the consumer’s entire preference map.</a:t>
            </a:r>
            <a:endParaRPr lang="en-US" sz="800" dirty="0"/>
          </a:p>
        </p:txBody>
      </p:sp>
      <p:sp>
        <p:nvSpPr>
          <p:cNvPr id="32" name="Text 24"/>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21 / 38</a:t>
            </a:r>
            <a:endParaRPr lang="en-US" sz="800" dirty="0"/>
          </a:p>
        </p:txBody>
      </p:sp>
      <p:pic>
        <p:nvPicPr>
          <p:cNvPr id="33"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69689"/>
            <a:ext cx="2673100"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TECHNIQUE 3</a:t>
            </a:r>
            <a:endParaRPr lang="en-US" sz="844" dirty="0"/>
          </a:p>
        </p:txBody>
      </p:sp>
      <p:sp>
        <p:nvSpPr>
          <p:cNvPr id="3" name="Text 1"/>
          <p:cNvSpPr/>
          <p:nvPr/>
        </p:nvSpPr>
        <p:spPr>
          <a:xfrm>
            <a:off x="685800" y="630436"/>
            <a:ext cx="8341042" cy="314017"/>
          </a:xfrm>
          <a:prstGeom prst="rect">
            <a:avLst/>
          </a:prstGeom>
          <a:noFill/>
          <a:ln/>
        </p:spPr>
        <p:txBody>
          <a:bodyPr wrap="none" lIns="0" tIns="0" rIns="0" bIns="0" rtlCol="0" anchor="t">
            <a:normAutofit/>
          </a:bodyPr>
          <a:lstStyle/>
          <a:p>
            <a:pPr algn="l" indent="0" marL="0">
              <a:lnSpc>
                <a:spcPts val="2351"/>
              </a:lnSpc>
              <a:buNone/>
            </a:pPr>
            <a:r>
              <a:rPr lang="en-US" sz="2138" b="1" spc="-26" kern="0" dirty="0">
                <a:solidFill>
                  <a:srgbClr val="1A2A4F"/>
                </a:solidFill>
                <a:latin typeface="Liberation Sans Narrow" pitchFamily="34" charset="0"/>
                <a:ea typeface="Liberation Sans Narrow" pitchFamily="34" charset="-122"/>
                <a:cs typeface="Liberation Sans Narrow" pitchFamily="34" charset="-120"/>
              </a:rPr>
              <a:t>Method 3 — Exact Equations</a:t>
            </a:r>
            <a:endParaRPr lang="en-US" sz="2138" dirty="0"/>
          </a:p>
        </p:txBody>
      </p:sp>
      <p:sp>
        <p:nvSpPr>
          <p:cNvPr id="4" name="Text 2"/>
          <p:cNvSpPr/>
          <p:nvPr/>
        </p:nvSpPr>
        <p:spPr>
          <a:xfrm>
            <a:off x="685800" y="971885"/>
            <a:ext cx="8458200" cy="219885"/>
          </a:xfrm>
          <a:prstGeom prst="rect">
            <a:avLst/>
          </a:prstGeom>
          <a:noFill/>
          <a:ln/>
        </p:spPr>
        <p:txBody>
          <a:bodyPr wrap="square" lIns="0" tIns="0" rIns="0" bIns="0" rtlCol="0" anchor="t"/>
          <a:lstStyle/>
          <a:p>
            <a:pPr algn="l" indent="0" marL="0">
              <a:lnSpc>
                <a:spcPts val="1603"/>
              </a:lnSpc>
              <a:buNone/>
            </a:pPr>
            <a:r>
              <a:rPr lang="en-US" sz="1069" i="1" dirty="0">
                <a:solidFill>
                  <a:srgbClr val="1F61C9"/>
                </a:solidFill>
                <a:latin typeface="Carlito" pitchFamily="34" charset="0"/>
                <a:ea typeface="Carlito" pitchFamily="34" charset="-122"/>
                <a:cs typeface="Carlito" pitchFamily="34" charset="-120"/>
              </a:rPr>
              <a:t>The Logic of the Hidden Potential</a:t>
            </a:r>
            <a:endParaRPr lang="en-US" sz="1069" dirty="0"/>
          </a:p>
        </p:txBody>
      </p:sp>
      <p:sp>
        <p:nvSpPr>
          <p:cNvPr id="5" name="Shape 3"/>
          <p:cNvSpPr/>
          <p:nvPr/>
        </p:nvSpPr>
        <p:spPr>
          <a:xfrm>
            <a:off x="685800" y="1557672"/>
            <a:ext cx="4020480" cy="0"/>
          </a:xfrm>
          <a:prstGeom prst="line">
            <a:avLst/>
          </a:prstGeom>
          <a:noFill/>
          <a:ln w="7144">
            <a:solidFill>
              <a:srgbClr val="1F61C9"/>
            </a:solidFill>
            <a:prstDash val="solid"/>
          </a:ln>
        </p:spPr>
      </p:sp>
      <p:sp>
        <p:nvSpPr>
          <p:cNvPr id="6" name="Text 4"/>
          <p:cNvSpPr/>
          <p:nvPr/>
        </p:nvSpPr>
        <p:spPr>
          <a:xfrm>
            <a:off x="685800" y="1332644"/>
            <a:ext cx="5345228" cy="250807"/>
          </a:xfrm>
          <a:prstGeom prst="rect">
            <a:avLst/>
          </a:prstGeom>
          <a:noFill/>
          <a:ln/>
        </p:spPr>
        <p:txBody>
          <a:bodyPr wrap="none" lIns="0" tIns="0" rIns="0" bIns="71438" rtlCol="0" anchor="t"/>
          <a:lstStyle/>
          <a:p>
            <a:pPr algn="l" indent="0" marL="0">
              <a:lnSpc>
                <a:spcPts val="1181"/>
              </a:lnSpc>
              <a:buNone/>
            </a:pPr>
            <a:r>
              <a:rPr lang="en-US" sz="800" b="1" spc="126" kern="0" dirty="0">
                <a:solidFill>
                  <a:srgbClr val="1F61C9"/>
                </a:solidFill>
                <a:latin typeface="Carlito" pitchFamily="34" charset="0"/>
                <a:ea typeface="Carlito" pitchFamily="34" charset="-122"/>
                <a:cs typeface="Carlito" pitchFamily="34" charset="-120"/>
              </a:rPr>
              <a:t>THE CORE LOGIC</a:t>
            </a:r>
            <a:endParaRPr lang="en-US" sz="800" dirty="0"/>
          </a:p>
        </p:txBody>
      </p:sp>
      <p:sp>
        <p:nvSpPr>
          <p:cNvPr id="7" name="Text 5"/>
          <p:cNvSpPr/>
          <p:nvPr/>
        </p:nvSpPr>
        <p:spPr>
          <a:xfrm>
            <a:off x="685800" y="1661257"/>
            <a:ext cx="4020480" cy="608661"/>
          </a:xfrm>
          <a:prstGeom prst="rect">
            <a:avLst/>
          </a:prstGeom>
          <a:noFill/>
          <a:ln/>
        </p:spPr>
        <p:txBody>
          <a:bodyPr wrap="square" lIns="0" tIns="0" rIns="0" bIns="0" rtlCol="0" anchor="t"/>
          <a:lstStyle/>
          <a:p>
            <a:pPr algn="l" indent="0" marL="0">
              <a:lnSpc>
                <a:spcPts val="1395"/>
              </a:lnSpc>
              <a:buNone/>
            </a:pPr>
            <a:r>
              <a:rPr lang="en-US" sz="872" dirty="0">
                <a:solidFill>
                  <a:srgbClr val="14171F"/>
                </a:solidFill>
                <a:latin typeface="Carlito" pitchFamily="34" charset="0"/>
                <a:ea typeface="Carlito" pitchFamily="34" charset="-122"/>
                <a:cs typeface="Carlito" pitchFamily="34" charset="-120"/>
              </a:rPr>
              <a:t>Write the ODE in differential form: M(x,y)dx+N(x,y)dy=0. This equation is exact if the left side is the total differential of a hidden “potential” function F(x,y), such that dF=∂F∂xdx+∂F∂ydy=0.</a:t>
            </a:r>
            <a:endParaRPr lang="en-US" sz="872" dirty="0"/>
          </a:p>
        </p:txBody>
      </p:sp>
      <p:sp>
        <p:nvSpPr>
          <p:cNvPr id="8" name="Text 6"/>
          <p:cNvSpPr/>
          <p:nvPr/>
        </p:nvSpPr>
        <p:spPr>
          <a:xfrm>
            <a:off x="685800" y="2310557"/>
            <a:ext cx="4020480" cy="589373"/>
          </a:xfrm>
          <a:prstGeom prst="rect">
            <a:avLst/>
          </a:prstGeom>
          <a:noFill/>
          <a:ln/>
        </p:spPr>
        <p:txBody>
          <a:bodyPr wrap="square" lIns="0" tIns="0" rIns="0" bIns="0" rtlCol="0" anchor="t"/>
          <a:lstStyle/>
          <a:p>
            <a:pPr algn="l" indent="0" marL="0">
              <a:lnSpc>
                <a:spcPts val="1395"/>
              </a:lnSpc>
              <a:buNone/>
            </a:pPr>
            <a:r>
              <a:rPr lang="en-US" sz="872" dirty="0">
                <a:solidFill>
                  <a:srgbClr val="14171F"/>
                </a:solidFill>
                <a:latin typeface="Carlito" pitchFamily="34" charset="0"/>
                <a:ea typeface="Carlito" pitchFamily="34" charset="-122"/>
                <a:cs typeface="Carlito" pitchFamily="34" charset="-120"/>
              </a:rPr>
              <a:t>If Fx=M and Fy=N, then F(x,y)=C is the solution curve. How do we know F exists? By Clairaut’s Theorem (equality of mixed partials):</a:t>
            </a:r>
            <a:endParaRPr lang="en-US" sz="872" dirty="0"/>
          </a:p>
        </p:txBody>
      </p:sp>
      <p:sp>
        <p:nvSpPr>
          <p:cNvPr id="9" name="Text 7"/>
          <p:cNvSpPr/>
          <p:nvPr/>
        </p:nvSpPr>
        <p:spPr>
          <a:xfrm>
            <a:off x="685800" y="2941997"/>
            <a:ext cx="4020480" cy="673745"/>
          </a:xfrm>
          <a:prstGeom prst="roundRect">
            <a:avLst>
              <a:gd name="adj" fmla="val 5655"/>
            </a:avLst>
          </a:prstGeom>
          <a:solidFill>
            <a:srgbClr val="F3ECF8"/>
          </a:solidFill>
          <a:ln/>
        </p:spPr>
        <p:txBody>
          <a:bodyPr wrap="square" rtlCol="0" anchor="ctr"/>
          <a:lstStyle/>
          <a:p>
            <a:pPr indent="0" marL="0">
              <a:buNone/>
            </a:pPr>
            <a:endParaRPr lang="en-US" dirty="0"/>
          </a:p>
        </p:txBody>
      </p:sp>
      <p:sp>
        <p:nvSpPr>
          <p:cNvPr id="10" name="Shape 8"/>
          <p:cNvSpPr/>
          <p:nvPr/>
        </p:nvSpPr>
        <p:spPr>
          <a:xfrm>
            <a:off x="696516" y="2941997"/>
            <a:ext cx="0" cy="673745"/>
          </a:xfrm>
          <a:prstGeom prst="line">
            <a:avLst/>
          </a:prstGeom>
          <a:noFill/>
          <a:ln w="21431">
            <a:solidFill>
              <a:srgbClr val="6B2FA0"/>
            </a:solidFill>
            <a:prstDash val="solid"/>
          </a:ln>
        </p:spPr>
      </p:sp>
      <p:pic>
        <p:nvPicPr>
          <p:cNvPr id="11" name="Image 0" descr="/tmp/h2p-svg-1781853765065-232vzl.png">    </p:cNvPr>
          <p:cNvPicPr>
            <a:picLocks noChangeAspect="1"/>
          </p:cNvPicPr>
          <p:nvPr/>
        </p:nvPicPr>
        <p:blipFill>
          <a:blip r:embed="rId1"/>
          <a:stretch>
            <a:fillRect/>
          </a:stretch>
        </p:blipFill>
        <p:spPr>
          <a:xfrm>
            <a:off x="1254621" y="3094472"/>
            <a:ext cx="2904158" cy="368796"/>
          </a:xfrm>
          <a:prstGeom prst="rect">
            <a:avLst/>
          </a:prstGeom>
        </p:spPr>
      </p:pic>
      <p:sp>
        <p:nvSpPr>
          <p:cNvPr id="12" name="Shape 9"/>
          <p:cNvSpPr/>
          <p:nvPr/>
        </p:nvSpPr>
        <p:spPr>
          <a:xfrm>
            <a:off x="4992030" y="1557672"/>
            <a:ext cx="3637508" cy="0"/>
          </a:xfrm>
          <a:prstGeom prst="line">
            <a:avLst/>
          </a:prstGeom>
          <a:noFill/>
          <a:ln w="7144">
            <a:solidFill>
              <a:srgbClr val="1F61C9"/>
            </a:solidFill>
            <a:prstDash val="solid"/>
          </a:ln>
        </p:spPr>
      </p:sp>
      <p:sp>
        <p:nvSpPr>
          <p:cNvPr id="13" name="Text 10"/>
          <p:cNvSpPr/>
          <p:nvPr/>
        </p:nvSpPr>
        <p:spPr>
          <a:xfrm>
            <a:off x="4992030" y="1332644"/>
            <a:ext cx="4151970" cy="250807"/>
          </a:xfrm>
          <a:prstGeom prst="rect">
            <a:avLst/>
          </a:prstGeom>
          <a:noFill/>
          <a:ln/>
        </p:spPr>
        <p:txBody>
          <a:bodyPr wrap="none" lIns="0" tIns="0" rIns="0" bIns="71438" rtlCol="0" anchor="t"/>
          <a:lstStyle/>
          <a:p>
            <a:pPr algn="l" indent="0" marL="0">
              <a:lnSpc>
                <a:spcPts val="1181"/>
              </a:lnSpc>
              <a:buNone/>
            </a:pPr>
            <a:r>
              <a:rPr lang="en-US" sz="800" b="1" spc="126" kern="0" dirty="0">
                <a:solidFill>
                  <a:srgbClr val="1F61C9"/>
                </a:solidFill>
                <a:latin typeface="Carlito" pitchFamily="34" charset="0"/>
                <a:ea typeface="Carlito" pitchFamily="34" charset="-122"/>
                <a:cs typeface="Carlito" pitchFamily="34" charset="-120"/>
              </a:rPr>
              <a:t>THE METHODOLOGY</a:t>
            </a:r>
            <a:endParaRPr lang="en-US" sz="800" dirty="0"/>
          </a:p>
        </p:txBody>
      </p:sp>
      <p:sp>
        <p:nvSpPr>
          <p:cNvPr id="14" name="Text 11"/>
          <p:cNvSpPr/>
          <p:nvPr/>
        </p:nvSpPr>
        <p:spPr>
          <a:xfrm>
            <a:off x="4992030" y="1661257"/>
            <a:ext cx="3637508" cy="2082166"/>
          </a:xfrm>
          <a:prstGeom prst="rect">
            <a:avLst/>
          </a:prstGeom>
          <a:noFill/>
          <a:ln/>
        </p:spPr>
        <p:txBody>
          <a:bodyPr wrap="square" lIns="0" tIns="0" rIns="0" bIns="0" rtlCol="0" anchor="t"/>
          <a:lstStyle/>
          <a:p>
            <a:pPr algn="l" marL="342900" indent="-342900">
              <a:lnSpc>
                <a:spcPts val="1266"/>
              </a:lnSpc>
              <a:buSzPct val="100000"/>
              <a:buFont typeface="+mj-lt"/>
              <a:buAutoNum type="arabicPeriod" startAt="1"/>
            </a:pPr>
            <a:r>
              <a:rPr lang="en-US" sz="844" dirty="0">
                <a:solidFill>
                  <a:srgbClr val="14171F"/>
                </a:solidFill>
                <a:latin typeface="Carlito" pitchFamily="34" charset="0"/>
                <a:ea typeface="Carlito" pitchFamily="34" charset="-122"/>
                <a:cs typeface="Carlito" pitchFamily="34" charset="-120"/>
              </a:rPr>
              <a:t>Arrange as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Mdx+Ndy=0 and test exactness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My=Nx).</a:t>
            </a:r>
            <a:endParaRPr lang="en-US" sz="844" dirty="0"/>
          </a:p>
          <a:p>
            <a:pPr algn="l" marL="342900" indent="-342900">
              <a:lnSpc>
                <a:spcPts val="1266"/>
              </a:lnSpc>
              <a:buSzPct val="100000"/>
              <a:buFont typeface="+mj-lt"/>
              <a:buAutoNum type="arabicPeriod" startAt="1"/>
            </a:pPr>
            <a:r>
              <a:rPr lang="en-US" sz="844" dirty="0">
                <a:solidFill>
                  <a:srgbClr val="14171F"/>
                </a:solidFill>
                <a:latin typeface="Carlito" pitchFamily="34" charset="0"/>
                <a:ea typeface="Carlito" pitchFamily="34" charset="-122"/>
                <a:cs typeface="Carlito" pitchFamily="34" charset="-120"/>
              </a:rPr>
              <a:t>Integrate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M with respect to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x: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F=∫Mdx+g(y).</a:t>
            </a:r>
            <a:endParaRPr lang="en-US" sz="844" dirty="0"/>
          </a:p>
          <a:p>
            <a:pPr algn="l" marL="342900" indent="-342900">
              <a:lnSpc>
                <a:spcPts val="1266"/>
              </a:lnSpc>
              <a:buSzPct val="100000"/>
              <a:buFont typeface="+mj-lt"/>
              <a:buAutoNum type="arabicPeriod" startAt="1"/>
            </a:pPr>
            <a:r>
              <a:rPr lang="en-US" sz="844" dirty="0">
                <a:solidFill>
                  <a:srgbClr val="14171F"/>
                </a:solidFill>
                <a:latin typeface="Carlito" pitchFamily="34" charset="0"/>
                <a:ea typeface="Carlito" pitchFamily="34" charset="-122"/>
                <a:cs typeface="Carlito" pitchFamily="34" charset="-120"/>
              </a:rPr>
              <a:t>Differentiate this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F with respect to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y and set it equal to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N to solve for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g′(y).</a:t>
            </a:r>
            <a:endParaRPr lang="en-US" sz="844" dirty="0"/>
          </a:p>
          <a:p>
            <a:pPr algn="l" marL="342900" indent="-342900">
              <a:lnSpc>
                <a:spcPts val="1266"/>
              </a:lnSpc>
              <a:buSzPct val="100000"/>
              <a:buFont typeface="+mj-lt"/>
              <a:buAutoNum type="arabicPeriod" startAt="1"/>
            </a:pPr>
            <a:r>
              <a:rPr lang="en-US" sz="844" dirty="0">
                <a:solidFill>
                  <a:srgbClr val="14171F"/>
                </a:solidFill>
                <a:latin typeface="Carlito" pitchFamily="34" charset="0"/>
                <a:ea typeface="Carlito" pitchFamily="34" charset="-122"/>
                <a:cs typeface="Carlito" pitchFamily="34" charset="-120"/>
              </a:rPr>
              <a:t>Integrate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g′(y) to find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g(y).</a:t>
            </a:r>
            <a:endParaRPr lang="en-US" sz="844" dirty="0"/>
          </a:p>
          <a:p>
            <a:pPr algn="l" marL="342900" indent="-342900">
              <a:lnSpc>
                <a:spcPts val="1266"/>
              </a:lnSpc>
              <a:buSzPct val="100000"/>
              <a:buFont typeface="+mj-lt"/>
              <a:buAutoNum type="arabicPeriod" startAt="1"/>
            </a:pPr>
            <a:r>
              <a:rPr lang="en-US" sz="844" dirty="0">
                <a:solidFill>
                  <a:srgbClr val="14171F"/>
                </a:solidFill>
                <a:latin typeface="Carlito" pitchFamily="34" charset="0"/>
                <a:ea typeface="Carlito" pitchFamily="34" charset="-122"/>
                <a:cs typeface="Carlito" pitchFamily="34" charset="-120"/>
              </a:rPr>
              <a:t>State the implicit solution </a:t>
            </a:r>
            <a:pPr algn="l" indent="0" marL="0">
              <a:lnSpc>
                <a:spcPts val="1266"/>
              </a:lnSpc>
              <a:buNone/>
            </a:pPr>
            <a:r>
              <a:rPr lang="en-US" sz="844" dirty="0">
                <a:solidFill>
                  <a:srgbClr val="14171F"/>
                </a:solidFill>
                <a:latin typeface="Carlito" pitchFamily="34" charset="0"/>
                <a:ea typeface="Carlito" pitchFamily="34" charset="-122"/>
                <a:cs typeface="Carlito" pitchFamily="34" charset="-120"/>
              </a:rPr>
              <a:t>F(x,y)=C.</a:t>
            </a:r>
            <a:endParaRPr lang="en-US" sz="844" dirty="0"/>
          </a:p>
        </p:txBody>
      </p:sp>
      <p:sp>
        <p:nvSpPr>
          <p:cNvPr id="15" name="Text 12"/>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22 / 38</a:t>
            </a:r>
            <a:endParaRPr lang="en-US" sz="800" dirty="0"/>
          </a:p>
        </p:txBody>
      </p:sp>
      <p:pic>
        <p:nvPicPr>
          <p:cNvPr id="16"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81589"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PROOF &amp; DERIVATION</a:t>
            </a:r>
            <a:endParaRPr lang="en-US" sz="844" dirty="0"/>
          </a:p>
        </p:txBody>
      </p:sp>
      <p:sp>
        <p:nvSpPr>
          <p:cNvPr id="3" name="Text 1"/>
          <p:cNvSpPr/>
          <p:nvPr/>
        </p:nvSpPr>
        <p:spPr>
          <a:xfrm>
            <a:off x="685800" y="701873"/>
            <a:ext cx="8458200" cy="214674"/>
          </a:xfrm>
          <a:prstGeom prst="rect">
            <a:avLst/>
          </a:prstGeom>
          <a:noFill/>
          <a:ln/>
        </p:spPr>
        <p:txBody>
          <a:bodyPr wrap="square" lIns="0" tIns="0" rIns="0" bIns="0" rtlCol="0" anchor="t">
            <a:normAutofit/>
          </a:bodyPr>
          <a:lstStyle/>
          <a:p>
            <a:pPr algn="l" indent="0" marL="0">
              <a:lnSpc>
                <a:spcPts val="1682"/>
              </a:lnSpc>
              <a:buNone/>
            </a:pPr>
            <a:r>
              <a:rPr lang="en-US" sz="1463" b="1" spc="-18" kern="0" dirty="0">
                <a:solidFill>
                  <a:srgbClr val="1A2A4F"/>
                </a:solidFill>
                <a:latin typeface="Carlito" pitchFamily="34" charset="0"/>
                <a:ea typeface="Carlito" pitchFamily="34" charset="-122"/>
                <a:cs typeface="Carlito" pitchFamily="34" charset="-120"/>
              </a:rPr>
              <a:t>Why Exactness Guarantees a Potential</a:t>
            </a:r>
            <a:endParaRPr lang="en-US" sz="1463" dirty="0"/>
          </a:p>
        </p:txBody>
      </p:sp>
      <p:sp>
        <p:nvSpPr>
          <p:cNvPr id="4" name="Text 2"/>
          <p:cNvSpPr/>
          <p:nvPr/>
        </p:nvSpPr>
        <p:spPr>
          <a:xfrm>
            <a:off x="685800" y="943980"/>
            <a:ext cx="8458200" cy="185166"/>
          </a:xfrm>
          <a:prstGeom prst="rect">
            <a:avLst/>
          </a:prstGeom>
          <a:noFill/>
          <a:ln/>
        </p:spPr>
        <p:txBody>
          <a:bodyPr wrap="square" lIns="0" tIns="0" rIns="0" bIns="0" rtlCol="0" anchor="t"/>
          <a:lstStyle/>
          <a:p>
            <a:pPr algn="l" indent="0" marL="0">
              <a:lnSpc>
                <a:spcPts val="1350"/>
              </a:lnSpc>
              <a:buNone/>
            </a:pPr>
            <a:r>
              <a:rPr lang="en-US" sz="900" i="1" dirty="0">
                <a:solidFill>
                  <a:srgbClr val="1F61C9"/>
                </a:solidFill>
                <a:latin typeface="Carlito" pitchFamily="34" charset="0"/>
                <a:ea typeface="Carlito" pitchFamily="34" charset="-122"/>
                <a:cs typeface="Carlito" pitchFamily="34" charset="-120"/>
              </a:rPr>
              <a:t>Clairaut’s Theorem and the Existence of F</a:t>
            </a:r>
            <a:endParaRPr lang="en-US" sz="900" dirty="0"/>
          </a:p>
        </p:txBody>
      </p:sp>
      <p:sp>
        <p:nvSpPr>
          <p:cNvPr id="5" name="Shape 3"/>
          <p:cNvSpPr/>
          <p:nvPr/>
        </p:nvSpPr>
        <p:spPr>
          <a:xfrm>
            <a:off x="685800" y="1381534"/>
            <a:ext cx="4766221" cy="0"/>
          </a:xfrm>
          <a:prstGeom prst="line">
            <a:avLst/>
          </a:prstGeom>
          <a:noFill/>
          <a:ln w="7144">
            <a:solidFill>
              <a:srgbClr val="E3E6EE"/>
            </a:solidFill>
            <a:prstDash val="solid"/>
          </a:ln>
        </p:spPr>
      </p:sp>
      <p:sp>
        <p:nvSpPr>
          <p:cNvPr id="6" name="Text 4"/>
          <p:cNvSpPr/>
          <p:nvPr/>
        </p:nvSpPr>
        <p:spPr>
          <a:xfrm>
            <a:off x="685800" y="1215442"/>
            <a:ext cx="5147518" cy="185095"/>
          </a:xfrm>
          <a:prstGeom prst="rect">
            <a:avLst/>
          </a:prstGeom>
          <a:noFill/>
          <a:ln/>
        </p:spPr>
        <p:txBody>
          <a:bodyPr wrap="square" lIns="0" tIns="0" rIns="0" bIns="28575"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THEOREM (SUFFICIENCY OF EXACTNESS)</a:t>
            </a:r>
            <a:endParaRPr lang="en-US" sz="800" dirty="0"/>
          </a:p>
        </p:txBody>
      </p:sp>
      <p:sp>
        <p:nvSpPr>
          <p:cNvPr id="7" name="Text 5"/>
          <p:cNvSpPr/>
          <p:nvPr/>
        </p:nvSpPr>
        <p:spPr>
          <a:xfrm>
            <a:off x="685800" y="1427969"/>
            <a:ext cx="4766221" cy="297609"/>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If M(x,y) and N(x,y) have continuous partial derivatives on a simply connected region R, and ∂M/∂y = ∂N/∂x everywhere on R, then there exists a function F(x,y) such that:</a:t>
            </a:r>
            <a:endParaRPr lang="en-US" sz="800" dirty="0"/>
          </a:p>
        </p:txBody>
      </p:sp>
      <p:pic>
        <p:nvPicPr>
          <p:cNvPr id="8" name="Image 0" descr="/tmp/h2p-svg-1781853765261-h9734h.png">    </p:cNvPr>
          <p:cNvPicPr>
            <a:picLocks noChangeAspect="1"/>
          </p:cNvPicPr>
          <p:nvPr/>
        </p:nvPicPr>
        <p:blipFill>
          <a:blip r:embed="rId1"/>
          <a:stretch>
            <a:fillRect/>
          </a:stretch>
        </p:blipFill>
        <p:spPr>
          <a:xfrm>
            <a:off x="2450753" y="1793751"/>
            <a:ext cx="1236204" cy="295015"/>
          </a:xfrm>
          <a:prstGeom prst="rect">
            <a:avLst/>
          </a:prstGeom>
        </p:spPr>
      </p:pic>
      <p:sp>
        <p:nvSpPr>
          <p:cNvPr id="9" name="Text 6"/>
          <p:cNvSpPr/>
          <p:nvPr/>
        </p:nvSpPr>
        <p:spPr>
          <a:xfrm>
            <a:off x="685800" y="2158082"/>
            <a:ext cx="4766221" cy="135088"/>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and the general solution of M dx + N dy = 0 is F(x,y) = C.</a:t>
            </a:r>
            <a:endParaRPr lang="en-US" sz="800" dirty="0"/>
          </a:p>
        </p:txBody>
      </p:sp>
      <p:sp>
        <p:nvSpPr>
          <p:cNvPr id="10" name="Shape 7"/>
          <p:cNvSpPr/>
          <p:nvPr/>
        </p:nvSpPr>
        <p:spPr>
          <a:xfrm>
            <a:off x="685800" y="2486695"/>
            <a:ext cx="4766221" cy="0"/>
          </a:xfrm>
          <a:prstGeom prst="line">
            <a:avLst/>
          </a:prstGeom>
          <a:noFill/>
          <a:ln w="7144">
            <a:solidFill>
              <a:srgbClr val="E3E6EE"/>
            </a:solidFill>
            <a:prstDash val="solid"/>
          </a:ln>
        </p:spPr>
      </p:sp>
      <p:sp>
        <p:nvSpPr>
          <p:cNvPr id="11" name="Text 8"/>
          <p:cNvSpPr/>
          <p:nvPr/>
        </p:nvSpPr>
        <p:spPr>
          <a:xfrm>
            <a:off x="685800" y="2320603"/>
            <a:ext cx="6004917" cy="185095"/>
          </a:xfrm>
          <a:prstGeom prst="rect">
            <a:avLst/>
          </a:prstGeom>
          <a:noFill/>
          <a:ln/>
        </p:spPr>
        <p:txBody>
          <a:bodyPr wrap="none" lIns="0" tIns="0" rIns="0" bIns="28575"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PROOF SKETCH</a:t>
            </a:r>
            <a:endParaRPr lang="en-US" sz="800" dirty="0"/>
          </a:p>
        </p:txBody>
      </p:sp>
      <p:sp>
        <p:nvSpPr>
          <p:cNvPr id="12" name="Text 9"/>
          <p:cNvSpPr/>
          <p:nvPr/>
        </p:nvSpPr>
        <p:spPr>
          <a:xfrm>
            <a:off x="685800" y="2670646"/>
            <a:ext cx="1982216" cy="148019"/>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Define F by integrating M in x.</a:t>
            </a:r>
            <a:endParaRPr lang="en-US" sz="800" dirty="0"/>
          </a:p>
        </p:txBody>
      </p:sp>
      <p:pic>
        <p:nvPicPr>
          <p:cNvPr id="13" name="Image 1" descr="/tmp/h2p-svg-1781853765261-qrup6v.png">    </p:cNvPr>
          <p:cNvPicPr>
            <a:picLocks noChangeAspect="1"/>
          </p:cNvPicPr>
          <p:nvPr/>
        </p:nvPicPr>
        <p:blipFill>
          <a:blip r:embed="rId2"/>
          <a:stretch>
            <a:fillRect/>
          </a:stretch>
        </p:blipFill>
        <p:spPr>
          <a:xfrm>
            <a:off x="3163788" y="2572420"/>
            <a:ext cx="1731355" cy="312093"/>
          </a:xfrm>
          <a:prstGeom prst="rect">
            <a:avLst/>
          </a:prstGeom>
        </p:spPr>
      </p:pic>
      <p:sp>
        <p:nvSpPr>
          <p:cNvPr id="14" name="Text 10"/>
          <p:cNvSpPr/>
          <p:nvPr/>
        </p:nvSpPr>
        <p:spPr>
          <a:xfrm>
            <a:off x="685800" y="3053953"/>
            <a:ext cx="1982216" cy="169450"/>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By construction, F</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x</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 M (FTC).</a:t>
            </a:r>
            <a:endParaRPr lang="en-US" sz="800" dirty="0"/>
          </a:p>
        </p:txBody>
      </p:sp>
      <p:pic>
        <p:nvPicPr>
          <p:cNvPr id="15" name="Image 2" descr="/tmp/h2p-svg-1781853765261-w9bfyh.png">    </p:cNvPr>
          <p:cNvPicPr>
            <a:picLocks noChangeAspect="1"/>
          </p:cNvPicPr>
          <p:nvPr/>
        </p:nvPicPr>
        <p:blipFill>
          <a:blip r:embed="rId3"/>
          <a:stretch>
            <a:fillRect/>
          </a:stretch>
        </p:blipFill>
        <p:spPr>
          <a:xfrm>
            <a:off x="3542295" y="2984525"/>
            <a:ext cx="974229" cy="271351"/>
          </a:xfrm>
          <a:prstGeom prst="rect">
            <a:avLst/>
          </a:prstGeom>
        </p:spPr>
      </p:pic>
      <p:sp>
        <p:nvSpPr>
          <p:cNvPr id="16" name="Text 11"/>
          <p:cNvSpPr/>
          <p:nvPr/>
        </p:nvSpPr>
        <p:spPr>
          <a:xfrm>
            <a:off x="685800" y="3445743"/>
            <a:ext cx="2224487" cy="169450"/>
          </a:xfrm>
          <a:prstGeom prst="rect">
            <a:avLst/>
          </a:prstGeom>
          <a:noFill/>
          <a:ln/>
        </p:spPr>
        <p:txBody>
          <a:bodyPr wrap="non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Now compute F</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y</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a:t>
            </a:r>
            <a:endParaRPr lang="en-US" sz="800" dirty="0"/>
          </a:p>
        </p:txBody>
      </p:sp>
      <p:pic>
        <p:nvPicPr>
          <p:cNvPr id="17" name="Image 3" descr="/tmp/h2p-svg-1781853765262-4iom3f.png">    </p:cNvPr>
          <p:cNvPicPr>
            <a:picLocks noChangeAspect="1"/>
          </p:cNvPicPr>
          <p:nvPr/>
        </p:nvPicPr>
        <p:blipFill>
          <a:blip r:embed="rId4"/>
          <a:stretch>
            <a:fillRect/>
          </a:stretch>
        </p:blipFill>
        <p:spPr>
          <a:xfrm>
            <a:off x="3163453" y="3355888"/>
            <a:ext cx="1732025" cy="312093"/>
          </a:xfrm>
          <a:prstGeom prst="rect">
            <a:avLst/>
          </a:prstGeom>
        </p:spPr>
      </p:pic>
      <p:sp>
        <p:nvSpPr>
          <p:cNvPr id="18" name="Text 12"/>
          <p:cNvSpPr/>
          <p:nvPr/>
        </p:nvSpPr>
        <p:spPr>
          <a:xfrm>
            <a:off x="685800" y="3733837"/>
            <a:ext cx="1423252" cy="486918"/>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Use Clairaut (M</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yx</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 M</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xy</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and M</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y</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 N</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x</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to swap derivative and integral.</a:t>
            </a:r>
            <a:endParaRPr lang="en-US" sz="800" dirty="0"/>
          </a:p>
        </p:txBody>
      </p:sp>
      <p:pic>
        <p:nvPicPr>
          <p:cNvPr id="19" name="Image 4" descr="/tmp/h2p-svg-1781853765269-7x3vy4.png">    </p:cNvPr>
          <p:cNvPicPr>
            <a:picLocks noChangeAspect="1"/>
          </p:cNvPicPr>
          <p:nvPr/>
        </p:nvPicPr>
        <p:blipFill>
          <a:blip r:embed="rId5"/>
          <a:stretch>
            <a:fillRect/>
          </a:stretch>
        </p:blipFill>
        <p:spPr>
          <a:xfrm>
            <a:off x="2114215" y="3767993"/>
            <a:ext cx="3337806" cy="312093"/>
          </a:xfrm>
          <a:prstGeom prst="rect">
            <a:avLst/>
          </a:prstGeom>
        </p:spPr>
      </p:pic>
      <p:sp>
        <p:nvSpPr>
          <p:cNvPr id="20" name="Text 13"/>
          <p:cNvSpPr/>
          <p:nvPr/>
        </p:nvSpPr>
        <p:spPr>
          <a:xfrm>
            <a:off x="685800" y="4196395"/>
            <a:ext cx="1835386" cy="335756"/>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Choose g(y) = ∫</a:t>
            </a:r>
            <a:pPr algn="l" indent="0" marL="0">
              <a:lnSpc>
                <a:spcPts val="911"/>
              </a:lnSpc>
              <a:buNone/>
            </a:pPr>
            <a:r>
              <a:rPr lang="en-US" sz="800" i="1" baseline="-40000" dirty="0">
                <a:solidFill>
                  <a:srgbClr val="4A5160"/>
                </a:solidFill>
                <a:latin typeface="Carlito" pitchFamily="34" charset="0"/>
                <a:ea typeface="Carlito" pitchFamily="34" charset="-122"/>
                <a:cs typeface="Carlito" pitchFamily="34" charset="-120"/>
              </a:rPr>
              <a:t>y₀</a:t>
            </a:r>
            <a:pPr algn="l" indent="0" marL="0">
              <a:lnSpc>
                <a:spcPts val="911"/>
              </a:lnSpc>
              <a:buNone/>
            </a:pPr>
            <a:r>
              <a:rPr lang="en-US" sz="800" i="1" baseline="30000" dirty="0">
                <a:solidFill>
                  <a:srgbClr val="4A5160"/>
                </a:solidFill>
                <a:latin typeface="Carlito" pitchFamily="34" charset="0"/>
                <a:ea typeface="Carlito" pitchFamily="34" charset="-122"/>
                <a:cs typeface="Carlito" pitchFamily="34" charset="-120"/>
              </a:rPr>
              <a:t>y</a:t>
            </a:r>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 N(x₀,t) dt so g′(y) = N(x₀,y).</a:t>
            </a:r>
            <a:endParaRPr lang="en-US" sz="800" dirty="0"/>
          </a:p>
        </p:txBody>
      </p:sp>
      <p:pic>
        <p:nvPicPr>
          <p:cNvPr id="21" name="Image 5" descr="/tmp/h2p-svg-1781853765269-zkid4w.png">    </p:cNvPr>
          <p:cNvPicPr>
            <a:picLocks noChangeAspect="1"/>
          </p:cNvPicPr>
          <p:nvPr/>
        </p:nvPicPr>
        <p:blipFill>
          <a:blip r:embed="rId6"/>
          <a:stretch>
            <a:fillRect/>
          </a:stretch>
        </p:blipFill>
        <p:spPr>
          <a:xfrm>
            <a:off x="3437930" y="4180098"/>
            <a:ext cx="1183072" cy="295015"/>
          </a:xfrm>
          <a:prstGeom prst="rect">
            <a:avLst/>
          </a:prstGeom>
        </p:spPr>
      </p:pic>
      <p:sp>
        <p:nvSpPr>
          <p:cNvPr id="22" name="Text 14"/>
          <p:cNvSpPr/>
          <p:nvPr/>
        </p:nvSpPr>
        <p:spPr>
          <a:xfrm>
            <a:off x="5623471" y="1215442"/>
            <a:ext cx="3177518" cy="3320393"/>
          </a:xfrm>
          <a:prstGeom prst="roundRect">
            <a:avLst>
              <a:gd name="adj" fmla="val 1199"/>
            </a:avLst>
          </a:prstGeom>
          <a:solidFill>
            <a:srgbClr val="F6F7FB"/>
          </a:solidFill>
          <a:ln/>
        </p:spPr>
        <p:txBody>
          <a:bodyPr wrap="square" rtlCol="0" anchor="ctr"/>
          <a:lstStyle/>
          <a:p>
            <a:pPr indent="0" marL="0">
              <a:buNone/>
            </a:pPr>
            <a:endParaRPr lang="en-US" dirty="0"/>
          </a:p>
        </p:txBody>
      </p:sp>
      <p:sp>
        <p:nvSpPr>
          <p:cNvPr id="23" name="Shape 15"/>
          <p:cNvSpPr/>
          <p:nvPr/>
        </p:nvSpPr>
        <p:spPr>
          <a:xfrm>
            <a:off x="5637758" y="1215442"/>
            <a:ext cx="0" cy="3320393"/>
          </a:xfrm>
          <a:prstGeom prst="line">
            <a:avLst/>
          </a:prstGeom>
          <a:noFill/>
          <a:ln w="28575">
            <a:solidFill>
              <a:srgbClr val="1F61C9"/>
            </a:solidFill>
            <a:prstDash val="solid"/>
          </a:ln>
        </p:spPr>
      </p:sp>
      <p:sp>
        <p:nvSpPr>
          <p:cNvPr id="24" name="Text 16"/>
          <p:cNvSpPr/>
          <p:nvPr/>
        </p:nvSpPr>
        <p:spPr>
          <a:xfrm>
            <a:off x="5766346" y="1315455"/>
            <a:ext cx="2920343" cy="136874"/>
          </a:xfrm>
          <a:prstGeom prst="rect">
            <a:avLst/>
          </a:prstGeom>
          <a:noFill/>
          <a:ln/>
        </p:spPr>
        <p:txBody>
          <a:bodyPr wrap="none" lIns="0" tIns="0" rIns="0" bIns="0" rtlCol="0" anchor="t">
            <a:normAutofit/>
          </a:bodyPr>
          <a:lstStyle/>
          <a:p>
            <a:pPr algn="l" indent="0" marL="0">
              <a:lnSpc>
                <a:spcPts val="1013"/>
              </a:lnSpc>
              <a:buNone/>
            </a:pPr>
            <a:r>
              <a:rPr lang="en-US" sz="800" b="1" spc="68" kern="0" dirty="0">
                <a:solidFill>
                  <a:srgbClr val="1F61C9"/>
                </a:solidFill>
                <a:latin typeface="Carlito" pitchFamily="34" charset="0"/>
                <a:ea typeface="Carlito" pitchFamily="34" charset="-122"/>
                <a:cs typeface="Carlito" pitchFamily="34" charset="-120"/>
              </a:rPr>
              <a:t>KEY INSIGHT</a:t>
            </a:r>
            <a:endParaRPr lang="en-US" sz="800" dirty="0"/>
          </a:p>
        </p:txBody>
      </p:sp>
      <p:sp>
        <p:nvSpPr>
          <p:cNvPr id="25" name="Text 17"/>
          <p:cNvSpPr/>
          <p:nvPr/>
        </p:nvSpPr>
        <p:spPr>
          <a:xfrm>
            <a:off x="5766346" y="1479761"/>
            <a:ext cx="2920343" cy="521297"/>
          </a:xfrm>
          <a:prstGeom prst="rect">
            <a:avLst/>
          </a:prstGeom>
          <a:noFill/>
          <a:ln/>
        </p:spPr>
        <p:txBody>
          <a:bodyPr wrap="square" lIns="0" tIns="0" rIns="0" bIns="0" rtlCol="0" anchor="t">
            <a:normAutofit/>
          </a:bodyPr>
          <a:lstStyle/>
          <a:p>
            <a:pPr algn="l" indent="0" marL="0">
              <a:lnSpc>
                <a:spcPts val="1055"/>
              </a:lnSpc>
              <a:buNone/>
            </a:pPr>
            <a:r>
              <a:rPr lang="en-US" sz="800" i="1" dirty="0">
                <a:solidFill>
                  <a:srgbClr val="14171F"/>
                </a:solidFill>
                <a:latin typeface="Carlito" pitchFamily="34" charset="0"/>
                <a:ea typeface="Carlito" pitchFamily="34" charset="-122"/>
                <a:cs typeface="Carlito" pitchFamily="34" charset="-120"/>
              </a:rPr>
              <a:t>The exactness condition M</a:t>
            </a:r>
            <a:pPr algn="l" indent="0" marL="0">
              <a:lnSpc>
                <a:spcPts val="1055"/>
              </a:lnSpc>
              <a:buNone/>
            </a:pPr>
            <a:r>
              <a:rPr lang="en-US" sz="800" i="1" baseline="-40000" dirty="0">
                <a:solidFill>
                  <a:srgbClr val="14171F"/>
                </a:solidFill>
                <a:latin typeface="Carlito" pitchFamily="34" charset="0"/>
                <a:ea typeface="Carlito" pitchFamily="34" charset="-122"/>
                <a:cs typeface="Carlito" pitchFamily="34" charset="-120"/>
              </a:rPr>
              <a:t>y</a:t>
            </a:r>
            <a:pPr algn="l" indent="0" marL="0">
              <a:lnSpc>
                <a:spcPts val="1055"/>
              </a:lnSpc>
              <a:buNone/>
            </a:pPr>
            <a:r>
              <a:rPr lang="en-US" sz="800" i="1" dirty="0">
                <a:solidFill>
                  <a:srgbClr val="14171F"/>
                </a:solidFill>
                <a:latin typeface="Carlito" pitchFamily="34" charset="0"/>
                <a:ea typeface="Carlito" pitchFamily="34" charset="-122"/>
                <a:cs typeface="Carlito" pitchFamily="34" charset="-120"/>
              </a:rPr>
              <a:t> = N</a:t>
            </a:r>
            <a:pPr algn="l" indent="0" marL="0">
              <a:lnSpc>
                <a:spcPts val="1055"/>
              </a:lnSpc>
              <a:buNone/>
            </a:pPr>
            <a:r>
              <a:rPr lang="en-US" sz="800" i="1" baseline="-40000" dirty="0">
                <a:solidFill>
                  <a:srgbClr val="14171F"/>
                </a:solidFill>
                <a:latin typeface="Carlito" pitchFamily="34" charset="0"/>
                <a:ea typeface="Carlito" pitchFamily="34" charset="-122"/>
                <a:cs typeface="Carlito" pitchFamily="34" charset="-120"/>
              </a:rPr>
              <a:t>x</a:t>
            </a:r>
            <a:pPr algn="l" indent="0" marL="0">
              <a:lnSpc>
                <a:spcPts val="1055"/>
              </a:lnSpc>
              <a:buNone/>
            </a:pPr>
            <a:r>
              <a:rPr lang="en-US" sz="800" i="1" dirty="0">
                <a:solidFill>
                  <a:srgbClr val="14171F"/>
                </a:solidFill>
                <a:latin typeface="Carlito" pitchFamily="34" charset="0"/>
                <a:ea typeface="Carlito" pitchFamily="34" charset="-122"/>
                <a:cs typeface="Carlito" pitchFamily="34" charset="-120"/>
              </a:rPr>
              <a:t> is not arbitrary — it is the integrability condition that guarantees the 1-form M dx + N dy is the total differential of some function F. Without it, no potential exists, and the method fails.</a:t>
            </a:r>
            <a:endParaRPr lang="en-US" sz="800" dirty="0"/>
          </a:p>
        </p:txBody>
      </p:sp>
      <p:sp>
        <p:nvSpPr>
          <p:cNvPr id="26" name="Text 18"/>
          <p:cNvSpPr/>
          <p:nvPr/>
        </p:nvSpPr>
        <p:spPr>
          <a:xfrm>
            <a:off x="5766346" y="2028490"/>
            <a:ext cx="2920343" cy="136874"/>
          </a:xfrm>
          <a:prstGeom prst="rect">
            <a:avLst/>
          </a:prstGeom>
          <a:noFill/>
          <a:ln/>
        </p:spPr>
        <p:txBody>
          <a:bodyPr wrap="none" lIns="0" tIns="0" rIns="0" bIns="0" rtlCol="0" anchor="t">
            <a:normAutofit/>
          </a:bodyPr>
          <a:lstStyle/>
          <a:p>
            <a:pPr algn="l" indent="0" marL="0">
              <a:lnSpc>
                <a:spcPts val="1013"/>
              </a:lnSpc>
              <a:buNone/>
            </a:pPr>
            <a:r>
              <a:rPr lang="en-US" sz="800" b="1" spc="68" kern="0" dirty="0">
                <a:solidFill>
                  <a:srgbClr val="1F61C9"/>
                </a:solidFill>
                <a:latin typeface="Carlito" pitchFamily="34" charset="0"/>
                <a:ea typeface="Carlito" pitchFamily="34" charset="-122"/>
                <a:cs typeface="Carlito" pitchFamily="34" charset="-120"/>
              </a:rPr>
              <a:t>CLAIRAUT’S THEOREM</a:t>
            </a:r>
            <a:endParaRPr lang="en-US" sz="800" dirty="0"/>
          </a:p>
        </p:txBody>
      </p:sp>
      <p:sp>
        <p:nvSpPr>
          <p:cNvPr id="27" name="Text 19"/>
          <p:cNvSpPr/>
          <p:nvPr/>
        </p:nvSpPr>
        <p:spPr>
          <a:xfrm>
            <a:off x="5766346" y="2192796"/>
            <a:ext cx="2920343" cy="387352"/>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If F</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xy</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and F</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yx</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are continuous, then F</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xy</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 F</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yx</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This symmetry of mixed partials is what allows us to swap the order of differentiation and integration in Step 4.</a:t>
            </a:r>
            <a:endParaRPr lang="en-US" sz="800" dirty="0"/>
          </a:p>
        </p:txBody>
      </p:sp>
      <p:sp>
        <p:nvSpPr>
          <p:cNvPr id="28" name="Text 20"/>
          <p:cNvSpPr/>
          <p:nvPr/>
        </p:nvSpPr>
        <p:spPr>
          <a:xfrm>
            <a:off x="5766346" y="2607580"/>
            <a:ext cx="2920343" cy="136874"/>
          </a:xfrm>
          <a:prstGeom prst="rect">
            <a:avLst/>
          </a:prstGeom>
          <a:noFill/>
          <a:ln/>
        </p:spPr>
        <p:txBody>
          <a:bodyPr wrap="none" lIns="0" tIns="0" rIns="0" bIns="0" rtlCol="0" anchor="t">
            <a:normAutofit/>
          </a:bodyPr>
          <a:lstStyle/>
          <a:p>
            <a:pPr algn="l" indent="0" marL="0">
              <a:lnSpc>
                <a:spcPts val="1013"/>
              </a:lnSpc>
              <a:buNone/>
            </a:pPr>
            <a:r>
              <a:rPr lang="en-US" sz="800" b="1" spc="68" kern="0" dirty="0">
                <a:solidFill>
                  <a:srgbClr val="1F61C9"/>
                </a:solidFill>
                <a:latin typeface="Carlito" pitchFamily="34" charset="0"/>
                <a:ea typeface="Carlito" pitchFamily="34" charset="-122"/>
                <a:cs typeface="Carlito" pitchFamily="34" charset="-120"/>
              </a:rPr>
              <a:t>SIMPLY CONNECTED?</a:t>
            </a:r>
            <a:endParaRPr lang="en-US" sz="800" dirty="0"/>
          </a:p>
        </p:txBody>
      </p:sp>
      <p:sp>
        <p:nvSpPr>
          <p:cNvPr id="29" name="Text 21"/>
          <p:cNvSpPr/>
          <p:nvPr/>
        </p:nvSpPr>
        <p:spPr>
          <a:xfrm>
            <a:off x="5766346" y="2771887"/>
            <a:ext cx="2920343" cy="509687"/>
          </a:xfrm>
          <a:prstGeom prst="rect">
            <a:avLst/>
          </a:prstGeom>
          <a:noFill/>
          <a:ln/>
        </p:spPr>
        <p:txBody>
          <a:bodyPr wrap="square" lIns="0" tIns="0" rIns="0" bIns="0" rtlCol="0" anchor="t"/>
          <a:lstStyle/>
          <a:p>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The region R must have no holes. On a region with holes (e.g., ℝ² \ {0}), the theorem can fail even when M</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 N</a:t>
            </a:r>
            <a:pPr algn="l" indent="0" marL="0">
              <a:lnSpc>
                <a:spcPts val="1055"/>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1055"/>
              </a:lnSpc>
              <a:buNone/>
            </a:pPr>
            <a:r>
              <a:rPr lang="en-US" sz="800" dirty="0">
                <a:solidFill>
                  <a:srgbClr val="14171F"/>
                </a:solidFill>
                <a:latin typeface="Carlito" pitchFamily="34" charset="0"/>
                <a:ea typeface="Carlito" pitchFamily="34" charset="-122"/>
                <a:cs typeface="Carlito" pitchFamily="34" charset="-120"/>
              </a:rPr>
              <a:t>. The classic counterexample is M = −y/(x²+y²), N = x/(x²+y²).</a:t>
            </a:r>
            <a:endParaRPr lang="en-US" sz="800" dirty="0"/>
          </a:p>
        </p:txBody>
      </p:sp>
      <p:sp>
        <p:nvSpPr>
          <p:cNvPr id="30" name="Text 22"/>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23 / 38</a:t>
            </a:r>
            <a:endParaRPr lang="en-US" sz="800" dirty="0"/>
          </a:p>
        </p:txBody>
      </p:sp>
      <p:pic>
        <p:nvPicPr>
          <p:cNvPr id="31"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16161"/>
            <a:ext cx="8458200" cy="233315"/>
          </a:xfrm>
          <a:prstGeom prst="rect">
            <a:avLst/>
          </a:prstGeom>
          <a:noFill/>
          <a:ln/>
        </p:spPr>
        <p:txBody>
          <a:bodyPr wrap="square" lIns="0" tIns="0" rIns="0" bIns="0" rtlCol="0" anchor="t">
            <a:normAutofit/>
          </a:bodyPr>
          <a:lstStyle/>
          <a:p>
            <a:pPr algn="l" indent="0" marL="0">
              <a:lnSpc>
                <a:spcPts val="1941"/>
              </a:lnSpc>
              <a:buNone/>
            </a:pPr>
            <a:r>
              <a:rPr lang="en-US" sz="1688" b="1" spc="-20" kern="0" dirty="0">
                <a:solidFill>
                  <a:srgbClr val="1A2A4F"/>
                </a:solidFill>
                <a:latin typeface="Liberation Sans Narrow" pitchFamily="34" charset="0"/>
                <a:ea typeface="Liberation Sans Narrow" pitchFamily="34" charset="-122"/>
                <a:cs typeface="Liberation Sans Narrow" pitchFamily="34" charset="-120"/>
              </a:rPr>
              <a:t>Exact Equations — Worked Example 1</a:t>
            </a:r>
            <a:endParaRPr lang="en-US" sz="1688" dirty="0"/>
          </a:p>
        </p:txBody>
      </p:sp>
      <p:sp>
        <p:nvSpPr>
          <p:cNvPr id="4" name="Text 2"/>
          <p:cNvSpPr/>
          <p:nvPr/>
        </p:nvSpPr>
        <p:spPr>
          <a:xfrm>
            <a:off x="685800" y="976908"/>
            <a:ext cx="8458200" cy="208312"/>
          </a:xfrm>
          <a:prstGeom prst="rect">
            <a:avLst/>
          </a:prstGeom>
          <a:noFill/>
          <a:ln/>
        </p:spPr>
        <p:txBody>
          <a:bodyPr wrap="none" lIns="0" tIns="0" rIns="0" bIns="0" rtlCol="0" anchor="t"/>
          <a:lstStyle/>
          <a:p>
            <a:pPr algn="l" indent="0" marL="0">
              <a:lnSpc>
                <a:spcPts val="1519"/>
              </a:lnSpc>
              <a:buNone/>
            </a:pPr>
            <a:r>
              <a:rPr lang="en-US" sz="1013" i="1" dirty="0">
                <a:solidFill>
                  <a:srgbClr val="1F61C9"/>
                </a:solidFill>
                <a:latin typeface="Tinos" pitchFamily="34" charset="0"/>
                <a:ea typeface="Tinos" pitchFamily="34" charset="-122"/>
                <a:cs typeface="Tinos" pitchFamily="34" charset="-120"/>
              </a:rPr>
              <a:t>Uncovering the Potential</a:t>
            </a:r>
            <a:endParaRPr lang="en-US" sz="1013" dirty="0"/>
          </a:p>
        </p:txBody>
      </p:sp>
      <p:sp>
        <p:nvSpPr>
          <p:cNvPr id="5" name="Text 3"/>
          <p:cNvSpPr/>
          <p:nvPr/>
        </p:nvSpPr>
        <p:spPr>
          <a:xfrm>
            <a:off x="685800" y="1241227"/>
            <a:ext cx="7943850" cy="449721"/>
          </a:xfrm>
          <a:prstGeom prst="roundRect">
            <a:avLst>
              <a:gd name="adj" fmla="val 8472"/>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241227"/>
            <a:ext cx="0" cy="449721"/>
          </a:xfrm>
          <a:prstGeom prst="line">
            <a:avLst/>
          </a:prstGeom>
          <a:noFill/>
          <a:ln w="28575">
            <a:solidFill>
              <a:srgbClr val="1F61C9"/>
            </a:solidFill>
            <a:prstDash val="solid"/>
          </a:ln>
        </p:spPr>
      </p:sp>
      <p:sp>
        <p:nvSpPr>
          <p:cNvPr id="7" name="Text 5"/>
          <p:cNvSpPr/>
          <p:nvPr/>
        </p:nvSpPr>
        <p:spPr>
          <a:xfrm>
            <a:off x="814388" y="1298377"/>
            <a:ext cx="7824978" cy="126159"/>
          </a:xfrm>
          <a:prstGeom prst="rect">
            <a:avLst/>
          </a:prstGeom>
          <a:noFill/>
          <a:ln/>
        </p:spPr>
        <p:txBody>
          <a:bodyPr wrap="square" lIns="0" tIns="0" rIns="0" bIns="0" rtlCol="0" anchor="t">
            <a:normAutofit/>
          </a:bodyPr>
          <a:lstStyle/>
          <a:p>
            <a:pPr algn="l" indent="0" marL="0">
              <a:lnSpc>
                <a:spcPts val="1097"/>
              </a:lnSpc>
              <a:buNone/>
            </a:pPr>
            <a:r>
              <a:rPr lang="en-US" sz="800" b="1" spc="29" kern="0" dirty="0">
                <a:solidFill>
                  <a:srgbClr val="1A2A4F"/>
                </a:solidFill>
                <a:latin typeface="Carlito" pitchFamily="34" charset="0"/>
                <a:ea typeface="Carlito" pitchFamily="34" charset="-122"/>
                <a:cs typeface="Carlito" pitchFamily="34" charset="-120"/>
              </a:rPr>
              <a:t>SOLVE THE DIFFERENTIAL EQUATION:</a:t>
            </a:r>
            <a:endParaRPr lang="en-US" sz="800" dirty="0"/>
          </a:p>
        </p:txBody>
      </p:sp>
      <p:pic>
        <p:nvPicPr>
          <p:cNvPr id="8" name="Image 0" descr="/tmp/h2p-svg-1781853765175-yexxa0.png">    </p:cNvPr>
          <p:cNvPicPr>
            <a:picLocks noChangeAspect="1"/>
          </p:cNvPicPr>
          <p:nvPr/>
        </p:nvPicPr>
        <p:blipFill>
          <a:blip r:embed="rId1"/>
          <a:stretch>
            <a:fillRect/>
          </a:stretch>
        </p:blipFill>
        <p:spPr>
          <a:xfrm>
            <a:off x="3721894" y="1451967"/>
            <a:ext cx="1900126" cy="164864"/>
          </a:xfrm>
          <a:prstGeom prst="rect">
            <a:avLst/>
          </a:prstGeom>
        </p:spPr>
      </p:pic>
      <p:sp>
        <p:nvSpPr>
          <p:cNvPr id="9" name="Text 6"/>
          <p:cNvSpPr/>
          <p:nvPr/>
        </p:nvSpPr>
        <p:spPr>
          <a:xfrm>
            <a:off x="685800" y="1790960"/>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1</a:t>
            </a:r>
            <a:endParaRPr lang="en-US" sz="800" dirty="0"/>
          </a:p>
        </p:txBody>
      </p:sp>
      <p:sp>
        <p:nvSpPr>
          <p:cNvPr id="10" name="Text 7"/>
          <p:cNvSpPr/>
          <p:nvPr/>
        </p:nvSpPr>
        <p:spPr>
          <a:xfrm>
            <a:off x="685800" y="1790960"/>
            <a:ext cx="1556833"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Identify M, N and test for exactness</a:t>
            </a:r>
            <a:endParaRPr lang="en-US" sz="800" dirty="0"/>
          </a:p>
        </p:txBody>
      </p:sp>
      <p:pic>
        <p:nvPicPr>
          <p:cNvPr id="11" name="Image 1" descr="/tmp/h2p-svg-1781853765188-ucmdjv.png">    </p:cNvPr>
          <p:cNvPicPr>
            <a:picLocks noChangeAspect="1"/>
          </p:cNvPicPr>
          <p:nvPr/>
        </p:nvPicPr>
        <p:blipFill>
          <a:blip r:embed="rId2"/>
          <a:stretch>
            <a:fillRect/>
          </a:stretch>
        </p:blipFill>
        <p:spPr>
          <a:xfrm>
            <a:off x="2933291" y="1762385"/>
            <a:ext cx="5134794" cy="171450"/>
          </a:xfrm>
          <a:prstGeom prst="rect">
            <a:avLst/>
          </a:prstGeom>
        </p:spPr>
      </p:pic>
      <p:sp>
        <p:nvSpPr>
          <p:cNvPr id="12" name="Text 8"/>
          <p:cNvSpPr/>
          <p:nvPr/>
        </p:nvSpPr>
        <p:spPr>
          <a:xfrm>
            <a:off x="685800" y="2093677"/>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2</a:t>
            </a:r>
            <a:endParaRPr lang="en-US" sz="800" dirty="0"/>
          </a:p>
        </p:txBody>
      </p:sp>
      <p:sp>
        <p:nvSpPr>
          <p:cNvPr id="13" name="Text 9"/>
          <p:cNvSpPr/>
          <p:nvPr/>
        </p:nvSpPr>
        <p:spPr>
          <a:xfrm>
            <a:off x="685800" y="2093677"/>
            <a:ext cx="1563812"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Integrate M with respect to x</a:t>
            </a:r>
            <a:endParaRPr lang="en-US" sz="800" dirty="0"/>
          </a:p>
        </p:txBody>
      </p:sp>
      <p:pic>
        <p:nvPicPr>
          <p:cNvPr id="14" name="Image 2" descr="/tmp/h2p-svg-1781853765193-h5jmcq.png">    </p:cNvPr>
          <p:cNvPicPr>
            <a:picLocks noChangeAspect="1"/>
          </p:cNvPicPr>
          <p:nvPr/>
        </p:nvPicPr>
        <p:blipFill>
          <a:blip r:embed="rId3"/>
          <a:stretch>
            <a:fillRect/>
          </a:stretch>
        </p:blipFill>
        <p:spPr>
          <a:xfrm>
            <a:off x="4138687" y="2065102"/>
            <a:ext cx="2723890" cy="323143"/>
          </a:xfrm>
          <a:prstGeom prst="rect">
            <a:avLst/>
          </a:prstGeom>
        </p:spPr>
      </p:pic>
      <p:sp>
        <p:nvSpPr>
          <p:cNvPr id="15" name="Text 10"/>
          <p:cNvSpPr/>
          <p:nvPr/>
        </p:nvSpPr>
        <p:spPr>
          <a:xfrm>
            <a:off x="685800" y="2473970"/>
            <a:ext cx="769940"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STEPS 3 &amp; 4</a:t>
            </a:r>
            <a:endParaRPr lang="en-US" sz="800" dirty="0"/>
          </a:p>
        </p:txBody>
      </p:sp>
      <p:sp>
        <p:nvSpPr>
          <p:cNvPr id="16" name="Text 11"/>
          <p:cNvSpPr/>
          <p:nvPr/>
        </p:nvSpPr>
        <p:spPr>
          <a:xfrm>
            <a:off x="685800" y="2473970"/>
            <a:ext cx="1592802"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Differentiate F in y, then match to N to find g(y)</a:t>
            </a:r>
            <a:endParaRPr lang="en-US" sz="800" dirty="0"/>
          </a:p>
        </p:txBody>
      </p:sp>
      <p:pic>
        <p:nvPicPr>
          <p:cNvPr id="17" name="Image 3" descr="/tmp/h2p-svg-1781853765204-q9ny4e.png">    </p:cNvPr>
          <p:cNvPicPr>
            <a:picLocks noChangeAspect="1"/>
          </p:cNvPicPr>
          <p:nvPr/>
        </p:nvPicPr>
        <p:blipFill>
          <a:blip r:embed="rId4"/>
          <a:stretch>
            <a:fillRect/>
          </a:stretch>
        </p:blipFill>
        <p:spPr>
          <a:xfrm>
            <a:off x="3305547" y="2445395"/>
            <a:ext cx="4390169" cy="171450"/>
          </a:xfrm>
          <a:prstGeom prst="rect">
            <a:avLst/>
          </a:prstGeom>
        </p:spPr>
      </p:pic>
      <p:sp>
        <p:nvSpPr>
          <p:cNvPr id="18" name="Text 12"/>
          <p:cNvSpPr/>
          <p:nvPr/>
        </p:nvSpPr>
        <p:spPr>
          <a:xfrm>
            <a:off x="685800" y="2776686"/>
            <a:ext cx="471826" cy="128016"/>
          </a:xfrm>
          <a:prstGeom prst="rect">
            <a:avLst/>
          </a:prstGeom>
          <a:noFill/>
          <a:ln/>
        </p:spPr>
        <p:txBody>
          <a:bodyPr wrap="none" lIns="0" tIns="0" rIns="0" bIns="0" rtlCol="0" anchor="t"/>
          <a:lstStyle/>
          <a:p>
            <a:pPr algn="l" indent="0" marL="0">
              <a:lnSpc>
                <a:spcPts val="911"/>
              </a:lnSpc>
              <a:buNone/>
            </a:pPr>
            <a:r>
              <a:rPr lang="en-US" sz="800" b="1" spc="34" kern="0" dirty="0">
                <a:solidFill>
                  <a:srgbClr val="1F61C9"/>
                </a:solidFill>
                <a:latin typeface="Liberation Sans Narrow" pitchFamily="34" charset="0"/>
                <a:ea typeface="Liberation Sans Narrow" pitchFamily="34" charset="-122"/>
                <a:cs typeface="Liberation Sans Narrow" pitchFamily="34" charset="-120"/>
              </a:rPr>
              <a:t>STEP 5</a:t>
            </a:r>
            <a:endParaRPr lang="en-US" sz="800" dirty="0"/>
          </a:p>
        </p:txBody>
      </p:sp>
      <p:sp>
        <p:nvSpPr>
          <p:cNvPr id="19" name="Text 13"/>
          <p:cNvSpPr/>
          <p:nvPr/>
        </p:nvSpPr>
        <p:spPr>
          <a:xfrm>
            <a:off x="685800" y="2776686"/>
            <a:ext cx="1592683" cy="276034"/>
          </a:xfrm>
          <a:prstGeom prst="rect">
            <a:avLst/>
          </a:prstGeom>
          <a:noFill/>
          <a:ln/>
        </p:spPr>
        <p:txBody>
          <a:bodyPr wrap="square" lIns="0" tIns="0" rIns="0" bIns="0" rtlCol="0" anchor="t"/>
          <a:lstStyle/>
          <a:p>
            <a:pPr algn="l" indent="0" marL="0">
              <a:lnSpc>
                <a:spcPts val="911"/>
              </a:lnSpc>
              <a:buNone/>
            </a:pPr>
            <a:r>
              <a:rPr lang="en-US" sz="800" i="1" dirty="0">
                <a:solidFill>
                  <a:srgbClr val="4A5160"/>
                </a:solidFill>
                <a:latin typeface="Carlito" pitchFamily="34" charset="0"/>
                <a:ea typeface="Carlito" pitchFamily="34" charset="-122"/>
                <a:cs typeface="Carlito" pitchFamily="34" charset="-120"/>
              </a:rPr>
              <a:t>State the implicit solution F(x, y) = C</a:t>
            </a:r>
            <a:endParaRPr lang="en-US" sz="800" dirty="0"/>
          </a:p>
        </p:txBody>
      </p:sp>
      <p:pic>
        <p:nvPicPr>
          <p:cNvPr id="20" name="Image 4" descr="/tmp/h2p-svg-1781853765212-q7up5f.png">    </p:cNvPr>
          <p:cNvPicPr>
            <a:picLocks noChangeAspect="1"/>
          </p:cNvPicPr>
          <p:nvPr/>
        </p:nvPicPr>
        <p:blipFill>
          <a:blip r:embed="rId5"/>
          <a:stretch>
            <a:fillRect/>
          </a:stretch>
        </p:blipFill>
        <p:spPr>
          <a:xfrm>
            <a:off x="4589971" y="2748111"/>
            <a:ext cx="1821433" cy="164864"/>
          </a:xfrm>
          <a:prstGeom prst="rect">
            <a:avLst/>
          </a:prstGeom>
        </p:spPr>
      </p:pic>
      <p:sp>
        <p:nvSpPr>
          <p:cNvPr id="21" name="Text 14"/>
          <p:cNvSpPr/>
          <p:nvPr/>
        </p:nvSpPr>
        <p:spPr>
          <a:xfrm>
            <a:off x="3529459" y="3214576"/>
            <a:ext cx="773088" cy="164592"/>
          </a:xfrm>
          <a:prstGeom prst="rect">
            <a:avLst/>
          </a:prstGeom>
          <a:noFill/>
          <a:ln/>
        </p:spPr>
        <p:txBody>
          <a:bodyPr wrap="none" lIns="7858" tIns="0" rIns="0" bIns="0" rtlCol="0" anchor="t"/>
          <a:lstStyle/>
          <a:p>
            <a:pPr algn="ctr" indent="0" marL="0">
              <a:lnSpc>
                <a:spcPts val="928"/>
              </a:lnSpc>
              <a:buNone/>
            </a:pPr>
            <a:r>
              <a:rPr lang="en-US" sz="800" b="1" spc="62"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22" name="Text 15"/>
          <p:cNvSpPr/>
          <p:nvPr/>
        </p:nvSpPr>
        <p:spPr>
          <a:xfrm>
            <a:off x="4347083" y="3068687"/>
            <a:ext cx="1435224" cy="356183"/>
          </a:xfrm>
          <a:prstGeom prst="roundRect">
            <a:avLst>
              <a:gd name="adj" fmla="val 10697"/>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23" name="Image 5" descr="/tmp/h2p-svg-1781853765215-9ow68o.png">    </p:cNvPr>
          <p:cNvPicPr>
            <a:picLocks noChangeAspect="1"/>
          </p:cNvPicPr>
          <p:nvPr/>
        </p:nvPicPr>
        <p:blipFill>
          <a:blip r:embed="rId6"/>
          <a:stretch>
            <a:fillRect/>
          </a:stretch>
        </p:blipFill>
        <p:spPr>
          <a:xfrm>
            <a:off x="4450668" y="3150282"/>
            <a:ext cx="1228055" cy="175915"/>
          </a:xfrm>
          <a:prstGeom prst="rect">
            <a:avLst/>
          </a:prstGeom>
        </p:spPr>
      </p:pic>
      <p:sp>
        <p:nvSpPr>
          <p:cNvPr id="24" name="Text 16"/>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24 / 38</a:t>
            </a:r>
            <a:endParaRPr lang="en-US" sz="800" dirty="0"/>
          </a:p>
        </p:txBody>
      </p:sp>
      <p:pic>
        <p:nvPicPr>
          <p:cNvPr id="25" name="Image 6" descr="preencoded.png">    </p:cNvPr>
          <p:cNvPicPr>
            <a:picLocks noChangeAspect="1"/>
          </p:cNvPicPr>
          <p:nvPr/>
        </p:nvPicPr>
        <p:blipFill>
          <a:blip r:embed="rId7"/>
          <a:stretch>
            <a:fillRect/>
          </a:stretch>
        </p:blipFill>
        <p:spPr>
          <a:xfrm>
            <a:off x="0" y="0"/>
            <a:ext cx="17145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659011"/>
            <a:ext cx="8458200" cy="168240"/>
          </a:xfrm>
          <a:prstGeom prst="rect">
            <a:avLst/>
          </a:prstGeom>
          <a:noFill/>
          <a:ln/>
        </p:spPr>
        <p:txBody>
          <a:bodyPr wrap="square" lIns="0" tIns="0" rIns="0" bIns="0" rtlCol="0" anchor="t">
            <a:normAutofit/>
          </a:bodyPr>
          <a:lstStyle/>
          <a:p>
            <a:pPr algn="l" indent="0" marL="0">
              <a:lnSpc>
                <a:spcPts val="1485"/>
              </a:lnSpc>
              <a:buNone/>
            </a:pPr>
            <a:r>
              <a:rPr lang="en-US" sz="1350" b="1" spc="-16" kern="0" dirty="0">
                <a:solidFill>
                  <a:srgbClr val="1A2A4F"/>
                </a:solidFill>
                <a:latin typeface="Liberation Sans Narrow" pitchFamily="34" charset="0"/>
                <a:ea typeface="Liberation Sans Narrow" pitchFamily="34" charset="-122"/>
                <a:cs typeface="Liberation Sans Narrow" pitchFamily="34" charset="-120"/>
              </a:rPr>
              <a:t>Exact Equations — Worked Example 2</a:t>
            </a:r>
            <a:endParaRPr lang="en-US" sz="1350" dirty="0"/>
          </a:p>
        </p:txBody>
      </p:sp>
      <p:sp>
        <p:nvSpPr>
          <p:cNvPr id="4" name="Text 2"/>
          <p:cNvSpPr/>
          <p:nvPr/>
        </p:nvSpPr>
        <p:spPr>
          <a:xfrm>
            <a:off x="685800" y="854683"/>
            <a:ext cx="8458200" cy="164592"/>
          </a:xfrm>
          <a:prstGeom prst="rect">
            <a:avLst/>
          </a:prstGeom>
          <a:noFill/>
          <a:ln/>
        </p:spPr>
        <p:txBody>
          <a:bodyPr wrap="square" lIns="0" tIns="0" rIns="0" bIns="0" rtlCol="0" anchor="t"/>
          <a:lstStyle/>
          <a:p>
            <a:pPr algn="l" indent="0" marL="0">
              <a:lnSpc>
                <a:spcPts val="1181"/>
              </a:lnSpc>
              <a:buNone/>
            </a:pPr>
            <a:r>
              <a:rPr lang="en-US" sz="800" i="1" spc="-4" kern="0" dirty="0">
                <a:solidFill>
                  <a:srgbClr val="1F61C9"/>
                </a:solidFill>
                <a:latin typeface="Carlito" pitchFamily="34" charset="0"/>
                <a:ea typeface="Carlito" pitchFamily="34" charset="-122"/>
                <a:cs typeface="Carlito" pitchFamily="34" charset="-120"/>
              </a:rPr>
              <a:t>Forcing Exactness with an Integrating Factor</a:t>
            </a:r>
            <a:endParaRPr lang="en-US" sz="800" dirty="0"/>
          </a:p>
        </p:txBody>
      </p:sp>
      <p:sp>
        <p:nvSpPr>
          <p:cNvPr id="5" name="Text 3"/>
          <p:cNvSpPr/>
          <p:nvPr/>
        </p:nvSpPr>
        <p:spPr>
          <a:xfrm>
            <a:off x="685800" y="1047564"/>
            <a:ext cx="7943850" cy="374935"/>
          </a:xfrm>
          <a:prstGeom prst="roundRect">
            <a:avLst>
              <a:gd name="adj" fmla="val 10162"/>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047564"/>
            <a:ext cx="0" cy="374935"/>
          </a:xfrm>
          <a:prstGeom prst="line">
            <a:avLst/>
          </a:prstGeom>
          <a:noFill/>
          <a:ln w="28575">
            <a:solidFill>
              <a:srgbClr val="1F61C9"/>
            </a:solidFill>
            <a:prstDash val="solid"/>
          </a:ln>
        </p:spPr>
      </p:sp>
      <p:sp>
        <p:nvSpPr>
          <p:cNvPr id="7" name="Text 5"/>
          <p:cNvSpPr/>
          <p:nvPr/>
        </p:nvSpPr>
        <p:spPr>
          <a:xfrm>
            <a:off x="828675" y="1076139"/>
            <a:ext cx="7796403" cy="123145"/>
          </a:xfrm>
          <a:prstGeom prst="rect">
            <a:avLst/>
          </a:prstGeom>
          <a:noFill/>
          <a:ln/>
        </p:spPr>
        <p:txBody>
          <a:bodyPr wrap="square" lIns="0" tIns="0" rIns="0" bIns="0" rtlCol="0" anchor="t">
            <a:normAutofit/>
          </a:bodyPr>
          <a:lstStyle/>
          <a:p>
            <a:pPr algn="l" indent="0" marL="0">
              <a:lnSpc>
                <a:spcPts val="911"/>
              </a:lnSpc>
              <a:buNone/>
            </a:pPr>
            <a:r>
              <a:rPr lang="en-US" sz="800" dirty="0">
                <a:solidFill>
                  <a:srgbClr val="14171F"/>
                </a:solidFill>
                <a:latin typeface="Carlito" pitchFamily="34" charset="0"/>
                <a:ea typeface="Carlito" pitchFamily="34" charset="-122"/>
                <a:cs typeface="Carlito" pitchFamily="34" charset="-120"/>
              </a:rPr>
              <a:t>Solve the differential equation:</a:t>
            </a:r>
            <a:endParaRPr lang="en-US" sz="800" dirty="0"/>
          </a:p>
        </p:txBody>
      </p:sp>
      <p:pic>
        <p:nvPicPr>
          <p:cNvPr id="8" name="Image 0" descr="/tmp/h2p-svg-1781853765423-ncw4mt.png">    </p:cNvPr>
          <p:cNvPicPr>
            <a:picLocks noChangeAspect="1"/>
          </p:cNvPicPr>
          <p:nvPr/>
        </p:nvPicPr>
        <p:blipFill>
          <a:blip r:embed="rId1"/>
          <a:stretch>
            <a:fillRect/>
          </a:stretch>
        </p:blipFill>
        <p:spPr>
          <a:xfrm>
            <a:off x="3981636" y="1226716"/>
            <a:ext cx="1380641" cy="128253"/>
          </a:xfrm>
          <a:prstGeom prst="rect">
            <a:avLst/>
          </a:prstGeom>
        </p:spPr>
      </p:pic>
      <p:sp>
        <p:nvSpPr>
          <p:cNvPr id="9" name="Shape 6"/>
          <p:cNvSpPr/>
          <p:nvPr/>
        </p:nvSpPr>
        <p:spPr>
          <a:xfrm>
            <a:off x="685800" y="1979377"/>
            <a:ext cx="7943850" cy="0"/>
          </a:xfrm>
          <a:prstGeom prst="line">
            <a:avLst/>
          </a:prstGeom>
          <a:noFill/>
          <a:ln w="7144">
            <a:solidFill>
              <a:srgbClr val="E3E6EE"/>
            </a:solidFill>
            <a:prstDash val="dash"/>
          </a:ln>
        </p:spPr>
      </p:sp>
      <p:sp>
        <p:nvSpPr>
          <p:cNvPr id="10" name="Text 7"/>
          <p:cNvSpPr/>
          <p:nvPr/>
        </p:nvSpPr>
        <p:spPr>
          <a:xfrm>
            <a:off x="1308088" y="1561802"/>
            <a:ext cx="1096677"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Test for exactness — not exact</a:t>
            </a:r>
            <a:endParaRPr lang="en-US" sz="800" dirty="0"/>
          </a:p>
        </p:txBody>
      </p:sp>
      <p:sp>
        <p:nvSpPr>
          <p:cNvPr id="11" name="Text 8"/>
          <p:cNvSpPr/>
          <p:nvPr/>
        </p:nvSpPr>
        <p:spPr>
          <a:xfrm>
            <a:off x="685800" y="1472505"/>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1</a:t>
            </a:r>
            <a:endParaRPr lang="en-US" sz="800" dirty="0"/>
          </a:p>
        </p:txBody>
      </p:sp>
      <p:pic>
        <p:nvPicPr>
          <p:cNvPr id="12" name="Image 1" descr="/tmp/h2p-svg-1781853765423-ztgi5z.png">    </p:cNvPr>
          <p:cNvPicPr>
            <a:picLocks noChangeAspect="1"/>
          </p:cNvPicPr>
          <p:nvPr/>
        </p:nvPicPr>
        <p:blipFill>
          <a:blip r:embed="rId2"/>
          <a:stretch>
            <a:fillRect/>
          </a:stretch>
        </p:blipFill>
        <p:spPr>
          <a:xfrm>
            <a:off x="4973724" y="1493155"/>
            <a:ext cx="1286768" cy="133276"/>
          </a:xfrm>
          <a:prstGeom prst="rect">
            <a:avLst/>
          </a:prstGeom>
        </p:spPr>
      </p:pic>
      <p:pic>
        <p:nvPicPr>
          <p:cNvPr id="13" name="Image 2" descr="/tmp/h2p-svg-1781853765423-i875r5.png">    </p:cNvPr>
          <p:cNvPicPr>
            <a:picLocks noChangeAspect="1"/>
          </p:cNvPicPr>
          <p:nvPr/>
        </p:nvPicPr>
        <p:blipFill>
          <a:blip r:embed="rId3"/>
          <a:stretch>
            <a:fillRect/>
          </a:stretch>
        </p:blipFill>
        <p:spPr>
          <a:xfrm>
            <a:off x="4923606" y="1661368"/>
            <a:ext cx="1387115" cy="123118"/>
          </a:xfrm>
          <a:prstGeom prst="rect">
            <a:avLst/>
          </a:prstGeom>
        </p:spPr>
      </p:pic>
      <p:pic>
        <p:nvPicPr>
          <p:cNvPr id="14" name="Image 3" descr="/tmp/h2p-svg-1781853765423-1fqwbx.png">    </p:cNvPr>
          <p:cNvPicPr>
            <a:picLocks noChangeAspect="1"/>
          </p:cNvPicPr>
          <p:nvPr/>
        </p:nvPicPr>
        <p:blipFill>
          <a:blip r:embed="rId4"/>
          <a:stretch>
            <a:fillRect/>
          </a:stretch>
        </p:blipFill>
        <p:spPr>
          <a:xfrm>
            <a:off x="4319736" y="1819424"/>
            <a:ext cx="2594744" cy="114300"/>
          </a:xfrm>
          <a:prstGeom prst="rect">
            <a:avLst/>
          </a:prstGeom>
        </p:spPr>
      </p:pic>
      <p:sp>
        <p:nvSpPr>
          <p:cNvPr id="15" name="Shape 9"/>
          <p:cNvSpPr/>
          <p:nvPr/>
        </p:nvSpPr>
        <p:spPr>
          <a:xfrm>
            <a:off x="685800" y="2442493"/>
            <a:ext cx="7943850" cy="0"/>
          </a:xfrm>
          <a:prstGeom prst="line">
            <a:avLst/>
          </a:prstGeom>
          <a:noFill/>
          <a:ln w="7144">
            <a:solidFill>
              <a:srgbClr val="E3E6EE"/>
            </a:solidFill>
            <a:prstDash val="dash"/>
          </a:ln>
        </p:spPr>
      </p:sp>
      <p:sp>
        <p:nvSpPr>
          <p:cNvPr id="16" name="Text 10"/>
          <p:cNvSpPr/>
          <p:nvPr/>
        </p:nvSpPr>
        <p:spPr>
          <a:xfrm>
            <a:off x="1552315" y="2100821"/>
            <a:ext cx="852450"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Test for x-only IF — fails</a:t>
            </a:r>
            <a:endParaRPr lang="en-US" sz="800" dirty="0"/>
          </a:p>
        </p:txBody>
      </p:sp>
      <p:sp>
        <p:nvSpPr>
          <p:cNvPr id="17" name="Text 11"/>
          <p:cNvSpPr/>
          <p:nvPr/>
        </p:nvSpPr>
        <p:spPr>
          <a:xfrm>
            <a:off x="685800" y="2011524"/>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2</a:t>
            </a:r>
            <a:endParaRPr lang="en-US" sz="800" dirty="0"/>
          </a:p>
        </p:txBody>
      </p:sp>
      <p:pic>
        <p:nvPicPr>
          <p:cNvPr id="18" name="Image 4" descr="/tmp/h2p-svg-1781853765424-wlk1wm.png">    </p:cNvPr>
          <p:cNvPicPr>
            <a:picLocks noChangeAspect="1"/>
          </p:cNvPicPr>
          <p:nvPr/>
        </p:nvPicPr>
        <p:blipFill>
          <a:blip r:embed="rId5"/>
          <a:stretch>
            <a:fillRect/>
          </a:stretch>
        </p:blipFill>
        <p:spPr>
          <a:xfrm>
            <a:off x="4751822" y="2032174"/>
            <a:ext cx="1730573" cy="275369"/>
          </a:xfrm>
          <a:prstGeom prst="rect">
            <a:avLst/>
          </a:prstGeom>
        </p:spPr>
      </p:pic>
      <p:sp>
        <p:nvSpPr>
          <p:cNvPr id="19" name="Text 12"/>
          <p:cNvSpPr/>
          <p:nvPr/>
        </p:nvSpPr>
        <p:spPr>
          <a:xfrm>
            <a:off x="2519065" y="2342480"/>
            <a:ext cx="6110585" cy="91440"/>
          </a:xfrm>
          <a:prstGeom prst="rect">
            <a:avLst/>
          </a:prstGeom>
          <a:noFill/>
          <a:ln/>
        </p:spPr>
        <p:txBody>
          <a:bodyPr wrap="square" lIns="0" tIns="0" rIns="0" bIns="0" rtlCol="0" anchor="t"/>
          <a:lstStyle/>
          <a:p>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Depends on y — not a function of x alone. Try the y-only test.</a:t>
            </a:r>
            <a:endParaRPr lang="en-US" sz="800" dirty="0"/>
          </a:p>
        </p:txBody>
      </p:sp>
      <p:sp>
        <p:nvSpPr>
          <p:cNvPr id="20" name="Shape 13"/>
          <p:cNvSpPr/>
          <p:nvPr/>
        </p:nvSpPr>
        <p:spPr>
          <a:xfrm>
            <a:off x="685800" y="2905720"/>
            <a:ext cx="7943850" cy="0"/>
          </a:xfrm>
          <a:prstGeom prst="line">
            <a:avLst/>
          </a:prstGeom>
          <a:noFill/>
          <a:ln w="7144">
            <a:solidFill>
              <a:srgbClr val="E3E6EE"/>
            </a:solidFill>
            <a:prstDash val="dash"/>
          </a:ln>
        </p:spPr>
      </p:sp>
      <p:sp>
        <p:nvSpPr>
          <p:cNvPr id="21" name="Text 14"/>
          <p:cNvSpPr/>
          <p:nvPr/>
        </p:nvSpPr>
        <p:spPr>
          <a:xfrm>
            <a:off x="1489360" y="2563937"/>
            <a:ext cx="915405"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Test for y-only IF — works</a:t>
            </a:r>
            <a:endParaRPr lang="en-US" sz="800" dirty="0"/>
          </a:p>
        </p:txBody>
      </p:sp>
      <p:sp>
        <p:nvSpPr>
          <p:cNvPr id="22" name="Text 15"/>
          <p:cNvSpPr/>
          <p:nvPr/>
        </p:nvSpPr>
        <p:spPr>
          <a:xfrm>
            <a:off x="685800" y="2474640"/>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3</a:t>
            </a:r>
            <a:endParaRPr lang="en-US" sz="800" dirty="0"/>
          </a:p>
        </p:txBody>
      </p:sp>
      <p:pic>
        <p:nvPicPr>
          <p:cNvPr id="23" name="Image 5" descr="/tmp/h2p-svg-1781853765424-jn9kid.png">    </p:cNvPr>
          <p:cNvPicPr>
            <a:picLocks noChangeAspect="1"/>
          </p:cNvPicPr>
          <p:nvPr/>
        </p:nvPicPr>
        <p:blipFill>
          <a:blip r:embed="rId6"/>
          <a:stretch>
            <a:fillRect/>
          </a:stretch>
        </p:blipFill>
        <p:spPr>
          <a:xfrm>
            <a:off x="4661074" y="2495290"/>
            <a:ext cx="1912069" cy="275481"/>
          </a:xfrm>
          <a:prstGeom prst="rect">
            <a:avLst/>
          </a:prstGeom>
        </p:spPr>
      </p:pic>
      <p:sp>
        <p:nvSpPr>
          <p:cNvPr id="24" name="Text 16"/>
          <p:cNvSpPr/>
          <p:nvPr/>
        </p:nvSpPr>
        <p:spPr>
          <a:xfrm>
            <a:off x="2519065" y="2805708"/>
            <a:ext cx="6220313" cy="91440"/>
          </a:xfrm>
          <a:prstGeom prst="rect">
            <a:avLst/>
          </a:prstGeom>
          <a:noFill/>
          <a:ln/>
        </p:spPr>
        <p:txBody>
          <a:bodyPr wrap="square" lIns="0" tIns="0" rIns="0" bIns="0" rtlCol="0" anchor="t"/>
          <a:lstStyle/>
          <a:p>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Function of y alone! So g(y) = 1/(2y).</a:t>
            </a:r>
            <a:endParaRPr lang="en-US" sz="800" dirty="0"/>
          </a:p>
        </p:txBody>
      </p:sp>
      <p:sp>
        <p:nvSpPr>
          <p:cNvPr id="25" name="Shape 17"/>
          <p:cNvSpPr/>
          <p:nvPr/>
        </p:nvSpPr>
        <p:spPr>
          <a:xfrm>
            <a:off x="685800" y="3153742"/>
            <a:ext cx="7943850" cy="0"/>
          </a:xfrm>
          <a:prstGeom prst="line">
            <a:avLst/>
          </a:prstGeom>
          <a:noFill/>
          <a:ln w="7144">
            <a:solidFill>
              <a:srgbClr val="E3E6EE"/>
            </a:solidFill>
            <a:prstDash val="dash"/>
          </a:ln>
        </p:spPr>
      </p:sp>
      <p:sp>
        <p:nvSpPr>
          <p:cNvPr id="26" name="Text 18"/>
          <p:cNvSpPr/>
          <p:nvPr/>
        </p:nvSpPr>
        <p:spPr>
          <a:xfrm>
            <a:off x="1290228" y="3027164"/>
            <a:ext cx="1114537" cy="115863"/>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Compute the integrating factor</a:t>
            </a:r>
            <a:endParaRPr lang="en-US" sz="800" dirty="0"/>
          </a:p>
        </p:txBody>
      </p:sp>
      <p:sp>
        <p:nvSpPr>
          <p:cNvPr id="27" name="Text 19"/>
          <p:cNvSpPr/>
          <p:nvPr/>
        </p:nvSpPr>
        <p:spPr>
          <a:xfrm>
            <a:off x="685800" y="2937867"/>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4</a:t>
            </a:r>
            <a:endParaRPr lang="en-US" sz="800" dirty="0"/>
          </a:p>
        </p:txBody>
      </p:sp>
      <p:pic>
        <p:nvPicPr>
          <p:cNvPr id="28" name="Image 6" descr="/tmp/h2p-svg-1781853765424-xfskpy.png">    </p:cNvPr>
          <p:cNvPicPr>
            <a:picLocks noChangeAspect="1"/>
          </p:cNvPicPr>
          <p:nvPr/>
        </p:nvPicPr>
        <p:blipFill>
          <a:blip r:embed="rId7"/>
          <a:stretch>
            <a:fillRect/>
          </a:stretch>
        </p:blipFill>
        <p:spPr>
          <a:xfrm>
            <a:off x="4889897" y="2958517"/>
            <a:ext cx="1454423" cy="149572"/>
          </a:xfrm>
          <a:prstGeom prst="rect">
            <a:avLst/>
          </a:prstGeom>
        </p:spPr>
      </p:pic>
      <p:sp>
        <p:nvSpPr>
          <p:cNvPr id="29" name="Shape 20"/>
          <p:cNvSpPr/>
          <p:nvPr/>
        </p:nvSpPr>
        <p:spPr>
          <a:xfrm>
            <a:off x="685800" y="3582367"/>
            <a:ext cx="7943850" cy="0"/>
          </a:xfrm>
          <a:prstGeom prst="line">
            <a:avLst/>
          </a:prstGeom>
          <a:noFill/>
          <a:ln w="7144">
            <a:solidFill>
              <a:srgbClr val="E3E6EE"/>
            </a:solidFill>
            <a:prstDash val="dash"/>
          </a:ln>
        </p:spPr>
      </p:sp>
      <p:sp>
        <p:nvSpPr>
          <p:cNvPr id="30" name="Text 21"/>
          <p:cNvSpPr/>
          <p:nvPr/>
        </p:nvSpPr>
        <p:spPr>
          <a:xfrm>
            <a:off x="1224818" y="3275186"/>
            <a:ext cx="1179947"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Multiply equation by μ and verify</a:t>
            </a:r>
            <a:endParaRPr lang="en-US" sz="800" dirty="0"/>
          </a:p>
        </p:txBody>
      </p:sp>
      <p:sp>
        <p:nvSpPr>
          <p:cNvPr id="31" name="Text 22"/>
          <p:cNvSpPr/>
          <p:nvPr/>
        </p:nvSpPr>
        <p:spPr>
          <a:xfrm>
            <a:off x="685800" y="3185889"/>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5</a:t>
            </a:r>
            <a:endParaRPr lang="en-US" sz="800" dirty="0"/>
          </a:p>
        </p:txBody>
      </p:sp>
      <p:pic>
        <p:nvPicPr>
          <p:cNvPr id="32" name="Image 7" descr="/tmp/h2p-svg-1781853765424-vtv991.png">    </p:cNvPr>
          <p:cNvPicPr>
            <a:picLocks noChangeAspect="1"/>
          </p:cNvPicPr>
          <p:nvPr/>
        </p:nvPicPr>
        <p:blipFill>
          <a:blip r:embed="rId8"/>
          <a:stretch>
            <a:fillRect/>
          </a:stretch>
        </p:blipFill>
        <p:spPr>
          <a:xfrm>
            <a:off x="4750147" y="3206539"/>
            <a:ext cx="1733922" cy="203485"/>
          </a:xfrm>
          <a:prstGeom prst="rect">
            <a:avLst/>
          </a:prstGeom>
        </p:spPr>
      </p:pic>
      <p:sp>
        <p:nvSpPr>
          <p:cNvPr id="33" name="Text 23"/>
          <p:cNvSpPr/>
          <p:nvPr/>
        </p:nvSpPr>
        <p:spPr>
          <a:xfrm>
            <a:off x="2519065" y="3444962"/>
            <a:ext cx="6220313" cy="126690"/>
          </a:xfrm>
          <a:prstGeom prst="rect">
            <a:avLst/>
          </a:prstGeom>
          <a:noFill/>
          <a:ln/>
        </p:spPr>
        <p:txBody>
          <a:bodyPr wrap="square" lIns="0" tIns="0" rIns="0" bIns="0" rtlCol="0" anchor="t"/>
          <a:lstStyle/>
          <a:p>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Verify exactness: M</a:t>
            </a:r>
            <a:pPr algn="l" indent="0" marL="0">
              <a:lnSpc>
                <a:spcPts val="703"/>
              </a:lnSpc>
              <a:buNone/>
            </a:pPr>
            <a:r>
              <a:rPr lang="en-US" sz="800" i="1" baseline="-40000" dirty="0">
                <a:solidFill>
                  <a:srgbClr val="14171F"/>
                </a:solidFill>
                <a:latin typeface="Carlito" pitchFamily="34" charset="0"/>
                <a:ea typeface="Carlito" pitchFamily="34" charset="-122"/>
                <a:cs typeface="Carlito" pitchFamily="34" charset="-120"/>
              </a:rPr>
              <a:t>y</a:t>
            </a:r>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 = 3x²y</a:t>
            </a:r>
            <a:pPr algn="l" indent="0" marL="0">
              <a:lnSpc>
                <a:spcPts val="703"/>
              </a:lnSpc>
              <a:buNone/>
            </a:pPr>
            <a:r>
              <a:rPr lang="en-US" sz="800" i="1" baseline="30000" dirty="0">
                <a:solidFill>
                  <a:srgbClr val="14171F"/>
                </a:solidFill>
                <a:latin typeface="Liberation Sans Narrow" pitchFamily="34" charset="0"/>
                <a:ea typeface="Liberation Sans Narrow" pitchFamily="34" charset="-122"/>
                <a:cs typeface="Liberation Sans Narrow" pitchFamily="34" charset="-120"/>
              </a:rPr>
              <a:t>1/2</a:t>
            </a:r>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 = N</a:t>
            </a:r>
            <a:pPr algn="l" indent="0" marL="0">
              <a:lnSpc>
                <a:spcPts val="703"/>
              </a:lnSpc>
              <a:buNone/>
            </a:pPr>
            <a:r>
              <a:rPr lang="en-US" sz="800" i="1" baseline="-40000" dirty="0">
                <a:solidFill>
                  <a:srgbClr val="14171F"/>
                </a:solidFill>
                <a:latin typeface="Carlito" pitchFamily="34" charset="0"/>
                <a:ea typeface="Carlito" pitchFamily="34" charset="-122"/>
                <a:cs typeface="Carlito" pitchFamily="34" charset="-120"/>
              </a:rPr>
              <a:t>x</a:t>
            </a:r>
            <a:pPr algn="l" indent="0" marL="0">
              <a:lnSpc>
                <a:spcPts val="703"/>
              </a:lnSpc>
              <a:buNone/>
            </a:pPr>
            <a:r>
              <a:rPr lang="en-US" sz="800" i="1" dirty="0">
                <a:solidFill>
                  <a:srgbClr val="14171F"/>
                </a:solidFill>
                <a:latin typeface="Carlito" pitchFamily="34" charset="0"/>
                <a:ea typeface="Carlito" pitchFamily="34" charset="-122"/>
                <a:cs typeface="Carlito" pitchFamily="34" charset="-120"/>
              </a:rPr>
              <a:t>*. </a:t>
            </a:r>
            <a:pPr algn="l" indent="0" marL="0">
              <a:lnSpc>
                <a:spcPts val="703"/>
              </a:lnSpc>
              <a:buNone/>
            </a:pPr>
            <a:r>
              <a:rPr lang="en-US" sz="800" b="1" i="1" dirty="0">
                <a:solidFill>
                  <a:srgbClr val="1F8A3A"/>
                </a:solidFill>
                <a:latin typeface="Carlito" pitchFamily="34" charset="0"/>
                <a:ea typeface="Carlito" pitchFamily="34" charset="-122"/>
                <a:cs typeface="Carlito" pitchFamily="34" charset="-120"/>
              </a:rPr>
              <a:t>✓ Exact.</a:t>
            </a:r>
            <a:endParaRPr lang="en-US" sz="800" dirty="0"/>
          </a:p>
        </p:txBody>
      </p:sp>
      <p:sp>
        <p:nvSpPr>
          <p:cNvPr id="34" name="Shape 24"/>
          <p:cNvSpPr/>
          <p:nvPr/>
        </p:nvSpPr>
        <p:spPr>
          <a:xfrm>
            <a:off x="685800" y="3932188"/>
            <a:ext cx="7943850" cy="0"/>
          </a:xfrm>
          <a:prstGeom prst="line">
            <a:avLst/>
          </a:prstGeom>
          <a:noFill/>
          <a:ln w="7144">
            <a:solidFill>
              <a:srgbClr val="E3E6EE"/>
            </a:solidFill>
            <a:prstDash val="dash"/>
          </a:ln>
        </p:spPr>
      </p:sp>
      <p:sp>
        <p:nvSpPr>
          <p:cNvPr id="35" name="Text 25"/>
          <p:cNvSpPr/>
          <p:nvPr/>
        </p:nvSpPr>
        <p:spPr>
          <a:xfrm>
            <a:off x="1803127" y="3703811"/>
            <a:ext cx="601638"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Integrate M* in x</a:t>
            </a:r>
            <a:endParaRPr lang="en-US" sz="800" dirty="0"/>
          </a:p>
        </p:txBody>
      </p:sp>
      <p:sp>
        <p:nvSpPr>
          <p:cNvPr id="36" name="Text 26"/>
          <p:cNvSpPr/>
          <p:nvPr/>
        </p:nvSpPr>
        <p:spPr>
          <a:xfrm>
            <a:off x="685800" y="3614514"/>
            <a:ext cx="1718965" cy="137160"/>
          </a:xfrm>
          <a:prstGeom prst="rect">
            <a:avLst/>
          </a:prstGeom>
          <a:noFill/>
          <a:ln/>
        </p:spPr>
        <p:txBody>
          <a:bodyPr wrap="none" lIns="0" tIns="0" rIns="0" bIns="0" rtlCol="0" anchor="t"/>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6</a:t>
            </a:r>
            <a:endParaRPr lang="en-US" sz="800" dirty="0"/>
          </a:p>
        </p:txBody>
      </p:sp>
      <p:pic>
        <p:nvPicPr>
          <p:cNvPr id="37" name="Image 8" descr="/tmp/h2p-svg-1781853765424-j31ays.png">    </p:cNvPr>
          <p:cNvPicPr>
            <a:picLocks noChangeAspect="1"/>
          </p:cNvPicPr>
          <p:nvPr/>
        </p:nvPicPr>
        <p:blipFill>
          <a:blip r:embed="rId9"/>
          <a:stretch>
            <a:fillRect/>
          </a:stretch>
        </p:blipFill>
        <p:spPr>
          <a:xfrm>
            <a:off x="4749924" y="3635164"/>
            <a:ext cx="1734480" cy="251371"/>
          </a:xfrm>
          <a:prstGeom prst="rect">
            <a:avLst/>
          </a:prstGeom>
        </p:spPr>
      </p:pic>
      <p:sp>
        <p:nvSpPr>
          <p:cNvPr id="38" name="Text 27"/>
          <p:cNvSpPr/>
          <p:nvPr/>
        </p:nvSpPr>
        <p:spPr>
          <a:xfrm>
            <a:off x="1290451" y="4053632"/>
            <a:ext cx="1114313" cy="120701"/>
          </a:xfrm>
          <a:prstGeom prst="rect">
            <a:avLst/>
          </a:prstGeom>
          <a:noFill/>
          <a:ln/>
        </p:spPr>
        <p:txBody>
          <a:bodyPr wrap="square" lIns="0" tIns="14288" rIns="28575" bIns="0" rtlCol="0" anchor="t"/>
          <a:lstStyle/>
          <a:p>
            <a:pPr algn="r" indent="0" marL="0">
              <a:lnSpc>
                <a:spcPts val="703"/>
              </a:lnSpc>
              <a:buNone/>
            </a:pPr>
            <a:r>
              <a:rPr lang="en-US" sz="800" i="1" dirty="0">
                <a:solidFill>
                  <a:srgbClr val="4A5160"/>
                </a:solidFill>
                <a:latin typeface="Carlito" pitchFamily="34" charset="0"/>
                <a:ea typeface="Carlito" pitchFamily="34" charset="-122"/>
                <a:cs typeface="Carlito" pitchFamily="34" charset="-120"/>
              </a:rPr>
              <a:t>Match F to N* — solve for g(y)</a:t>
            </a:r>
            <a:endParaRPr lang="en-US" sz="800" dirty="0"/>
          </a:p>
        </p:txBody>
      </p:sp>
      <p:sp>
        <p:nvSpPr>
          <p:cNvPr id="39" name="Text 28"/>
          <p:cNvSpPr/>
          <p:nvPr/>
        </p:nvSpPr>
        <p:spPr>
          <a:xfrm>
            <a:off x="156144" y="3964335"/>
            <a:ext cx="2248621" cy="91440"/>
          </a:xfrm>
          <a:prstGeom prst="rect">
            <a:avLst/>
          </a:prstGeom>
          <a:noFill/>
          <a:ln/>
        </p:spPr>
        <p:txBody>
          <a:bodyPr wrap="none" lIns="0" tIns="0" rIns="0" bIns="0" rtlCol="0" anchor="t">
            <a:normAutofit/>
          </a:bodyPr>
          <a:lstStyle/>
          <a:p>
            <a:pPr algn="r" indent="0" marL="0">
              <a:lnSpc>
                <a:spcPts val="703"/>
              </a:lnSpc>
              <a:buNone/>
            </a:pPr>
            <a:r>
              <a:rPr lang="en-US" sz="800" b="1" spc="23" kern="0" dirty="0">
                <a:solidFill>
                  <a:srgbClr val="1A2A4F"/>
                </a:solidFill>
                <a:latin typeface="Liberation Sans Narrow" pitchFamily="34" charset="0"/>
                <a:ea typeface="Liberation Sans Narrow" pitchFamily="34" charset="-122"/>
                <a:cs typeface="Liberation Sans Narrow" pitchFamily="34" charset="-120"/>
              </a:rPr>
              <a:t>Step 7</a:t>
            </a:r>
            <a:endParaRPr lang="en-US" sz="800" dirty="0"/>
          </a:p>
        </p:txBody>
      </p:sp>
      <p:pic>
        <p:nvPicPr>
          <p:cNvPr id="40" name="Image 9" descr="/tmp/h2p-svg-1781853765424-rolcoa.png">    </p:cNvPr>
          <p:cNvPicPr>
            <a:picLocks noChangeAspect="1"/>
          </p:cNvPicPr>
          <p:nvPr/>
        </p:nvPicPr>
        <p:blipFill>
          <a:blip r:embed="rId10"/>
          <a:stretch>
            <a:fillRect/>
          </a:stretch>
        </p:blipFill>
        <p:spPr>
          <a:xfrm>
            <a:off x="5148076" y="3984985"/>
            <a:ext cx="938175" cy="140084"/>
          </a:xfrm>
          <a:prstGeom prst="rect">
            <a:avLst/>
          </a:prstGeom>
        </p:spPr>
      </p:pic>
      <p:pic>
        <p:nvPicPr>
          <p:cNvPr id="41" name="Image 10" descr="/tmp/h2p-svg-1781853765424-eop08p.png">    </p:cNvPr>
          <p:cNvPicPr>
            <a:picLocks noChangeAspect="1"/>
          </p:cNvPicPr>
          <p:nvPr/>
        </p:nvPicPr>
        <p:blipFill>
          <a:blip r:embed="rId11"/>
          <a:stretch>
            <a:fillRect/>
          </a:stretch>
        </p:blipFill>
        <p:spPr>
          <a:xfrm>
            <a:off x="4459821" y="4160007"/>
            <a:ext cx="2314575" cy="134950"/>
          </a:xfrm>
          <a:prstGeom prst="rect">
            <a:avLst/>
          </a:prstGeom>
        </p:spPr>
      </p:pic>
      <p:pic>
        <p:nvPicPr>
          <p:cNvPr id="42" name="Image 11" descr="/tmp/h2p-svg-1781853765424-85cib6.png">    </p:cNvPr>
          <p:cNvPicPr>
            <a:picLocks noChangeAspect="1"/>
          </p:cNvPicPr>
          <p:nvPr/>
        </p:nvPicPr>
        <p:blipFill>
          <a:blip r:embed="rId12"/>
          <a:stretch>
            <a:fillRect/>
          </a:stretch>
        </p:blipFill>
        <p:spPr>
          <a:xfrm>
            <a:off x="4999062" y="4329894"/>
            <a:ext cx="1236204" cy="251371"/>
          </a:xfrm>
          <a:prstGeom prst="rect">
            <a:avLst/>
          </a:prstGeom>
        </p:spPr>
      </p:pic>
      <p:sp>
        <p:nvSpPr>
          <p:cNvPr id="43" name="Text 29"/>
          <p:cNvSpPr/>
          <p:nvPr/>
        </p:nvSpPr>
        <p:spPr>
          <a:xfrm>
            <a:off x="3448310" y="4855071"/>
            <a:ext cx="794296" cy="164592"/>
          </a:xfrm>
          <a:prstGeom prst="rect">
            <a:avLst/>
          </a:prstGeom>
          <a:noFill/>
          <a:ln/>
        </p:spPr>
        <p:txBody>
          <a:bodyPr wrap="none" lIns="12859" tIns="0" rIns="0" bIns="0" rtlCol="0" anchor="t"/>
          <a:lstStyle/>
          <a:p>
            <a:pPr algn="ctr" indent="0" marL="0">
              <a:lnSpc>
                <a:spcPts val="844"/>
              </a:lnSpc>
              <a:buNone/>
            </a:pPr>
            <a:r>
              <a:rPr lang="en-US" sz="800" b="1" spc="113"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44" name="Text 30"/>
          <p:cNvSpPr/>
          <p:nvPr/>
        </p:nvSpPr>
        <p:spPr>
          <a:xfrm>
            <a:off x="4287143" y="4662636"/>
            <a:ext cx="1576313" cy="449721"/>
          </a:xfrm>
          <a:prstGeom prst="roundRect">
            <a:avLst>
              <a:gd name="adj" fmla="val 8472"/>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45" name="Image 12" descr="/tmp/h2p-svg-1781853765424-onxviz.png">    </p:cNvPr>
          <p:cNvPicPr>
            <a:picLocks noChangeAspect="1"/>
          </p:cNvPicPr>
          <p:nvPr/>
        </p:nvPicPr>
        <p:blipFill>
          <a:blip r:embed="rId13"/>
          <a:stretch>
            <a:fillRect/>
          </a:stretch>
        </p:blipFill>
        <p:spPr>
          <a:xfrm>
            <a:off x="4362152" y="4738427"/>
            <a:ext cx="1426294" cy="298140"/>
          </a:xfrm>
          <a:prstGeom prst="rect">
            <a:avLst/>
          </a:prstGeom>
        </p:spPr>
      </p:pic>
      <p:sp>
        <p:nvSpPr>
          <p:cNvPr id="46" name="Text 3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25 / 38</a:t>
            </a:r>
            <a:endParaRPr lang="en-US" sz="800" dirty="0"/>
          </a:p>
        </p:txBody>
      </p:sp>
      <p:pic>
        <p:nvPicPr>
          <p:cNvPr id="47" name="Image 13" descr="preencoded.png">    </p:cNvPr>
          <p:cNvPicPr>
            <a:picLocks noChangeAspect="1"/>
          </p:cNvPicPr>
          <p:nvPr/>
        </p:nvPicPr>
        <p:blipFill>
          <a:blip r:embed="rId14"/>
          <a:stretch>
            <a:fillRect/>
          </a:stretch>
        </p:blipFill>
        <p:spPr>
          <a:xfrm>
            <a:off x="0" y="0"/>
            <a:ext cx="17145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493616"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EXTENSION</a:t>
            </a:r>
            <a:endParaRPr lang="en-US" sz="844" dirty="0"/>
          </a:p>
        </p:txBody>
      </p:sp>
      <p:sp>
        <p:nvSpPr>
          <p:cNvPr id="3" name="Text 1"/>
          <p:cNvSpPr/>
          <p:nvPr/>
        </p:nvSpPr>
        <p:spPr>
          <a:xfrm>
            <a:off x="685800" y="716161"/>
            <a:ext cx="8458200" cy="233315"/>
          </a:xfrm>
          <a:prstGeom prst="rect">
            <a:avLst/>
          </a:prstGeom>
          <a:noFill/>
          <a:ln/>
        </p:spPr>
        <p:txBody>
          <a:bodyPr wrap="square" lIns="0" tIns="0" rIns="0" bIns="0" rtlCol="0" anchor="t">
            <a:normAutofit/>
          </a:bodyPr>
          <a:lstStyle/>
          <a:p>
            <a:pPr algn="l" indent="0" marL="0">
              <a:lnSpc>
                <a:spcPts val="1941"/>
              </a:lnSpc>
              <a:buNone/>
            </a:pPr>
            <a:r>
              <a:rPr lang="en-US" sz="1688" b="1" spc="-20" kern="0" dirty="0">
                <a:solidFill>
                  <a:srgbClr val="1A2A4F"/>
                </a:solidFill>
                <a:latin typeface="Carlito" pitchFamily="34" charset="0"/>
                <a:ea typeface="Carlito" pitchFamily="34" charset="-122"/>
                <a:cs typeface="Carlito" pitchFamily="34" charset="-120"/>
              </a:rPr>
              <a:t>Non-Exact Equations &amp; Integrating Factors</a:t>
            </a:r>
            <a:endParaRPr lang="en-US" sz="1688" dirty="0"/>
          </a:p>
        </p:txBody>
      </p:sp>
      <p:sp>
        <p:nvSpPr>
          <p:cNvPr id="4" name="Text 2"/>
          <p:cNvSpPr/>
          <p:nvPr/>
        </p:nvSpPr>
        <p:spPr>
          <a:xfrm>
            <a:off x="685800" y="976908"/>
            <a:ext cx="8458200" cy="196739"/>
          </a:xfrm>
          <a:prstGeom prst="rect">
            <a:avLst/>
          </a:prstGeom>
          <a:noFill/>
          <a:ln/>
        </p:spPr>
        <p:txBody>
          <a:bodyPr wrap="none" lIns="0" tIns="0" rIns="0" bIns="0" rtlCol="0" anchor="t"/>
          <a:lstStyle/>
          <a:p>
            <a:pPr algn="l" indent="0" marL="0">
              <a:lnSpc>
                <a:spcPts val="1434"/>
              </a:lnSpc>
              <a:buNone/>
            </a:pPr>
            <a:r>
              <a:rPr lang="en-US" sz="956" i="1" dirty="0">
                <a:solidFill>
                  <a:srgbClr val="1F61C9"/>
                </a:solidFill>
                <a:latin typeface="Tinos" pitchFamily="34" charset="0"/>
                <a:ea typeface="Tinos" pitchFamily="34" charset="-122"/>
                <a:cs typeface="Tinos" pitchFamily="34" charset="-120"/>
              </a:rPr>
              <a:t>Forcing Exactness</a:t>
            </a:r>
            <a:endParaRPr lang="en-US" sz="956" dirty="0"/>
          </a:p>
        </p:txBody>
      </p:sp>
      <p:sp>
        <p:nvSpPr>
          <p:cNvPr id="5" name="Text 3"/>
          <p:cNvSpPr/>
          <p:nvPr/>
        </p:nvSpPr>
        <p:spPr>
          <a:xfrm>
            <a:off x="685800" y="1230511"/>
            <a:ext cx="7858125" cy="197101"/>
          </a:xfrm>
          <a:prstGeom prst="rect">
            <a:avLst/>
          </a:prstGeom>
          <a:noFill/>
          <a:ln/>
        </p:spPr>
        <p:txBody>
          <a:bodyPr wrap="square" lIns="0" tIns="0" rIns="0" bIns="0" rtlCol="0" anchor="t"/>
          <a:lstStyle/>
          <a:p>
            <a:pPr algn="l" indent="0" marL="0">
              <a:lnSpc>
                <a:spcPts val="1308"/>
              </a:lnSpc>
              <a:buNone/>
            </a:pPr>
            <a:r>
              <a:rPr lang="en-US" sz="844" dirty="0">
                <a:solidFill>
                  <a:srgbClr val="14171F"/>
                </a:solidFill>
                <a:latin typeface="Carlito" pitchFamily="34" charset="0"/>
                <a:ea typeface="Carlito" pitchFamily="34" charset="-122"/>
                <a:cs typeface="Carlito" pitchFamily="34" charset="-120"/>
              </a:rPr>
              <a:t>What if My≠Nx? The equation is not exact. But we can often force it to be exact by multiplying by a strategically chosen integrating factor μ.</a:t>
            </a:r>
            <a:endParaRPr lang="en-US" sz="844" dirty="0"/>
          </a:p>
        </p:txBody>
      </p:sp>
      <p:sp>
        <p:nvSpPr>
          <p:cNvPr id="6" name="Text 4"/>
          <p:cNvSpPr/>
          <p:nvPr/>
        </p:nvSpPr>
        <p:spPr>
          <a:xfrm>
            <a:off x="685800" y="1513024"/>
            <a:ext cx="3900488" cy="1505880"/>
          </a:xfrm>
          <a:prstGeom prst="roundRect">
            <a:avLst>
              <a:gd name="adj" fmla="val 2530"/>
            </a:avLst>
          </a:prstGeom>
          <a:solidFill>
            <a:srgbClr val="F3ECF8"/>
          </a:solidFill>
          <a:ln/>
        </p:spPr>
        <p:txBody>
          <a:bodyPr wrap="square" rtlCol="0" anchor="ctr"/>
          <a:lstStyle/>
          <a:p>
            <a:pPr indent="0" marL="0">
              <a:buNone/>
            </a:pPr>
            <a:endParaRPr lang="en-US" dirty="0"/>
          </a:p>
        </p:txBody>
      </p:sp>
      <p:sp>
        <p:nvSpPr>
          <p:cNvPr id="7" name="Shape 5"/>
          <p:cNvSpPr/>
          <p:nvPr/>
        </p:nvSpPr>
        <p:spPr>
          <a:xfrm>
            <a:off x="700088" y="1513024"/>
            <a:ext cx="0" cy="1505880"/>
          </a:xfrm>
          <a:prstGeom prst="line">
            <a:avLst/>
          </a:prstGeom>
          <a:noFill/>
          <a:ln w="28575">
            <a:solidFill>
              <a:srgbClr val="6B2FA0"/>
            </a:solidFill>
            <a:prstDash val="solid"/>
          </a:ln>
        </p:spPr>
      </p:sp>
      <p:sp>
        <p:nvSpPr>
          <p:cNvPr id="8" name="Shape 6"/>
          <p:cNvSpPr/>
          <p:nvPr/>
        </p:nvSpPr>
        <p:spPr>
          <a:xfrm>
            <a:off x="828675" y="1784486"/>
            <a:ext cx="3643313" cy="0"/>
          </a:xfrm>
          <a:prstGeom prst="line">
            <a:avLst/>
          </a:prstGeom>
          <a:noFill/>
          <a:ln w="7144">
            <a:solidFill>
              <a:srgbClr val="6B2FA0"/>
            </a:solidFill>
            <a:prstDash val="solid"/>
          </a:ln>
        </p:spPr>
      </p:sp>
      <p:sp>
        <p:nvSpPr>
          <p:cNvPr id="9" name="Text 7"/>
          <p:cNvSpPr/>
          <p:nvPr/>
        </p:nvSpPr>
        <p:spPr>
          <a:xfrm>
            <a:off x="828675" y="1598749"/>
            <a:ext cx="3643313" cy="204740"/>
          </a:xfrm>
          <a:prstGeom prst="rect">
            <a:avLst/>
          </a:prstGeom>
          <a:noFill/>
          <a:ln/>
        </p:spPr>
        <p:txBody>
          <a:bodyPr wrap="none" lIns="0" tIns="0" rIns="0" bIns="42863" rtlCol="0" anchor="t">
            <a:normAutofit/>
          </a:bodyPr>
          <a:lstStyle/>
          <a:p>
            <a:pPr algn="l" indent="0" marL="0">
              <a:lnSpc>
                <a:spcPts val="1097"/>
              </a:lnSpc>
              <a:buNone/>
            </a:pPr>
            <a:r>
              <a:rPr lang="en-US" sz="800" b="1" spc="37" kern="0" dirty="0">
                <a:solidFill>
                  <a:srgbClr val="6B2FA0"/>
                </a:solidFill>
                <a:latin typeface="Liberation Sans Narrow" pitchFamily="34" charset="0"/>
                <a:ea typeface="Liberation Sans Narrow" pitchFamily="34" charset="-122"/>
                <a:cs typeface="Liberation Sans Narrow" pitchFamily="34" charset="-120"/>
              </a:rPr>
              <a:t>TEST 1 — X-ONLY FACTOR</a:t>
            </a:r>
            <a:endParaRPr lang="en-US" sz="800" dirty="0"/>
          </a:p>
        </p:txBody>
      </p:sp>
      <p:sp>
        <p:nvSpPr>
          <p:cNvPr id="10" name="Text 8"/>
          <p:cNvSpPr/>
          <p:nvPr/>
        </p:nvSpPr>
        <p:spPr>
          <a:xfrm>
            <a:off x="828675" y="1830921"/>
            <a:ext cx="3643313" cy="332100"/>
          </a:xfrm>
          <a:prstGeom prst="rect">
            <a:avLst/>
          </a:prstGeom>
          <a:noFill/>
          <a:ln/>
        </p:spPr>
        <p:txBody>
          <a:bodyPr wrap="square" lIns="0" tIns="0" rIns="0" bIns="0" rtlCol="0" anchor="t">
            <a:normAutofit/>
          </a:bodyPr>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Compute the test ratio. If it is a function of x alone — call it f(x) — then:</a:t>
            </a:r>
            <a:endParaRPr lang="en-US" sz="800" dirty="0"/>
          </a:p>
        </p:txBody>
      </p:sp>
      <p:pic>
        <p:nvPicPr>
          <p:cNvPr id="11" name="Image 0" descr="/tmp/h2p-svg-1781853765707-gpwyeu.png">    </p:cNvPr>
          <p:cNvPicPr>
            <a:picLocks noChangeAspect="1"/>
          </p:cNvPicPr>
          <p:nvPr/>
        </p:nvPicPr>
        <p:blipFill>
          <a:blip r:embed="rId1"/>
          <a:stretch>
            <a:fillRect/>
          </a:stretch>
        </p:blipFill>
        <p:spPr>
          <a:xfrm>
            <a:off x="2098588" y="2190452"/>
            <a:ext cx="1103375" cy="308856"/>
          </a:xfrm>
          <a:prstGeom prst="rect">
            <a:avLst/>
          </a:prstGeom>
        </p:spPr>
      </p:pic>
      <p:sp>
        <p:nvSpPr>
          <p:cNvPr id="12" name="Text 9"/>
          <p:cNvSpPr/>
          <p:nvPr/>
        </p:nvSpPr>
        <p:spPr>
          <a:xfrm>
            <a:off x="828675" y="2542170"/>
            <a:ext cx="3753041" cy="126159"/>
          </a:xfrm>
          <a:prstGeom prst="rect">
            <a:avLst/>
          </a:prstGeom>
          <a:noFill/>
          <a:ln/>
        </p:spPr>
        <p:txBody>
          <a:bodyPr wrap="square" lIns="0" tIns="0" rIns="0" bIns="0" rtlCol="0" anchor="t">
            <a:normAutofit/>
          </a:bodyPr>
          <a:lstStyle/>
          <a:p>
            <a:pPr algn="l" indent="0" marL="0">
              <a:lnSpc>
                <a:spcPts val="1097"/>
              </a:lnSpc>
              <a:buNone/>
            </a:pPr>
            <a:r>
              <a:rPr lang="en-US" sz="800" i="1" dirty="0">
                <a:solidFill>
                  <a:srgbClr val="4A5160"/>
                </a:solidFill>
                <a:latin typeface="Carlito" pitchFamily="34" charset="0"/>
                <a:ea typeface="Carlito" pitchFamily="34" charset="-122"/>
                <a:cs typeface="Carlito" pitchFamily="34" charset="-120"/>
              </a:rPr>
              <a:t>The integrating factor is:</a:t>
            </a:r>
            <a:endParaRPr lang="en-US" sz="800" dirty="0"/>
          </a:p>
        </p:txBody>
      </p:sp>
      <p:pic>
        <p:nvPicPr>
          <p:cNvPr id="13" name="Image 1" descr="/tmp/h2p-svg-1781853765707-6vi3kb.png">    </p:cNvPr>
          <p:cNvPicPr>
            <a:picLocks noChangeAspect="1"/>
          </p:cNvPicPr>
          <p:nvPr/>
        </p:nvPicPr>
        <p:blipFill>
          <a:blip r:embed="rId2"/>
          <a:stretch>
            <a:fillRect/>
          </a:stretch>
        </p:blipFill>
        <p:spPr>
          <a:xfrm>
            <a:off x="2111536" y="2695761"/>
            <a:ext cx="1077590" cy="199132"/>
          </a:xfrm>
          <a:prstGeom prst="rect">
            <a:avLst/>
          </a:prstGeom>
        </p:spPr>
      </p:pic>
      <p:sp>
        <p:nvSpPr>
          <p:cNvPr id="14" name="Text 10"/>
          <p:cNvSpPr/>
          <p:nvPr/>
        </p:nvSpPr>
        <p:spPr>
          <a:xfrm>
            <a:off x="4729163" y="1513024"/>
            <a:ext cx="3900488" cy="1505880"/>
          </a:xfrm>
          <a:prstGeom prst="roundRect">
            <a:avLst>
              <a:gd name="adj" fmla="val 2530"/>
            </a:avLst>
          </a:prstGeom>
          <a:solidFill>
            <a:srgbClr val="F3ECF8"/>
          </a:solidFill>
          <a:ln/>
        </p:spPr>
        <p:txBody>
          <a:bodyPr wrap="square" rtlCol="0" anchor="ctr"/>
          <a:lstStyle/>
          <a:p>
            <a:pPr indent="0" marL="0">
              <a:buNone/>
            </a:pPr>
            <a:endParaRPr lang="en-US" dirty="0"/>
          </a:p>
        </p:txBody>
      </p:sp>
      <p:sp>
        <p:nvSpPr>
          <p:cNvPr id="15" name="Shape 11"/>
          <p:cNvSpPr/>
          <p:nvPr/>
        </p:nvSpPr>
        <p:spPr>
          <a:xfrm>
            <a:off x="4743450" y="1513024"/>
            <a:ext cx="0" cy="1505880"/>
          </a:xfrm>
          <a:prstGeom prst="line">
            <a:avLst/>
          </a:prstGeom>
          <a:noFill/>
          <a:ln w="28575">
            <a:solidFill>
              <a:srgbClr val="6B2FA0"/>
            </a:solidFill>
            <a:prstDash val="solid"/>
          </a:ln>
        </p:spPr>
      </p:sp>
      <p:sp>
        <p:nvSpPr>
          <p:cNvPr id="16" name="Shape 12"/>
          <p:cNvSpPr/>
          <p:nvPr/>
        </p:nvSpPr>
        <p:spPr>
          <a:xfrm>
            <a:off x="4872038" y="1784486"/>
            <a:ext cx="3643313" cy="0"/>
          </a:xfrm>
          <a:prstGeom prst="line">
            <a:avLst/>
          </a:prstGeom>
          <a:noFill/>
          <a:ln w="7144">
            <a:solidFill>
              <a:srgbClr val="6B2FA0"/>
            </a:solidFill>
            <a:prstDash val="solid"/>
          </a:ln>
        </p:spPr>
      </p:sp>
      <p:sp>
        <p:nvSpPr>
          <p:cNvPr id="17" name="Text 13"/>
          <p:cNvSpPr/>
          <p:nvPr/>
        </p:nvSpPr>
        <p:spPr>
          <a:xfrm>
            <a:off x="4872038" y="1598749"/>
            <a:ext cx="3643313" cy="204740"/>
          </a:xfrm>
          <a:prstGeom prst="rect">
            <a:avLst/>
          </a:prstGeom>
          <a:noFill/>
          <a:ln/>
        </p:spPr>
        <p:txBody>
          <a:bodyPr wrap="none" lIns="0" tIns="0" rIns="0" bIns="42863" rtlCol="0" anchor="t">
            <a:normAutofit/>
          </a:bodyPr>
          <a:lstStyle/>
          <a:p>
            <a:pPr algn="l" indent="0" marL="0">
              <a:lnSpc>
                <a:spcPts val="1097"/>
              </a:lnSpc>
              <a:buNone/>
            </a:pPr>
            <a:r>
              <a:rPr lang="en-US" sz="800" b="1" spc="37" kern="0" dirty="0">
                <a:solidFill>
                  <a:srgbClr val="6B2FA0"/>
                </a:solidFill>
                <a:latin typeface="Liberation Sans Narrow" pitchFamily="34" charset="0"/>
                <a:ea typeface="Liberation Sans Narrow" pitchFamily="34" charset="-122"/>
                <a:cs typeface="Liberation Sans Narrow" pitchFamily="34" charset="-120"/>
              </a:rPr>
              <a:t>TEST 2 — Y-ONLY FACTOR</a:t>
            </a:r>
            <a:endParaRPr lang="en-US" sz="800" dirty="0"/>
          </a:p>
        </p:txBody>
      </p:sp>
      <p:sp>
        <p:nvSpPr>
          <p:cNvPr id="18" name="Text 14"/>
          <p:cNvSpPr/>
          <p:nvPr/>
        </p:nvSpPr>
        <p:spPr>
          <a:xfrm>
            <a:off x="4872038" y="1830921"/>
            <a:ext cx="3643313" cy="332100"/>
          </a:xfrm>
          <a:prstGeom prst="rect">
            <a:avLst/>
          </a:prstGeom>
          <a:noFill/>
          <a:ln/>
        </p:spPr>
        <p:txBody>
          <a:bodyPr wrap="square" lIns="0" tIns="0" rIns="0" bIns="0" rtlCol="0" anchor="t">
            <a:normAutofit/>
          </a:bodyPr>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Compute the test ratio. If it is a function of y alone — call it g(y) — then:</a:t>
            </a:r>
            <a:endParaRPr lang="en-US" sz="800" dirty="0"/>
          </a:p>
        </p:txBody>
      </p:sp>
      <p:pic>
        <p:nvPicPr>
          <p:cNvPr id="19" name="Image 2" descr="/tmp/h2p-svg-1781853765707-tw8kok.png">    </p:cNvPr>
          <p:cNvPicPr>
            <a:picLocks noChangeAspect="1"/>
          </p:cNvPicPr>
          <p:nvPr/>
        </p:nvPicPr>
        <p:blipFill>
          <a:blip r:embed="rId3"/>
          <a:stretch>
            <a:fillRect/>
          </a:stretch>
        </p:blipFill>
        <p:spPr>
          <a:xfrm>
            <a:off x="6153224" y="2190452"/>
            <a:ext cx="1080827" cy="308856"/>
          </a:xfrm>
          <a:prstGeom prst="rect">
            <a:avLst/>
          </a:prstGeom>
        </p:spPr>
      </p:pic>
      <p:sp>
        <p:nvSpPr>
          <p:cNvPr id="20" name="Text 15"/>
          <p:cNvSpPr/>
          <p:nvPr/>
        </p:nvSpPr>
        <p:spPr>
          <a:xfrm>
            <a:off x="4872038" y="2542170"/>
            <a:ext cx="3753040" cy="126159"/>
          </a:xfrm>
          <a:prstGeom prst="rect">
            <a:avLst/>
          </a:prstGeom>
          <a:noFill/>
          <a:ln/>
        </p:spPr>
        <p:txBody>
          <a:bodyPr wrap="square" lIns="0" tIns="0" rIns="0" bIns="0" rtlCol="0" anchor="t">
            <a:normAutofit/>
          </a:bodyPr>
          <a:lstStyle/>
          <a:p>
            <a:pPr algn="l" indent="0" marL="0">
              <a:lnSpc>
                <a:spcPts val="1097"/>
              </a:lnSpc>
              <a:buNone/>
            </a:pPr>
            <a:r>
              <a:rPr lang="en-US" sz="800" i="1" dirty="0">
                <a:solidFill>
                  <a:srgbClr val="4A5160"/>
                </a:solidFill>
                <a:latin typeface="Carlito" pitchFamily="34" charset="0"/>
                <a:ea typeface="Carlito" pitchFamily="34" charset="-122"/>
                <a:cs typeface="Carlito" pitchFamily="34" charset="-120"/>
              </a:rPr>
              <a:t>The integrating factor is:</a:t>
            </a:r>
            <a:endParaRPr lang="en-US" sz="800" dirty="0"/>
          </a:p>
        </p:txBody>
      </p:sp>
      <p:pic>
        <p:nvPicPr>
          <p:cNvPr id="21" name="Image 3" descr="/tmp/h2p-svg-1781853765707-q9jq0a.png">    </p:cNvPr>
          <p:cNvPicPr>
            <a:picLocks noChangeAspect="1"/>
          </p:cNvPicPr>
          <p:nvPr/>
        </p:nvPicPr>
        <p:blipFill>
          <a:blip r:embed="rId4"/>
          <a:stretch>
            <a:fillRect/>
          </a:stretch>
        </p:blipFill>
        <p:spPr>
          <a:xfrm>
            <a:off x="6175102" y="2695761"/>
            <a:ext cx="1037183" cy="199132"/>
          </a:xfrm>
          <a:prstGeom prst="rect">
            <a:avLst/>
          </a:prstGeom>
        </p:spPr>
      </p:pic>
      <p:sp>
        <p:nvSpPr>
          <p:cNvPr id="22" name="Text 16"/>
          <p:cNvSpPr/>
          <p:nvPr/>
        </p:nvSpPr>
        <p:spPr>
          <a:xfrm>
            <a:off x="685800" y="3118917"/>
            <a:ext cx="7943850" cy="1204168"/>
          </a:xfrm>
          <a:prstGeom prst="roundRect">
            <a:avLst>
              <a:gd name="adj" fmla="val 3164"/>
            </a:avLst>
          </a:prstGeom>
          <a:solidFill>
            <a:srgbClr val="F6F7FB"/>
          </a:solidFill>
          <a:ln/>
        </p:spPr>
        <p:txBody>
          <a:bodyPr wrap="square" rtlCol="0" anchor="ctr"/>
          <a:lstStyle/>
          <a:p>
            <a:pPr indent="0" marL="0">
              <a:buNone/>
            </a:pPr>
            <a:endParaRPr lang="en-US" dirty="0"/>
          </a:p>
        </p:txBody>
      </p:sp>
      <p:sp>
        <p:nvSpPr>
          <p:cNvPr id="23" name="Shape 17"/>
          <p:cNvSpPr/>
          <p:nvPr/>
        </p:nvSpPr>
        <p:spPr>
          <a:xfrm>
            <a:off x="700088" y="3118917"/>
            <a:ext cx="0" cy="1204168"/>
          </a:xfrm>
          <a:prstGeom prst="line">
            <a:avLst/>
          </a:prstGeom>
          <a:noFill/>
          <a:ln w="28575">
            <a:solidFill>
              <a:srgbClr val="1F61C9"/>
            </a:solidFill>
            <a:prstDash val="solid"/>
          </a:ln>
        </p:spPr>
      </p:sp>
      <p:sp>
        <p:nvSpPr>
          <p:cNvPr id="24" name="Text 18"/>
          <p:cNvSpPr/>
          <p:nvPr/>
        </p:nvSpPr>
        <p:spPr>
          <a:xfrm>
            <a:off x="842963" y="3204642"/>
            <a:ext cx="7658100" cy="129731"/>
          </a:xfrm>
          <a:prstGeom prst="rect">
            <a:avLst/>
          </a:prstGeom>
          <a:noFill/>
          <a:ln/>
        </p:spPr>
        <p:txBody>
          <a:bodyPr wrap="none" lIns="0" tIns="0" rIns="0" bIns="0" rtlCol="0" anchor="t">
            <a:normAutofit/>
          </a:bodyPr>
          <a:lstStyle/>
          <a:p>
            <a:pPr algn="l" indent="0" marL="0">
              <a:lnSpc>
                <a:spcPts val="1013"/>
              </a:lnSpc>
              <a:buNone/>
            </a:pPr>
            <a:r>
              <a:rPr lang="en-US" sz="800" b="1" spc="68" kern="0" dirty="0">
                <a:solidFill>
                  <a:srgbClr val="1F61C9"/>
                </a:solidFill>
                <a:latin typeface="Carlito" pitchFamily="34" charset="0"/>
                <a:ea typeface="Carlito" pitchFamily="34" charset="-122"/>
                <a:cs typeface="Carlito" pitchFamily="34" charset="-120"/>
              </a:rPr>
              <a:t>CLOSING INSTRUCTION</a:t>
            </a:r>
            <a:endParaRPr lang="en-US" sz="800" dirty="0"/>
          </a:p>
        </p:txBody>
      </p:sp>
      <p:sp>
        <p:nvSpPr>
          <p:cNvPr id="25" name="Text 19"/>
          <p:cNvSpPr/>
          <p:nvPr/>
        </p:nvSpPr>
        <p:spPr>
          <a:xfrm>
            <a:off x="842963" y="3361804"/>
            <a:ext cx="7658100" cy="169980"/>
          </a:xfrm>
          <a:prstGeom prst="rect">
            <a:avLst/>
          </a:prstGeom>
          <a:noFill/>
          <a:ln/>
        </p:spPr>
        <p:txBody>
          <a:bodyPr wrap="square" lIns="0" tIns="0" rIns="0" bIns="0" rtlCol="0" anchor="t"/>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Multiply the original equation by the integrating factor μ. The new equation will satisfy the exactness condition:</a:t>
            </a:r>
            <a:endParaRPr lang="en-US" sz="800" dirty="0"/>
          </a:p>
        </p:txBody>
      </p:sp>
      <p:sp>
        <p:nvSpPr>
          <p:cNvPr id="26" name="Text 20"/>
          <p:cNvSpPr/>
          <p:nvPr/>
        </p:nvSpPr>
        <p:spPr>
          <a:xfrm>
            <a:off x="842963" y="3559597"/>
            <a:ext cx="7658100" cy="465683"/>
          </a:xfrm>
          <a:prstGeom prst="roundRect">
            <a:avLst>
              <a:gd name="adj" fmla="val 8182"/>
            </a:avLst>
          </a:prstGeom>
          <a:solidFill>
            <a:srgbClr val="1F61C9">
              <a:alpha val="5000"/>
            </a:srgbClr>
          </a:solidFill>
          <a:ln/>
        </p:spPr>
        <p:txBody>
          <a:bodyPr wrap="square" rtlCol="0" anchor="ctr"/>
          <a:lstStyle/>
          <a:p>
            <a:pPr indent="0" marL="0">
              <a:buNone/>
            </a:pPr>
            <a:endParaRPr lang="en-US" dirty="0"/>
          </a:p>
        </p:txBody>
      </p:sp>
      <p:pic>
        <p:nvPicPr>
          <p:cNvPr id="27" name="Image 4" descr="/tmp/h2p-svg-1781853765707-8o4p45.png">    </p:cNvPr>
          <p:cNvPicPr>
            <a:picLocks noChangeAspect="1"/>
          </p:cNvPicPr>
          <p:nvPr/>
        </p:nvPicPr>
        <p:blipFill>
          <a:blip r:embed="rId5"/>
          <a:stretch>
            <a:fillRect/>
          </a:stretch>
        </p:blipFill>
        <p:spPr>
          <a:xfrm>
            <a:off x="4021708" y="3602459"/>
            <a:ext cx="1300497" cy="379958"/>
          </a:xfrm>
          <a:prstGeom prst="rect">
            <a:avLst/>
          </a:prstGeom>
        </p:spPr>
      </p:pic>
      <p:sp>
        <p:nvSpPr>
          <p:cNvPr id="28" name="Text 21"/>
          <p:cNvSpPr/>
          <p:nvPr/>
        </p:nvSpPr>
        <p:spPr>
          <a:xfrm>
            <a:off x="842963" y="4068142"/>
            <a:ext cx="7767828" cy="154930"/>
          </a:xfrm>
          <a:prstGeom prst="rect">
            <a:avLst/>
          </a:prstGeom>
          <a:noFill/>
          <a:ln/>
        </p:spPr>
        <p:txBody>
          <a:bodyPr wrap="square" lIns="0" tIns="0" rIns="0" bIns="0" rtlCol="0" anchor="t"/>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Proceed with the exact equation methodology.</a:t>
            </a:r>
            <a:endParaRPr lang="en-US" sz="800" dirty="0"/>
          </a:p>
        </p:txBody>
      </p:sp>
      <p:sp>
        <p:nvSpPr>
          <p:cNvPr id="29" name="Text 22"/>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26 / 38</a:t>
            </a:r>
            <a:endParaRPr lang="en-US" sz="800" dirty="0"/>
          </a:p>
        </p:txBody>
      </p:sp>
      <p:pic>
        <p:nvPicPr>
          <p:cNvPr id="30" name="Image 5" descr="preencoded.png">    </p:cNvPr>
          <p:cNvPicPr>
            <a:picLocks noChangeAspect="1"/>
          </p:cNvPicPr>
          <p:nvPr/>
        </p:nvPicPr>
        <p:blipFill>
          <a:blip r:embed="rId6"/>
          <a:stretch>
            <a:fillRect/>
          </a:stretch>
        </p:blipFill>
        <p:spPr>
          <a:xfrm>
            <a:off x="0" y="0"/>
            <a:ext cx="17145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781589"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PROOF &amp; DERIVATION</a:t>
            </a:r>
            <a:endParaRPr lang="en-US" sz="844" dirty="0"/>
          </a:p>
        </p:txBody>
      </p:sp>
      <p:sp>
        <p:nvSpPr>
          <p:cNvPr id="3" name="Text 1"/>
          <p:cNvSpPr/>
          <p:nvPr/>
        </p:nvSpPr>
        <p:spPr>
          <a:xfrm>
            <a:off x="685800" y="701873"/>
            <a:ext cx="7943850" cy="214674"/>
          </a:xfrm>
          <a:prstGeom prst="rect">
            <a:avLst/>
          </a:prstGeom>
          <a:noFill/>
          <a:ln/>
        </p:spPr>
        <p:txBody>
          <a:bodyPr wrap="square" lIns="0" tIns="0" rIns="0" bIns="0" rtlCol="0" anchor="t">
            <a:normAutofit/>
          </a:bodyPr>
          <a:lstStyle/>
          <a:p>
            <a:pPr algn="l" indent="0" marL="0">
              <a:lnSpc>
                <a:spcPts val="1682"/>
              </a:lnSpc>
              <a:buNone/>
            </a:pPr>
            <a:r>
              <a:rPr lang="en-US" sz="1463" b="1" spc="-18" kern="0" dirty="0">
                <a:solidFill>
                  <a:srgbClr val="1A2A4F"/>
                </a:solidFill>
                <a:latin typeface="Carlito" pitchFamily="34" charset="0"/>
                <a:ea typeface="Carlito" pitchFamily="34" charset="-122"/>
                <a:cs typeface="Carlito" pitchFamily="34" charset="-120"/>
              </a:rPr>
              <a:t>Deriving the Integrating Factor for Non-Exact Equations</a:t>
            </a:r>
            <a:endParaRPr lang="en-US" sz="1463" dirty="0"/>
          </a:p>
        </p:txBody>
      </p:sp>
      <p:sp>
        <p:nvSpPr>
          <p:cNvPr id="4" name="Text 2"/>
          <p:cNvSpPr/>
          <p:nvPr/>
        </p:nvSpPr>
        <p:spPr>
          <a:xfrm>
            <a:off x="685800" y="943980"/>
            <a:ext cx="8458200" cy="185166"/>
          </a:xfrm>
          <a:prstGeom prst="rect">
            <a:avLst/>
          </a:prstGeom>
          <a:noFill/>
          <a:ln/>
        </p:spPr>
        <p:txBody>
          <a:bodyPr wrap="square" lIns="0" tIns="0" rIns="0" bIns="0" rtlCol="0" anchor="t"/>
          <a:lstStyle/>
          <a:p>
            <a:pPr algn="l" indent="0" marL="0">
              <a:lnSpc>
                <a:spcPts val="1350"/>
              </a:lnSpc>
              <a:buNone/>
            </a:pPr>
            <a:r>
              <a:rPr lang="en-US" sz="900" i="1" dirty="0">
                <a:solidFill>
                  <a:srgbClr val="1F61C9"/>
                </a:solidFill>
                <a:latin typeface="Carlito" pitchFamily="34" charset="0"/>
                <a:ea typeface="Carlito" pitchFamily="34" charset="-122"/>
                <a:cs typeface="Carlito" pitchFamily="34" charset="-120"/>
              </a:rPr>
              <a:t>From Product Rule to Separable ODE</a:t>
            </a:r>
            <a:endParaRPr lang="en-US" sz="900" dirty="0"/>
          </a:p>
        </p:txBody>
      </p:sp>
      <p:sp>
        <p:nvSpPr>
          <p:cNvPr id="5" name="Shape 3"/>
          <p:cNvSpPr/>
          <p:nvPr/>
        </p:nvSpPr>
        <p:spPr>
          <a:xfrm>
            <a:off x="685800" y="1386892"/>
            <a:ext cx="4766221" cy="0"/>
          </a:xfrm>
          <a:prstGeom prst="line">
            <a:avLst/>
          </a:prstGeom>
          <a:noFill/>
          <a:ln w="7144">
            <a:solidFill>
              <a:srgbClr val="E3E6EE"/>
            </a:solidFill>
            <a:prstDash val="solid"/>
          </a:ln>
        </p:spPr>
      </p:sp>
      <p:sp>
        <p:nvSpPr>
          <p:cNvPr id="6" name="Text 4"/>
          <p:cNvSpPr/>
          <p:nvPr/>
        </p:nvSpPr>
        <p:spPr>
          <a:xfrm>
            <a:off x="685800" y="1215442"/>
            <a:ext cx="6536425" cy="190452"/>
          </a:xfrm>
          <a:prstGeom prst="rect">
            <a:avLst/>
          </a:prstGeom>
          <a:noFill/>
          <a:ln/>
        </p:spPr>
        <p:txBody>
          <a:bodyPr wrap="none" lIns="0" tIns="0" rIns="0" bIns="28575" rtlCol="0" anchor="t">
            <a:normAutofit/>
          </a:bodyPr>
          <a:lstStyle/>
          <a:p>
            <a:pPr algn="l" indent="0" marL="0">
              <a:lnSpc>
                <a:spcPts val="1097"/>
              </a:lnSpc>
              <a:buNone/>
            </a:pPr>
            <a:r>
              <a:rPr lang="en-US" sz="800" b="1" spc="73" kern="0" dirty="0">
                <a:solidFill>
                  <a:srgbClr val="1F61C9"/>
                </a:solidFill>
                <a:latin typeface="Carlito" pitchFamily="34" charset="0"/>
                <a:ea typeface="Carlito" pitchFamily="34" charset="-122"/>
                <a:cs typeface="Carlito" pitchFamily="34" charset="-120"/>
              </a:rPr>
              <a:t>THE SETUP</a:t>
            </a:r>
            <a:endParaRPr lang="en-US" sz="800" dirty="0"/>
          </a:p>
        </p:txBody>
      </p:sp>
      <p:sp>
        <p:nvSpPr>
          <p:cNvPr id="7" name="Text 5"/>
          <p:cNvSpPr/>
          <p:nvPr/>
        </p:nvSpPr>
        <p:spPr>
          <a:xfrm>
            <a:off x="685800" y="1433326"/>
            <a:ext cx="4766221" cy="346387"/>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Given </a:t>
            </a:r>
            <a:pPr algn="l" indent="0" marL="0">
              <a:lnSpc>
                <a:spcPts val="1097"/>
              </a:lnSpc>
              <a:buNone/>
            </a:pPr>
            <a:r>
              <a:rPr lang="en-US" sz="800" dirty="0">
                <a:solidFill>
                  <a:srgbClr val="14171F"/>
                </a:solidFill>
                <a:latin typeface="Liberation Sans Narrow" pitchFamily="34" charset="0"/>
                <a:ea typeface="Liberation Sans Narrow" pitchFamily="34" charset="-122"/>
                <a:cs typeface="Liberation Sans Narrow" pitchFamily="34" charset="-120"/>
              </a:rPr>
              <a:t>M dx + N dy = 0</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where M</a:t>
            </a:r>
            <a:pPr algn="l" indent="0" marL="0">
              <a:lnSpc>
                <a:spcPts val="1097"/>
              </a:lnSpc>
              <a:buNone/>
            </a:pPr>
            <a:r>
              <a:rPr lang="en-US" sz="800" baseline="-40000" dirty="0">
                <a:solidFill>
                  <a:srgbClr val="14171F"/>
                </a:solidFill>
                <a:latin typeface="Carlito" pitchFamily="34" charset="0"/>
                <a:ea typeface="Carlito" pitchFamily="34" charset="-122"/>
                <a:cs typeface="Carlito" pitchFamily="34" charset="-120"/>
              </a:rPr>
              <a:t>y</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 N</a:t>
            </a:r>
            <a:pPr algn="l" indent="0" marL="0">
              <a:lnSpc>
                <a:spcPts val="1097"/>
              </a:lnSpc>
              <a:buNone/>
            </a:pPr>
            <a:r>
              <a:rPr lang="en-US" sz="800" baseline="-40000" dirty="0">
                <a:solidFill>
                  <a:srgbClr val="14171F"/>
                </a:solidFill>
                <a:latin typeface="Carlito" pitchFamily="34" charset="0"/>
                <a:ea typeface="Carlito" pitchFamily="34" charset="-122"/>
                <a:cs typeface="Carlito" pitchFamily="34" charset="-120"/>
              </a:rPr>
              <a:t>x</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(not exact). We seek an integrating factor μ such that </a:t>
            </a:r>
            <a:pPr algn="l" indent="0" marL="0">
              <a:lnSpc>
                <a:spcPts val="1097"/>
              </a:lnSpc>
              <a:buNone/>
            </a:pPr>
            <a:r>
              <a:rPr lang="en-US" sz="800" dirty="0">
                <a:solidFill>
                  <a:srgbClr val="14171F"/>
                </a:solidFill>
                <a:latin typeface="Liberation Sans Narrow" pitchFamily="34" charset="0"/>
                <a:ea typeface="Liberation Sans Narrow" pitchFamily="34" charset="-122"/>
                <a:cs typeface="Liberation Sans Narrow" pitchFamily="34" charset="-120"/>
              </a:rPr>
              <a:t>μM dx + μN dy = 0</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IS exact. The exactness condition requires:</a:t>
            </a:r>
            <a:endParaRPr lang="en-US" sz="800" dirty="0"/>
          </a:p>
        </p:txBody>
      </p:sp>
      <p:pic>
        <p:nvPicPr>
          <p:cNvPr id="8" name="Image 0" descr="/tmp/h2p-svg-1781853766084-93w1ub.png">    </p:cNvPr>
          <p:cNvPicPr>
            <a:picLocks noChangeAspect="1"/>
          </p:cNvPicPr>
          <p:nvPr/>
        </p:nvPicPr>
        <p:blipFill>
          <a:blip r:embed="rId1"/>
          <a:stretch>
            <a:fillRect/>
          </a:stretch>
        </p:blipFill>
        <p:spPr>
          <a:xfrm>
            <a:off x="2548756" y="1847887"/>
            <a:ext cx="1040309" cy="303944"/>
          </a:xfrm>
          <a:prstGeom prst="rect">
            <a:avLst/>
          </a:prstGeom>
        </p:spPr>
      </p:pic>
      <p:sp>
        <p:nvSpPr>
          <p:cNvPr id="9" name="Shape 6"/>
          <p:cNvSpPr/>
          <p:nvPr/>
        </p:nvSpPr>
        <p:spPr>
          <a:xfrm>
            <a:off x="685800" y="2478323"/>
            <a:ext cx="4766221" cy="0"/>
          </a:xfrm>
          <a:prstGeom prst="line">
            <a:avLst/>
          </a:prstGeom>
          <a:noFill/>
          <a:ln w="7144">
            <a:solidFill>
              <a:srgbClr val="E3E6EE"/>
            </a:solidFill>
            <a:prstDash val="solid"/>
          </a:ln>
        </p:spPr>
      </p:sp>
      <p:sp>
        <p:nvSpPr>
          <p:cNvPr id="10" name="Text 7"/>
          <p:cNvSpPr/>
          <p:nvPr/>
        </p:nvSpPr>
        <p:spPr>
          <a:xfrm>
            <a:off x="685800" y="2306873"/>
            <a:ext cx="6021673" cy="190452"/>
          </a:xfrm>
          <a:prstGeom prst="rect">
            <a:avLst/>
          </a:prstGeom>
          <a:noFill/>
          <a:ln/>
        </p:spPr>
        <p:txBody>
          <a:bodyPr wrap="none" lIns="0" tIns="0" rIns="0" bIns="28575" rtlCol="0" anchor="t">
            <a:normAutofit/>
          </a:bodyPr>
          <a:lstStyle/>
          <a:p>
            <a:pPr algn="l" indent="0" marL="0">
              <a:lnSpc>
                <a:spcPts val="1097"/>
              </a:lnSpc>
              <a:buNone/>
            </a:pPr>
            <a:r>
              <a:rPr lang="en-US" sz="800" b="1" spc="73" kern="0" dirty="0">
                <a:solidFill>
                  <a:srgbClr val="1F61C9"/>
                </a:solidFill>
                <a:latin typeface="Carlito" pitchFamily="34" charset="0"/>
                <a:ea typeface="Carlito" pitchFamily="34" charset="-122"/>
                <a:cs typeface="Carlito" pitchFamily="34" charset="-120"/>
              </a:rPr>
              <a:t>THE DERIVATION</a:t>
            </a:r>
            <a:endParaRPr lang="en-US" sz="800" dirty="0"/>
          </a:p>
        </p:txBody>
      </p:sp>
      <p:sp>
        <p:nvSpPr>
          <p:cNvPr id="11" name="Text 8"/>
          <p:cNvSpPr/>
          <p:nvPr/>
        </p:nvSpPr>
        <p:spPr>
          <a:xfrm>
            <a:off x="685800" y="2573759"/>
            <a:ext cx="1944122" cy="142589"/>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1</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Apply the product rule to both sides.</a:t>
            </a:r>
            <a:endParaRPr lang="en-US" sz="800" dirty="0"/>
          </a:p>
        </p:txBody>
      </p:sp>
      <p:pic>
        <p:nvPicPr>
          <p:cNvPr id="12" name="Image 1" descr="/tmp/h2p-svg-1781853766084-233z2x.png">    </p:cNvPr>
          <p:cNvPicPr>
            <a:picLocks noChangeAspect="1"/>
          </p:cNvPicPr>
          <p:nvPr/>
        </p:nvPicPr>
        <p:blipFill>
          <a:blip r:embed="rId2"/>
          <a:stretch>
            <a:fillRect/>
          </a:stretch>
        </p:blipFill>
        <p:spPr>
          <a:xfrm>
            <a:off x="3231542" y="2568513"/>
            <a:ext cx="1560575" cy="126467"/>
          </a:xfrm>
          <a:prstGeom prst="rect">
            <a:avLst/>
          </a:prstGeom>
        </p:spPr>
      </p:pic>
      <p:sp>
        <p:nvSpPr>
          <p:cNvPr id="13" name="Text 9"/>
          <p:cNvSpPr/>
          <p:nvPr/>
        </p:nvSpPr>
        <p:spPr>
          <a:xfrm>
            <a:off x="685800" y="2806824"/>
            <a:ext cx="1944122" cy="142589"/>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2</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Group the μ terms on one side.</a:t>
            </a:r>
            <a:endParaRPr lang="en-US" sz="800" dirty="0"/>
          </a:p>
        </p:txBody>
      </p:sp>
      <p:pic>
        <p:nvPicPr>
          <p:cNvPr id="14" name="Image 2" descr="/tmp/h2p-svg-1781853766084-ahpgwq.png">    </p:cNvPr>
          <p:cNvPicPr>
            <a:picLocks noChangeAspect="1"/>
          </p:cNvPicPr>
          <p:nvPr/>
        </p:nvPicPr>
        <p:blipFill>
          <a:blip r:embed="rId3"/>
          <a:stretch>
            <a:fillRect/>
          </a:stretch>
        </p:blipFill>
        <p:spPr>
          <a:xfrm>
            <a:off x="3230984" y="2794992"/>
            <a:ext cx="1561691" cy="135062"/>
          </a:xfrm>
          <a:prstGeom prst="rect">
            <a:avLst/>
          </a:prstGeom>
        </p:spPr>
      </p:pic>
      <p:sp>
        <p:nvSpPr>
          <p:cNvPr id="15" name="Text 10"/>
          <p:cNvSpPr/>
          <p:nvPr/>
        </p:nvSpPr>
        <p:spPr>
          <a:xfrm>
            <a:off x="685800" y="3039442"/>
            <a:ext cx="1800113" cy="318040"/>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3</a:t>
            </a:r>
            <a:pPr algn="l" indent="0" marL="0">
              <a:lnSpc>
                <a:spcPts val="877"/>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Case 1: assume μ = μ(x) only. Then μ</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y</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 = 0, μ</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x</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 = dμ/dx.</a:t>
            </a:r>
            <a:endParaRPr lang="en-US" sz="800" dirty="0"/>
          </a:p>
        </p:txBody>
      </p:sp>
      <p:pic>
        <p:nvPicPr>
          <p:cNvPr id="16" name="Image 3" descr="/tmp/h2p-svg-1781853766085-xhwku6.png">    </p:cNvPr>
          <p:cNvPicPr>
            <a:picLocks noChangeAspect="1"/>
          </p:cNvPicPr>
          <p:nvPr/>
        </p:nvPicPr>
        <p:blipFill>
          <a:blip r:embed="rId4"/>
          <a:stretch>
            <a:fillRect/>
          </a:stretch>
        </p:blipFill>
        <p:spPr>
          <a:xfrm>
            <a:off x="3403327" y="3030066"/>
            <a:ext cx="1216893" cy="267221"/>
          </a:xfrm>
          <a:prstGeom prst="rect">
            <a:avLst/>
          </a:prstGeom>
        </p:spPr>
      </p:pic>
      <p:sp>
        <p:nvSpPr>
          <p:cNvPr id="17" name="Text 11"/>
          <p:cNvSpPr/>
          <p:nvPr/>
        </p:nvSpPr>
        <p:spPr>
          <a:xfrm>
            <a:off x="685800" y="3492847"/>
            <a:ext cx="1944122" cy="142589"/>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4</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Separate variables (divide by μN).</a:t>
            </a:r>
            <a:endParaRPr lang="en-US" sz="800" dirty="0"/>
          </a:p>
        </p:txBody>
      </p:sp>
      <p:pic>
        <p:nvPicPr>
          <p:cNvPr id="18" name="Image 4" descr="/tmp/h2p-svg-1781853766085-o83rl4.png">    </p:cNvPr>
          <p:cNvPicPr>
            <a:picLocks noChangeAspect="1"/>
          </p:cNvPicPr>
          <p:nvPr/>
        </p:nvPicPr>
        <p:blipFill>
          <a:blip r:embed="rId5"/>
          <a:stretch>
            <a:fillRect/>
          </a:stretch>
        </p:blipFill>
        <p:spPr>
          <a:xfrm>
            <a:off x="3475769" y="3397300"/>
            <a:ext cx="1072121" cy="302493"/>
          </a:xfrm>
          <a:prstGeom prst="rect">
            <a:avLst/>
          </a:prstGeom>
        </p:spPr>
      </p:pic>
      <p:sp>
        <p:nvSpPr>
          <p:cNvPr id="19" name="Text 12"/>
          <p:cNvSpPr/>
          <p:nvPr/>
        </p:nvSpPr>
        <p:spPr>
          <a:xfrm>
            <a:off x="685800" y="3881289"/>
            <a:ext cx="1944122" cy="159020"/>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5</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If (M</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y</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 − N</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x</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)/N is f(x), integrate.</a:t>
            </a:r>
            <a:endParaRPr lang="en-US" sz="800" dirty="0"/>
          </a:p>
        </p:txBody>
      </p:sp>
      <p:pic>
        <p:nvPicPr>
          <p:cNvPr id="20" name="Image 5" descr="/tmp/h2p-svg-1781853766085-y5c9i0.png">    </p:cNvPr>
          <p:cNvPicPr>
            <a:picLocks noChangeAspect="1"/>
          </p:cNvPicPr>
          <p:nvPr/>
        </p:nvPicPr>
        <p:blipFill>
          <a:blip r:embed="rId6"/>
          <a:stretch>
            <a:fillRect/>
          </a:stretch>
        </p:blipFill>
        <p:spPr>
          <a:xfrm>
            <a:off x="2761059" y="3799805"/>
            <a:ext cx="2501540" cy="287201"/>
          </a:xfrm>
          <a:prstGeom prst="rect">
            <a:avLst/>
          </a:prstGeom>
        </p:spPr>
      </p:pic>
      <p:sp>
        <p:nvSpPr>
          <p:cNvPr id="21" name="Text 13"/>
          <p:cNvSpPr/>
          <p:nvPr/>
        </p:nvSpPr>
        <p:spPr>
          <a:xfrm>
            <a:off x="685800" y="4214031"/>
            <a:ext cx="1800113" cy="318040"/>
          </a:xfrm>
          <a:prstGeom prst="rect">
            <a:avLst/>
          </a:prstGeom>
          <a:noFill/>
          <a:ln/>
        </p:spPr>
        <p:txBody>
          <a:bodyPr wrap="square" lIns="0" tIns="0" rIns="0" bIns="0" rtlCol="0" anchor="t"/>
          <a:lstStyle/>
          <a:p>
            <a:pPr algn="l" indent="0" marL="0">
              <a:lnSpc>
                <a:spcPts val="877"/>
              </a:lnSpc>
              <a:buNone/>
            </a:pPr>
            <a:r>
              <a:rPr lang="en-US" sz="800" b="1" i="1" dirty="0">
                <a:solidFill>
                  <a:srgbClr val="1A2A4F"/>
                </a:solidFill>
                <a:latin typeface="Liberation Sans Narrow" pitchFamily="34" charset="0"/>
                <a:ea typeface="Liberation Sans Narrow" pitchFamily="34" charset="-122"/>
                <a:cs typeface="Liberation Sans Narrow" pitchFamily="34" charset="-120"/>
              </a:rPr>
              <a:t>6</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Case 2: μ = μ(y) only. By symmetry (μ</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x</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 = 0, μ</a:t>
            </a:r>
            <a:pPr algn="l" indent="0" marL="0">
              <a:lnSpc>
                <a:spcPts val="877"/>
              </a:lnSpc>
              <a:buNone/>
            </a:pPr>
            <a:r>
              <a:rPr lang="en-US" sz="800" i="1" baseline="-40000" dirty="0">
                <a:solidFill>
                  <a:srgbClr val="4A5160"/>
                </a:solidFill>
                <a:latin typeface="Carlito" pitchFamily="34" charset="0"/>
                <a:ea typeface="Carlito" pitchFamily="34" charset="-122"/>
                <a:cs typeface="Carlito" pitchFamily="34" charset="-120"/>
              </a:rPr>
              <a:t>y</a:t>
            </a:r>
            <a:pPr algn="l" indent="0" marL="0">
              <a:lnSpc>
                <a:spcPts val="877"/>
              </a:lnSpc>
              <a:buNone/>
            </a:pPr>
            <a:r>
              <a:rPr lang="en-US" sz="800" i="1" dirty="0">
                <a:solidFill>
                  <a:srgbClr val="4A5160"/>
                </a:solidFill>
                <a:latin typeface="Carlito" pitchFamily="34" charset="0"/>
                <a:ea typeface="Carlito" pitchFamily="34" charset="-122"/>
                <a:cs typeface="Carlito" pitchFamily="34" charset="-120"/>
              </a:rPr>
              <a:t> = dμ/dy).</a:t>
            </a:r>
            <a:endParaRPr lang="en-US" sz="800" dirty="0"/>
          </a:p>
        </p:txBody>
      </p:sp>
      <p:pic>
        <p:nvPicPr>
          <p:cNvPr id="22" name="Image 6" descr="/tmp/h2p-svg-1781853766085-3zziir.png">    </p:cNvPr>
          <p:cNvPicPr>
            <a:picLocks noChangeAspect="1"/>
          </p:cNvPicPr>
          <p:nvPr/>
        </p:nvPicPr>
        <p:blipFill>
          <a:blip r:embed="rId7"/>
          <a:stretch>
            <a:fillRect/>
          </a:stretch>
        </p:blipFill>
        <p:spPr>
          <a:xfrm>
            <a:off x="2742977" y="4187019"/>
            <a:ext cx="2537706" cy="302493"/>
          </a:xfrm>
          <a:prstGeom prst="rect">
            <a:avLst/>
          </a:prstGeom>
        </p:spPr>
      </p:pic>
      <p:sp>
        <p:nvSpPr>
          <p:cNvPr id="23" name="Text 14"/>
          <p:cNvSpPr/>
          <p:nvPr/>
        </p:nvSpPr>
        <p:spPr>
          <a:xfrm>
            <a:off x="5623471" y="1215442"/>
            <a:ext cx="3177518" cy="3334792"/>
          </a:xfrm>
          <a:prstGeom prst="roundRect">
            <a:avLst>
              <a:gd name="adj" fmla="val 1199"/>
            </a:avLst>
          </a:prstGeom>
          <a:solidFill>
            <a:srgbClr val="F6F7FB"/>
          </a:solidFill>
          <a:ln/>
        </p:spPr>
        <p:txBody>
          <a:bodyPr wrap="square" rtlCol="0" anchor="ctr"/>
          <a:lstStyle/>
          <a:p>
            <a:pPr indent="0" marL="0">
              <a:buNone/>
            </a:pPr>
            <a:endParaRPr lang="en-US" dirty="0"/>
          </a:p>
        </p:txBody>
      </p:sp>
      <p:sp>
        <p:nvSpPr>
          <p:cNvPr id="24" name="Shape 15"/>
          <p:cNvSpPr/>
          <p:nvPr/>
        </p:nvSpPr>
        <p:spPr>
          <a:xfrm>
            <a:off x="5637758" y="1215442"/>
            <a:ext cx="0" cy="3334792"/>
          </a:xfrm>
          <a:prstGeom prst="line">
            <a:avLst/>
          </a:prstGeom>
          <a:noFill/>
          <a:ln w="28575">
            <a:solidFill>
              <a:srgbClr val="1F61C9"/>
            </a:solidFill>
            <a:prstDash val="solid"/>
          </a:ln>
        </p:spPr>
      </p:sp>
      <p:sp>
        <p:nvSpPr>
          <p:cNvPr id="25" name="Text 16"/>
          <p:cNvSpPr/>
          <p:nvPr/>
        </p:nvSpPr>
        <p:spPr>
          <a:xfrm>
            <a:off x="5766346" y="1315455"/>
            <a:ext cx="2920343" cy="142232"/>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KEY INSIGHT</a:t>
            </a:r>
            <a:endParaRPr lang="en-US" sz="800" dirty="0"/>
          </a:p>
        </p:txBody>
      </p:sp>
      <p:sp>
        <p:nvSpPr>
          <p:cNvPr id="26" name="Text 17"/>
          <p:cNvSpPr/>
          <p:nvPr/>
        </p:nvSpPr>
        <p:spPr>
          <a:xfrm>
            <a:off x="5766346" y="1485119"/>
            <a:ext cx="2920343" cy="692859"/>
          </a:xfrm>
          <a:prstGeom prst="rect">
            <a:avLst/>
          </a:prstGeom>
          <a:noFill/>
          <a:ln/>
        </p:spPr>
        <p:txBody>
          <a:bodyPr wrap="square" lIns="0" tIns="0" rIns="0" bIns="0" rtlCol="0" anchor="t">
            <a:normAutofit/>
          </a:bodyPr>
          <a:lstStyle/>
          <a:p>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The general case — μ depending on both x and y — leads to a PDE that is rarely solvable in closed form. The two special cases (x-only or y-only) are precisely the cases where the PDE collapses to a separable ODE. This is why the tests on slide 26 check whether (M</a:t>
            </a:r>
            <a:pPr algn="l" indent="0" marL="0">
              <a:lnSpc>
                <a:spcPts val="1097"/>
              </a:lnSpc>
              <a:buNone/>
            </a:pPr>
            <a:r>
              <a:rPr lang="en-US" sz="800" i="1" baseline="-40000" dirty="0">
                <a:solidFill>
                  <a:srgbClr val="14171F"/>
                </a:solidFill>
                <a:latin typeface="Carlito" pitchFamily="34" charset="0"/>
                <a:ea typeface="Carlito" pitchFamily="34" charset="-122"/>
                <a:cs typeface="Carlito" pitchFamily="34" charset="-120"/>
              </a:rPr>
              <a:t>y</a:t>
            </a:r>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 − N</a:t>
            </a:r>
            <a:pPr algn="l" indent="0" marL="0">
              <a:lnSpc>
                <a:spcPts val="1097"/>
              </a:lnSpc>
              <a:buNone/>
            </a:pPr>
            <a:r>
              <a:rPr lang="en-US" sz="800" i="1" baseline="-40000" dirty="0">
                <a:solidFill>
                  <a:srgbClr val="14171F"/>
                </a:solidFill>
                <a:latin typeface="Carlito" pitchFamily="34" charset="0"/>
                <a:ea typeface="Carlito" pitchFamily="34" charset="-122"/>
                <a:cs typeface="Carlito" pitchFamily="34" charset="-120"/>
              </a:rPr>
              <a:t>x</a:t>
            </a:r>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)/N is x-only or (N</a:t>
            </a:r>
            <a:pPr algn="l" indent="0" marL="0">
              <a:lnSpc>
                <a:spcPts val="1097"/>
              </a:lnSpc>
              <a:buNone/>
            </a:pPr>
            <a:r>
              <a:rPr lang="en-US" sz="800" i="1" baseline="-40000" dirty="0">
                <a:solidFill>
                  <a:srgbClr val="14171F"/>
                </a:solidFill>
                <a:latin typeface="Carlito" pitchFamily="34" charset="0"/>
                <a:ea typeface="Carlito" pitchFamily="34" charset="-122"/>
                <a:cs typeface="Carlito" pitchFamily="34" charset="-120"/>
              </a:rPr>
              <a:t>x</a:t>
            </a:r>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 − M</a:t>
            </a:r>
            <a:pPr algn="l" indent="0" marL="0">
              <a:lnSpc>
                <a:spcPts val="1097"/>
              </a:lnSpc>
              <a:buNone/>
            </a:pPr>
            <a:r>
              <a:rPr lang="en-US" sz="800" i="1" baseline="-40000" dirty="0">
                <a:solidFill>
                  <a:srgbClr val="14171F"/>
                </a:solidFill>
                <a:latin typeface="Carlito" pitchFamily="34" charset="0"/>
                <a:ea typeface="Carlito" pitchFamily="34" charset="-122"/>
                <a:cs typeface="Carlito" pitchFamily="34" charset="-120"/>
              </a:rPr>
              <a:t>y</a:t>
            </a:r>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)/M is y-only.</a:t>
            </a:r>
            <a:endParaRPr lang="en-US" sz="800" dirty="0"/>
          </a:p>
        </p:txBody>
      </p:sp>
      <p:sp>
        <p:nvSpPr>
          <p:cNvPr id="27" name="Text 18"/>
          <p:cNvSpPr/>
          <p:nvPr/>
        </p:nvSpPr>
        <p:spPr>
          <a:xfrm>
            <a:off x="5766346" y="2205410"/>
            <a:ext cx="3030071" cy="142232"/>
          </a:xfrm>
          <a:prstGeom prst="rect">
            <a:avLst/>
          </a:prstGeom>
          <a:noFill/>
          <a:ln/>
        </p:spPr>
        <p:txBody>
          <a:bodyPr wrap="squar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WHY THE PARTIAL BECOMES ORDINARY</a:t>
            </a:r>
            <a:endParaRPr lang="en-US" sz="800" dirty="0"/>
          </a:p>
        </p:txBody>
      </p:sp>
      <p:sp>
        <p:nvSpPr>
          <p:cNvPr id="28" name="Text 19"/>
          <p:cNvSpPr/>
          <p:nvPr/>
        </p:nvSpPr>
        <p:spPr>
          <a:xfrm>
            <a:off x="5766346" y="2375074"/>
            <a:ext cx="2920343" cy="52978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If μ = μ(x) only, then ∂μ/∂y = 0 (μ has no y to differentiate) and ∂μ/∂x = dμ/dx (no other variable to hold constant). The partial derivative becomes an ordinary derivative, turning a PDE into an ODE.</a:t>
            </a:r>
            <a:endParaRPr lang="en-US" sz="800" dirty="0"/>
          </a:p>
        </p:txBody>
      </p:sp>
      <p:sp>
        <p:nvSpPr>
          <p:cNvPr id="29" name="Text 20"/>
          <p:cNvSpPr/>
          <p:nvPr/>
        </p:nvSpPr>
        <p:spPr>
          <a:xfrm>
            <a:off x="5766346" y="2932286"/>
            <a:ext cx="2920343" cy="142232"/>
          </a:xfrm>
          <a:prstGeom prst="rect">
            <a:avLst/>
          </a:prstGeom>
          <a:noFill/>
          <a:ln/>
        </p:spPr>
        <p:txBody>
          <a:bodyPr wrap="none" lIns="0" tIns="0" rIns="0" bIns="0" rtlCol="0" anchor="t">
            <a:normAutofit/>
          </a:bodyPr>
          <a:lstStyle/>
          <a:p>
            <a:pPr algn="l" indent="0" marL="0">
              <a:lnSpc>
                <a:spcPts val="1055"/>
              </a:lnSpc>
              <a:buNone/>
            </a:pPr>
            <a:r>
              <a:rPr lang="en-US" sz="800" b="1" spc="70" kern="0" dirty="0">
                <a:solidFill>
                  <a:srgbClr val="1F61C9"/>
                </a:solidFill>
                <a:latin typeface="Carlito" pitchFamily="34" charset="0"/>
                <a:ea typeface="Carlito" pitchFamily="34" charset="-122"/>
                <a:cs typeface="Carlito" pitchFamily="34" charset="-120"/>
              </a:rPr>
              <a:t>CONNECTION TO LINEAR IF</a:t>
            </a:r>
            <a:endParaRPr lang="en-US" sz="800" dirty="0"/>
          </a:p>
        </p:txBody>
      </p:sp>
      <p:sp>
        <p:nvSpPr>
          <p:cNvPr id="30" name="Text 21"/>
          <p:cNvSpPr/>
          <p:nvPr/>
        </p:nvSpPr>
        <p:spPr>
          <a:xfrm>
            <a:off x="5766346" y="3101950"/>
            <a:ext cx="2920343" cy="842611"/>
          </a:xfrm>
          <a:prstGeom prst="rect">
            <a:avLst/>
          </a:prstGeom>
          <a:noFill/>
          <a:ln/>
        </p:spPr>
        <p:txBody>
          <a:bodyPr wrap="square" lIns="0" tIns="0" rIns="0" bIns="0" rtlCol="0" anchor="t"/>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The formula μ = e</a:t>
            </a:r>
            <a:pPr algn="l" indent="0" marL="0">
              <a:lnSpc>
                <a:spcPts val="1097"/>
              </a:lnSpc>
              <a:buNone/>
            </a:pPr>
            <a:r>
              <a:rPr lang="en-US" sz="800" baseline="30000" dirty="0">
                <a:solidFill>
                  <a:srgbClr val="14171F"/>
                </a:solidFill>
                <a:latin typeface="Carlito" pitchFamily="34" charset="0"/>
                <a:ea typeface="Carlito" pitchFamily="34" charset="-122"/>
                <a:cs typeface="Carlito" pitchFamily="34" charset="-120"/>
              </a:rPr>
              <a:t>∫f(x) dx</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is the same integrating factor we derived for linear ODEs (slide 15). This is no coincidence — a linear ODE y′ + Py = Q can be written in differential form </a:t>
            </a:r>
            <a:pPr algn="l" indent="0" marL="0">
              <a:lnSpc>
                <a:spcPts val="1097"/>
              </a:lnSpc>
              <a:buNone/>
            </a:pPr>
            <a:r>
              <a:rPr lang="en-US" sz="800" dirty="0">
                <a:solidFill>
                  <a:srgbClr val="14171F"/>
                </a:solidFill>
                <a:latin typeface="Liberation Sans Narrow" pitchFamily="34" charset="0"/>
                <a:ea typeface="Liberation Sans Narrow" pitchFamily="34" charset="-122"/>
                <a:cs typeface="Liberation Sans Narrow" pitchFamily="34" charset="-120"/>
              </a:rPr>
              <a:t>(Py − Q) dx + dy = 0</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and its IF is exactly the x-only case derived here.</a:t>
            </a:r>
            <a:endParaRPr lang="en-US" sz="800" dirty="0"/>
          </a:p>
        </p:txBody>
      </p:sp>
      <p:sp>
        <p:nvSpPr>
          <p:cNvPr id="31" name="Text 22"/>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27 / 38</a:t>
            </a:r>
            <a:endParaRPr lang="en-US" sz="800" dirty="0"/>
          </a:p>
        </p:txBody>
      </p:sp>
      <p:pic>
        <p:nvPicPr>
          <p:cNvPr id="32" name="Image 7" descr="preencoded.png">    </p:cNvPr>
          <p:cNvPicPr>
            <a:picLocks noChangeAspect="1"/>
          </p:cNvPicPr>
          <p:nvPr/>
        </p:nvPicPr>
        <p:blipFill>
          <a:blip r:embed="rId8"/>
          <a:stretch>
            <a:fillRect/>
          </a:stretch>
        </p:blipFill>
        <p:spPr>
          <a:xfrm>
            <a:off x="0" y="0"/>
            <a:ext cx="17145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3 · LIVE MATHEMATICS</a:t>
            </a:r>
            <a:endParaRPr lang="en-US" sz="844" dirty="0"/>
          </a:p>
        </p:txBody>
      </p:sp>
      <p:sp>
        <p:nvSpPr>
          <p:cNvPr id="3" name="Text 1"/>
          <p:cNvSpPr/>
          <p:nvPr/>
        </p:nvSpPr>
        <p:spPr>
          <a:xfrm>
            <a:off x="685800" y="701873"/>
            <a:ext cx="8458200" cy="221148"/>
          </a:xfrm>
          <a:prstGeom prst="rect">
            <a:avLst/>
          </a:prstGeom>
          <a:noFill/>
          <a:ln/>
        </p:spPr>
        <p:txBody>
          <a:bodyPr wrap="square" lIns="0" tIns="0" rIns="0" bIns="0" rtlCol="0" anchor="t">
            <a:normAutofit/>
          </a:bodyPr>
          <a:lstStyle/>
          <a:p>
            <a:pPr algn="l" indent="0" marL="0">
              <a:lnSpc>
                <a:spcPts val="1733"/>
              </a:lnSpc>
              <a:buNone/>
            </a:pPr>
            <a:r>
              <a:rPr lang="en-US" sz="1575" b="1" spc="-19" kern="0" dirty="0">
                <a:solidFill>
                  <a:srgbClr val="1A2A4F"/>
                </a:solidFill>
                <a:latin typeface="Carlito" pitchFamily="34" charset="0"/>
                <a:ea typeface="Carlito" pitchFamily="34" charset="-122"/>
                <a:cs typeface="Carlito" pitchFamily="34" charset="-120"/>
              </a:rPr>
              <a:t>Non-Exact Equations — Worked Example</a:t>
            </a:r>
            <a:endParaRPr lang="en-US" sz="1575" dirty="0"/>
          </a:p>
        </p:txBody>
      </p:sp>
      <p:sp>
        <p:nvSpPr>
          <p:cNvPr id="4" name="Text 2"/>
          <p:cNvSpPr/>
          <p:nvPr/>
        </p:nvSpPr>
        <p:spPr>
          <a:xfrm>
            <a:off x="685800" y="950454"/>
            <a:ext cx="8458200" cy="185166"/>
          </a:xfrm>
          <a:prstGeom prst="rect">
            <a:avLst/>
          </a:prstGeom>
          <a:noFill/>
          <a:ln/>
        </p:spPr>
        <p:txBody>
          <a:bodyPr wrap="square" lIns="0" tIns="0" rIns="0" bIns="0" rtlCol="0" anchor="t"/>
          <a:lstStyle/>
          <a:p>
            <a:pPr algn="l" indent="0" marL="0">
              <a:lnSpc>
                <a:spcPts val="1350"/>
              </a:lnSpc>
              <a:buNone/>
            </a:pPr>
            <a:r>
              <a:rPr lang="en-US" sz="900" i="1" dirty="0">
                <a:solidFill>
                  <a:srgbClr val="1F61C9"/>
                </a:solidFill>
                <a:latin typeface="Carlito" pitchFamily="34" charset="0"/>
                <a:ea typeface="Carlito" pitchFamily="34" charset="-122"/>
                <a:cs typeface="Carlito" pitchFamily="34" charset="-120"/>
              </a:rPr>
              <a:t>Finding and Using an x-only Integrating Factor</a:t>
            </a:r>
            <a:endParaRPr lang="en-US" sz="900" dirty="0"/>
          </a:p>
        </p:txBody>
      </p:sp>
      <p:sp>
        <p:nvSpPr>
          <p:cNvPr id="5" name="Text 3"/>
          <p:cNvSpPr/>
          <p:nvPr/>
        </p:nvSpPr>
        <p:spPr>
          <a:xfrm>
            <a:off x="685800" y="1179054"/>
            <a:ext cx="7943850" cy="436215"/>
          </a:xfrm>
          <a:prstGeom prst="roundRect">
            <a:avLst>
              <a:gd name="adj" fmla="val 8734"/>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79054"/>
            <a:ext cx="0" cy="436215"/>
          </a:xfrm>
          <a:prstGeom prst="line">
            <a:avLst/>
          </a:prstGeom>
          <a:noFill/>
          <a:ln w="28575">
            <a:solidFill>
              <a:srgbClr val="1F61C9"/>
            </a:solidFill>
            <a:prstDash val="solid"/>
          </a:ln>
        </p:spPr>
      </p:sp>
      <p:sp>
        <p:nvSpPr>
          <p:cNvPr id="7" name="Text 5"/>
          <p:cNvSpPr/>
          <p:nvPr/>
        </p:nvSpPr>
        <p:spPr>
          <a:xfrm>
            <a:off x="842963" y="1221916"/>
            <a:ext cx="7767828" cy="131851"/>
          </a:xfrm>
          <a:prstGeom prst="rect">
            <a:avLst/>
          </a:prstGeom>
          <a:noFill/>
          <a:ln/>
        </p:spPr>
        <p:txBody>
          <a:bodyPr wrap="square" lIns="0" tIns="0" rIns="0" bIns="0" rtlCol="0" anchor="t">
            <a:normAutofit/>
          </a:bodyPr>
          <a:lstStyle/>
          <a:p>
            <a:pPr algn="l" indent="0" marL="0">
              <a:lnSpc>
                <a:spcPts val="945"/>
              </a:lnSpc>
              <a:buNone/>
            </a:pPr>
            <a:r>
              <a:rPr lang="en-US" sz="800" b="1" spc="14" kern="0" dirty="0">
                <a:solidFill>
                  <a:srgbClr val="14171F"/>
                </a:solidFill>
                <a:latin typeface="Carlito" pitchFamily="34" charset="0"/>
                <a:ea typeface="Carlito" pitchFamily="34" charset="-122"/>
                <a:cs typeface="Carlito" pitchFamily="34" charset="-120"/>
              </a:rPr>
              <a:t>Solve the differential equation:</a:t>
            </a:r>
            <a:endParaRPr lang="en-US" sz="800" dirty="0"/>
          </a:p>
        </p:txBody>
      </p:sp>
      <p:pic>
        <p:nvPicPr>
          <p:cNvPr id="8" name="Image 0" descr="/tmp/h2p-svg-1781853766424-p46j94.png">    </p:cNvPr>
          <p:cNvPicPr>
            <a:picLocks noChangeAspect="1"/>
          </p:cNvPicPr>
          <p:nvPr/>
        </p:nvPicPr>
        <p:blipFill>
          <a:blip r:embed="rId1"/>
          <a:stretch>
            <a:fillRect/>
          </a:stretch>
        </p:blipFill>
        <p:spPr>
          <a:xfrm>
            <a:off x="3795229" y="1381199"/>
            <a:ext cx="1753456" cy="146558"/>
          </a:xfrm>
          <a:prstGeom prst="rect">
            <a:avLst/>
          </a:prstGeom>
        </p:spPr>
      </p:pic>
      <p:sp>
        <p:nvSpPr>
          <p:cNvPr id="9" name="Shape 6"/>
          <p:cNvSpPr/>
          <p:nvPr/>
        </p:nvSpPr>
        <p:spPr>
          <a:xfrm>
            <a:off x="685800" y="2173821"/>
            <a:ext cx="7943850" cy="0"/>
          </a:xfrm>
          <a:prstGeom prst="line">
            <a:avLst/>
          </a:prstGeom>
          <a:noFill/>
          <a:ln w="7144">
            <a:solidFill>
              <a:srgbClr val="E3E6EE"/>
            </a:solidFill>
            <a:prstDash val="dash"/>
          </a:ln>
        </p:spPr>
      </p:sp>
      <p:sp>
        <p:nvSpPr>
          <p:cNvPr id="10" name="Text 7"/>
          <p:cNvSpPr/>
          <p:nvPr/>
        </p:nvSpPr>
        <p:spPr>
          <a:xfrm>
            <a:off x="1725885" y="1780468"/>
            <a:ext cx="678879" cy="125403"/>
          </a:xfrm>
          <a:prstGeom prst="rect">
            <a:avLst/>
          </a:prstGeom>
          <a:noFill/>
          <a:ln/>
        </p:spPr>
        <p:txBody>
          <a:bodyPr wrap="square" lIns="0" tIns="14288" rIns="28575" bIns="0" rtlCol="0" anchor="t"/>
          <a:lstStyle/>
          <a:p>
            <a:pPr algn="r" indent="0" marL="0">
              <a:lnSpc>
                <a:spcPts val="738"/>
              </a:lnSpc>
              <a:buNone/>
            </a:pPr>
            <a:r>
              <a:rPr lang="en-US" sz="800" i="1" dirty="0">
                <a:solidFill>
                  <a:srgbClr val="4A5160"/>
                </a:solidFill>
                <a:latin typeface="Carlito" pitchFamily="34" charset="0"/>
                <a:ea typeface="Carlito" pitchFamily="34" charset="-122"/>
                <a:cs typeface="Carlito" pitchFamily="34" charset="-120"/>
              </a:rPr>
              <a:t>Test for Exactness</a:t>
            </a:r>
            <a:endParaRPr lang="en-US" sz="800" dirty="0"/>
          </a:p>
        </p:txBody>
      </p:sp>
      <p:sp>
        <p:nvSpPr>
          <p:cNvPr id="11" name="Text 8"/>
          <p:cNvSpPr/>
          <p:nvPr/>
        </p:nvSpPr>
        <p:spPr>
          <a:xfrm>
            <a:off x="685800" y="1686706"/>
            <a:ext cx="1718965" cy="137160"/>
          </a:xfrm>
          <a:prstGeom prst="rect">
            <a:avLst/>
          </a:prstGeom>
          <a:noFill/>
          <a:ln/>
        </p:spPr>
        <p:txBody>
          <a:bodyPr wrap="none" lIns="0" tIns="0" rIns="0" bIns="0" rtlCol="0" anchor="t"/>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1</a:t>
            </a:r>
            <a:endParaRPr lang="en-US" sz="800" dirty="0"/>
          </a:p>
        </p:txBody>
      </p:sp>
      <p:pic>
        <p:nvPicPr>
          <p:cNvPr id="12" name="Image 1" descr="/tmp/h2p-svg-1781853766424-n3dode.png">    </p:cNvPr>
          <p:cNvPicPr>
            <a:picLocks noChangeAspect="1"/>
          </p:cNvPicPr>
          <p:nvPr/>
        </p:nvPicPr>
        <p:blipFill>
          <a:blip r:embed="rId2"/>
          <a:stretch>
            <a:fillRect/>
          </a:stretch>
        </p:blipFill>
        <p:spPr>
          <a:xfrm>
            <a:off x="4760082" y="1687153"/>
            <a:ext cx="1742629" cy="152363"/>
          </a:xfrm>
          <a:prstGeom prst="rect">
            <a:avLst/>
          </a:prstGeom>
        </p:spPr>
      </p:pic>
      <p:pic>
        <p:nvPicPr>
          <p:cNvPr id="13" name="Image 2" descr="/tmp/h2p-svg-1781853766424-zo7ici.png">    </p:cNvPr>
          <p:cNvPicPr>
            <a:picLocks noChangeAspect="1"/>
          </p:cNvPicPr>
          <p:nvPr/>
        </p:nvPicPr>
        <p:blipFill>
          <a:blip r:embed="rId3"/>
          <a:stretch>
            <a:fillRect/>
          </a:stretch>
        </p:blipFill>
        <p:spPr>
          <a:xfrm>
            <a:off x="4643326" y="1854250"/>
            <a:ext cx="1976140" cy="140754"/>
          </a:xfrm>
          <a:prstGeom prst="rect">
            <a:avLst/>
          </a:prstGeom>
        </p:spPr>
      </p:pic>
      <p:pic>
        <p:nvPicPr>
          <p:cNvPr id="14" name="Image 3" descr="/tmp/h2p-svg-1781853766424-wf9aka.png">    </p:cNvPr>
          <p:cNvPicPr>
            <a:picLocks noChangeAspect="1"/>
          </p:cNvPicPr>
          <p:nvPr/>
        </p:nvPicPr>
        <p:blipFill>
          <a:blip r:embed="rId4"/>
          <a:stretch>
            <a:fillRect/>
          </a:stretch>
        </p:blipFill>
        <p:spPr>
          <a:xfrm>
            <a:off x="4076849" y="2010631"/>
            <a:ext cx="3109206" cy="130597"/>
          </a:xfrm>
          <a:prstGeom prst="rect">
            <a:avLst/>
          </a:prstGeom>
        </p:spPr>
      </p:pic>
      <p:sp>
        <p:nvSpPr>
          <p:cNvPr id="15" name="Shape 9"/>
          <p:cNvSpPr/>
          <p:nvPr/>
        </p:nvSpPr>
        <p:spPr>
          <a:xfrm>
            <a:off x="685800" y="2659931"/>
            <a:ext cx="7943850" cy="0"/>
          </a:xfrm>
          <a:prstGeom prst="line">
            <a:avLst/>
          </a:prstGeom>
          <a:noFill/>
          <a:ln w="7144">
            <a:solidFill>
              <a:srgbClr val="E3E6EE"/>
            </a:solidFill>
            <a:prstDash val="dash"/>
          </a:ln>
        </p:spPr>
      </p:sp>
      <p:sp>
        <p:nvSpPr>
          <p:cNvPr id="16" name="Text 10"/>
          <p:cNvSpPr/>
          <p:nvPr/>
        </p:nvSpPr>
        <p:spPr>
          <a:xfrm>
            <a:off x="1785603" y="2314017"/>
            <a:ext cx="619162" cy="125403"/>
          </a:xfrm>
          <a:prstGeom prst="rect">
            <a:avLst/>
          </a:prstGeom>
          <a:noFill/>
          <a:ln/>
        </p:spPr>
        <p:txBody>
          <a:bodyPr wrap="square" lIns="0" tIns="14288" rIns="28575" bIns="0" rtlCol="0" anchor="t"/>
          <a:lstStyle/>
          <a:p>
            <a:pPr algn="r" indent="0" marL="0">
              <a:lnSpc>
                <a:spcPts val="738"/>
              </a:lnSpc>
              <a:buNone/>
            </a:pPr>
            <a:r>
              <a:rPr lang="en-US" sz="800" i="1" dirty="0">
                <a:solidFill>
                  <a:srgbClr val="4A5160"/>
                </a:solidFill>
                <a:latin typeface="Carlito" pitchFamily="34" charset="0"/>
                <a:ea typeface="Carlito" pitchFamily="34" charset="-122"/>
                <a:cs typeface="Carlito" pitchFamily="34" charset="-120"/>
              </a:rPr>
              <a:t>Test for x-only IF</a:t>
            </a:r>
            <a:endParaRPr lang="en-US" sz="800" dirty="0"/>
          </a:p>
        </p:txBody>
      </p:sp>
      <p:sp>
        <p:nvSpPr>
          <p:cNvPr id="17" name="Text 11"/>
          <p:cNvSpPr/>
          <p:nvPr/>
        </p:nvSpPr>
        <p:spPr>
          <a:xfrm>
            <a:off x="685800" y="2220255"/>
            <a:ext cx="1718965" cy="137160"/>
          </a:xfrm>
          <a:prstGeom prst="rect">
            <a:avLst/>
          </a:prstGeom>
          <a:noFill/>
          <a:ln/>
        </p:spPr>
        <p:txBody>
          <a:bodyPr wrap="none" lIns="0" tIns="0" rIns="0" bIns="0" rtlCol="0" anchor="t"/>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2</a:t>
            </a:r>
            <a:endParaRPr lang="en-US" sz="800" dirty="0"/>
          </a:p>
        </p:txBody>
      </p:sp>
      <p:pic>
        <p:nvPicPr>
          <p:cNvPr id="18" name="Image 4" descr="/tmp/h2p-svg-1781853766424-6ki255.png">    </p:cNvPr>
          <p:cNvPicPr>
            <a:picLocks noChangeAspect="1"/>
          </p:cNvPicPr>
          <p:nvPr/>
        </p:nvPicPr>
        <p:blipFill>
          <a:blip r:embed="rId5"/>
          <a:stretch>
            <a:fillRect/>
          </a:stretch>
        </p:blipFill>
        <p:spPr>
          <a:xfrm>
            <a:off x="3799694" y="2220702"/>
            <a:ext cx="3663516" cy="312874"/>
          </a:xfrm>
          <a:prstGeom prst="rect">
            <a:avLst/>
          </a:prstGeom>
        </p:spPr>
      </p:pic>
      <p:sp>
        <p:nvSpPr>
          <p:cNvPr id="19" name="Text 12"/>
          <p:cNvSpPr/>
          <p:nvPr/>
        </p:nvSpPr>
        <p:spPr>
          <a:xfrm>
            <a:off x="2533352" y="2548310"/>
            <a:ext cx="6206026" cy="93762"/>
          </a:xfrm>
          <a:prstGeom prst="rect">
            <a:avLst/>
          </a:prstGeom>
          <a:noFill/>
          <a:ln/>
        </p:spPr>
        <p:txBody>
          <a:bodyPr wrap="square" lIns="0" tIns="0" rIns="0" bIns="0" rtlCol="0" anchor="t"/>
          <a:lstStyle/>
          <a:p>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This is a function of x alone! So </a:t>
            </a:r>
            <a:pPr algn="l" indent="0" marL="0">
              <a:lnSpc>
                <a:spcPts val="738"/>
              </a:lnSpc>
              <a:buNone/>
            </a:pPr>
            <a:r>
              <a:rPr lang="en-US" sz="800" i="1" dirty="0">
                <a:solidFill>
                  <a:srgbClr val="14171F"/>
                </a:solidFill>
                <a:latin typeface="Liberation Sans Narrow" pitchFamily="34" charset="0"/>
                <a:ea typeface="Liberation Sans Narrow" pitchFamily="34" charset="-122"/>
                <a:cs typeface="Liberation Sans Narrow" pitchFamily="34" charset="-120"/>
              </a:rPr>
              <a:t>f(x) = −2/x</a:t>
            </a:r>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a:t>
            </a:r>
            <a:endParaRPr lang="en-US" sz="800" dirty="0"/>
          </a:p>
        </p:txBody>
      </p:sp>
      <p:sp>
        <p:nvSpPr>
          <p:cNvPr id="20" name="Shape 13"/>
          <p:cNvSpPr/>
          <p:nvPr/>
        </p:nvSpPr>
        <p:spPr>
          <a:xfrm>
            <a:off x="685800" y="3007407"/>
            <a:ext cx="7943850" cy="0"/>
          </a:xfrm>
          <a:prstGeom prst="line">
            <a:avLst/>
          </a:prstGeom>
          <a:noFill/>
          <a:ln w="7144">
            <a:solidFill>
              <a:srgbClr val="E3E6EE"/>
            </a:solidFill>
            <a:prstDash val="dash"/>
          </a:ln>
        </p:spPr>
      </p:sp>
      <p:sp>
        <p:nvSpPr>
          <p:cNvPr id="21" name="Text 14"/>
          <p:cNvSpPr/>
          <p:nvPr/>
        </p:nvSpPr>
        <p:spPr>
          <a:xfrm>
            <a:off x="1991097" y="2800127"/>
            <a:ext cx="413668" cy="125403"/>
          </a:xfrm>
          <a:prstGeom prst="rect">
            <a:avLst/>
          </a:prstGeom>
          <a:noFill/>
          <a:ln/>
        </p:spPr>
        <p:txBody>
          <a:bodyPr wrap="none" lIns="0" tIns="14288" rIns="28575" bIns="0" rtlCol="0" anchor="t"/>
          <a:lstStyle/>
          <a:p>
            <a:pPr algn="r" indent="0" marL="0">
              <a:lnSpc>
                <a:spcPts val="738"/>
              </a:lnSpc>
              <a:buNone/>
            </a:pPr>
            <a:r>
              <a:rPr lang="en-US" sz="800" i="1" dirty="0">
                <a:solidFill>
                  <a:srgbClr val="4A5160"/>
                </a:solidFill>
                <a:latin typeface="Carlito" pitchFamily="34" charset="0"/>
                <a:ea typeface="Carlito" pitchFamily="34" charset="-122"/>
                <a:cs typeface="Carlito" pitchFamily="34" charset="-120"/>
              </a:rPr>
              <a:t>Compute μ</a:t>
            </a:r>
            <a:endParaRPr lang="en-US" sz="800" dirty="0"/>
          </a:p>
        </p:txBody>
      </p:sp>
      <p:sp>
        <p:nvSpPr>
          <p:cNvPr id="22" name="Text 15"/>
          <p:cNvSpPr/>
          <p:nvPr/>
        </p:nvSpPr>
        <p:spPr>
          <a:xfrm>
            <a:off x="685800" y="2706365"/>
            <a:ext cx="1718965" cy="137160"/>
          </a:xfrm>
          <a:prstGeom prst="rect">
            <a:avLst/>
          </a:prstGeom>
          <a:noFill/>
          <a:ln/>
        </p:spPr>
        <p:txBody>
          <a:bodyPr wrap="none" lIns="0" tIns="0" rIns="0" bIns="0" rtlCol="0" anchor="t"/>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3</a:t>
            </a:r>
            <a:endParaRPr lang="en-US" sz="800" dirty="0"/>
          </a:p>
        </p:txBody>
      </p:sp>
      <p:pic>
        <p:nvPicPr>
          <p:cNvPr id="23" name="Image 5" descr="/tmp/h2p-svg-1781853766425-bw232y.png">    </p:cNvPr>
          <p:cNvPicPr>
            <a:picLocks noChangeAspect="1"/>
          </p:cNvPicPr>
          <p:nvPr/>
        </p:nvPicPr>
        <p:blipFill>
          <a:blip r:embed="rId6"/>
          <a:stretch>
            <a:fillRect/>
          </a:stretch>
        </p:blipFill>
        <p:spPr>
          <a:xfrm>
            <a:off x="4481587" y="2706812"/>
            <a:ext cx="2299729" cy="268002"/>
          </a:xfrm>
          <a:prstGeom prst="rect">
            <a:avLst/>
          </a:prstGeom>
        </p:spPr>
      </p:pic>
      <p:sp>
        <p:nvSpPr>
          <p:cNvPr id="24" name="Shape 16"/>
          <p:cNvSpPr/>
          <p:nvPr/>
        </p:nvSpPr>
        <p:spPr>
          <a:xfrm>
            <a:off x="685800" y="3511600"/>
            <a:ext cx="7943850" cy="0"/>
          </a:xfrm>
          <a:prstGeom prst="line">
            <a:avLst/>
          </a:prstGeom>
          <a:noFill/>
          <a:ln w="7144">
            <a:solidFill>
              <a:srgbClr val="E3E6EE"/>
            </a:solidFill>
            <a:prstDash val="dash"/>
          </a:ln>
        </p:spPr>
      </p:sp>
      <p:sp>
        <p:nvSpPr>
          <p:cNvPr id="25" name="Text 17"/>
          <p:cNvSpPr/>
          <p:nvPr/>
        </p:nvSpPr>
        <p:spPr>
          <a:xfrm>
            <a:off x="1663154" y="3147603"/>
            <a:ext cx="741611" cy="125403"/>
          </a:xfrm>
          <a:prstGeom prst="rect">
            <a:avLst/>
          </a:prstGeom>
          <a:noFill/>
          <a:ln/>
        </p:spPr>
        <p:txBody>
          <a:bodyPr wrap="square" lIns="0" tIns="14288" rIns="28575" bIns="0" rtlCol="0" anchor="t"/>
          <a:lstStyle/>
          <a:p>
            <a:pPr algn="r" indent="0" marL="0">
              <a:lnSpc>
                <a:spcPts val="738"/>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Multiply by μ = 1/x²</a:t>
            </a:r>
            <a:endParaRPr lang="en-US" sz="800" dirty="0"/>
          </a:p>
        </p:txBody>
      </p:sp>
      <p:sp>
        <p:nvSpPr>
          <p:cNvPr id="26" name="Text 18"/>
          <p:cNvSpPr/>
          <p:nvPr/>
        </p:nvSpPr>
        <p:spPr>
          <a:xfrm>
            <a:off x="685800" y="3053842"/>
            <a:ext cx="1718965" cy="137160"/>
          </a:xfrm>
          <a:prstGeom prst="rect">
            <a:avLst/>
          </a:prstGeom>
          <a:noFill/>
          <a:ln/>
        </p:spPr>
        <p:txBody>
          <a:bodyPr wrap="none" lIns="0" tIns="0" rIns="0" bIns="0" rtlCol="0" anchor="t"/>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4</a:t>
            </a:r>
            <a:endParaRPr lang="en-US" sz="800" dirty="0"/>
          </a:p>
        </p:txBody>
      </p:sp>
      <p:pic>
        <p:nvPicPr>
          <p:cNvPr id="27" name="Image 6" descr="/tmp/h2p-svg-1781853766425-0yqdgn.png">    </p:cNvPr>
          <p:cNvPicPr>
            <a:picLocks noChangeAspect="1"/>
          </p:cNvPicPr>
          <p:nvPr/>
        </p:nvPicPr>
        <p:blipFill>
          <a:blip r:embed="rId7"/>
          <a:stretch>
            <a:fillRect/>
          </a:stretch>
        </p:blipFill>
        <p:spPr>
          <a:xfrm>
            <a:off x="4744566" y="3054288"/>
            <a:ext cx="1773771" cy="310195"/>
          </a:xfrm>
          <a:prstGeom prst="rect">
            <a:avLst/>
          </a:prstGeom>
        </p:spPr>
      </p:pic>
      <p:sp>
        <p:nvSpPr>
          <p:cNvPr id="28" name="Text 19"/>
          <p:cNvSpPr/>
          <p:nvPr/>
        </p:nvSpPr>
        <p:spPr>
          <a:xfrm>
            <a:off x="2533352" y="3379217"/>
            <a:ext cx="6096298" cy="114523"/>
          </a:xfrm>
          <a:prstGeom prst="rect">
            <a:avLst/>
          </a:prstGeom>
          <a:noFill/>
          <a:ln/>
        </p:spPr>
        <p:txBody>
          <a:bodyPr wrap="square" lIns="0" tIns="0" rIns="0" bIns="0" rtlCol="0" anchor="t"/>
          <a:lstStyle/>
          <a:p>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New M*</a:t>
            </a:r>
            <a:pPr algn="l" indent="0" marL="0">
              <a:lnSpc>
                <a:spcPts val="738"/>
              </a:lnSpc>
              <a:buNone/>
            </a:pPr>
            <a:r>
              <a:rPr lang="en-US" sz="800" i="1" dirty="0">
                <a:solidFill>
                  <a:srgbClr val="14171F"/>
                </a:solidFill>
                <a:latin typeface="Liberation Sans Narrow" pitchFamily="34" charset="0"/>
                <a:ea typeface="Liberation Sans Narrow" pitchFamily="34" charset="-122"/>
                <a:cs typeface="Liberation Sans Narrow" pitchFamily="34" charset="-120"/>
              </a:rPr>
              <a:t> = 2 − y/x², new </a:t>
            </a:r>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N*</a:t>
            </a:r>
            <a:pPr algn="l" indent="0" marL="0">
              <a:lnSpc>
                <a:spcPts val="738"/>
              </a:lnSpc>
              <a:buNone/>
            </a:pPr>
            <a:r>
              <a:rPr lang="en-US" sz="800" i="1" dirty="0">
                <a:solidFill>
                  <a:srgbClr val="14171F"/>
                </a:solidFill>
                <a:latin typeface="Liberation Sans Narrow" pitchFamily="34" charset="0"/>
                <a:ea typeface="Liberation Sans Narrow" pitchFamily="34" charset="-122"/>
                <a:cs typeface="Liberation Sans Narrow" pitchFamily="34" charset="-120"/>
              </a:rPr>
              <a:t> = y + 1/x. Verify: </a:t>
            </a:r>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M*</a:t>
            </a:r>
            <a:pPr algn="l" indent="0" marL="0">
              <a:lnSpc>
                <a:spcPts val="738"/>
              </a:lnSpc>
              <a:buNone/>
            </a:pPr>
            <a:r>
              <a:rPr lang="en-US" sz="800" i="1" baseline="-40000" dirty="0">
                <a:solidFill>
                  <a:srgbClr val="14171F"/>
                </a:solidFill>
                <a:latin typeface="Carlito" pitchFamily="34" charset="0"/>
                <a:ea typeface="Carlito" pitchFamily="34" charset="-122"/>
                <a:cs typeface="Carlito" pitchFamily="34" charset="-120"/>
              </a:rPr>
              <a:t>y</a:t>
            </a:r>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 = −1/x² = N*</a:t>
            </a:r>
            <a:pPr algn="l" indent="0" marL="0">
              <a:lnSpc>
                <a:spcPts val="738"/>
              </a:lnSpc>
              <a:buNone/>
            </a:pPr>
            <a:r>
              <a:rPr lang="en-US" sz="800" i="1" baseline="-40000" dirty="0">
                <a:solidFill>
                  <a:srgbClr val="14171F"/>
                </a:solidFill>
                <a:latin typeface="Carlito" pitchFamily="34" charset="0"/>
                <a:ea typeface="Carlito" pitchFamily="34" charset="-122"/>
                <a:cs typeface="Carlito" pitchFamily="34" charset="-120"/>
              </a:rPr>
              <a:t>x</a:t>
            </a:r>
            <a:pPr algn="l" indent="0" marL="0">
              <a:lnSpc>
                <a:spcPts val="738"/>
              </a:lnSpc>
              <a:buNone/>
            </a:pPr>
            <a:r>
              <a:rPr lang="en-US" sz="800" i="1" dirty="0">
                <a:solidFill>
                  <a:srgbClr val="14171F"/>
                </a:solidFill>
                <a:latin typeface="Carlito" pitchFamily="34" charset="0"/>
                <a:ea typeface="Carlito" pitchFamily="34" charset="-122"/>
                <a:cs typeface="Carlito" pitchFamily="34" charset="-120"/>
              </a:rPr>
              <a:t> </a:t>
            </a:r>
            <a:pPr algn="l" indent="0" marL="0">
              <a:lnSpc>
                <a:spcPts val="738"/>
              </a:lnSpc>
              <a:buNone/>
            </a:pPr>
            <a:r>
              <a:rPr lang="en-US" sz="800" b="1" i="1" dirty="0">
                <a:solidFill>
                  <a:srgbClr val="1F8A3A"/>
                </a:solidFill>
                <a:latin typeface="Carlito" pitchFamily="34" charset="0"/>
                <a:ea typeface="Carlito" pitchFamily="34" charset="-122"/>
                <a:cs typeface="Carlito" pitchFamily="34" charset="-120"/>
              </a:rPr>
              <a:t>✓ Exact.</a:t>
            </a:r>
            <a:endParaRPr lang="en-US" sz="800" dirty="0"/>
          </a:p>
        </p:txBody>
      </p:sp>
      <p:sp>
        <p:nvSpPr>
          <p:cNvPr id="29" name="Shape 20"/>
          <p:cNvSpPr/>
          <p:nvPr/>
        </p:nvSpPr>
        <p:spPr>
          <a:xfrm>
            <a:off x="685800" y="3878275"/>
            <a:ext cx="7943850" cy="0"/>
          </a:xfrm>
          <a:prstGeom prst="line">
            <a:avLst/>
          </a:prstGeom>
          <a:noFill/>
          <a:ln w="7144">
            <a:solidFill>
              <a:srgbClr val="E3E6EE"/>
            </a:solidFill>
            <a:prstDash val="dash"/>
          </a:ln>
        </p:spPr>
      </p:sp>
      <p:sp>
        <p:nvSpPr>
          <p:cNvPr id="30" name="Text 21"/>
          <p:cNvSpPr/>
          <p:nvPr/>
        </p:nvSpPr>
        <p:spPr>
          <a:xfrm>
            <a:off x="1772989" y="3651796"/>
            <a:ext cx="631775" cy="125403"/>
          </a:xfrm>
          <a:prstGeom prst="rect">
            <a:avLst/>
          </a:prstGeom>
          <a:noFill/>
          <a:ln/>
        </p:spPr>
        <p:txBody>
          <a:bodyPr wrap="square" lIns="0" tIns="14288" rIns="28575" bIns="0" rtlCol="0" anchor="t"/>
          <a:lstStyle/>
          <a:p>
            <a:pPr algn="r" indent="0" marL="0">
              <a:lnSpc>
                <a:spcPts val="738"/>
              </a:lnSpc>
              <a:buNone/>
            </a:pPr>
            <a:r>
              <a:rPr lang="en-US" sz="800" i="1" dirty="0">
                <a:solidFill>
                  <a:srgbClr val="4A5160"/>
                </a:solidFill>
                <a:latin typeface="Carlito" pitchFamily="34" charset="0"/>
                <a:ea typeface="Carlito" pitchFamily="34" charset="-122"/>
                <a:cs typeface="Carlito" pitchFamily="34" charset="-120"/>
              </a:rPr>
              <a:t>Integrate M* in x</a:t>
            </a:r>
            <a:endParaRPr lang="en-US" sz="800" dirty="0"/>
          </a:p>
        </p:txBody>
      </p:sp>
      <p:sp>
        <p:nvSpPr>
          <p:cNvPr id="31" name="Text 22"/>
          <p:cNvSpPr/>
          <p:nvPr/>
        </p:nvSpPr>
        <p:spPr>
          <a:xfrm>
            <a:off x="685800" y="3558034"/>
            <a:ext cx="1718965" cy="137160"/>
          </a:xfrm>
          <a:prstGeom prst="rect">
            <a:avLst/>
          </a:prstGeom>
          <a:noFill/>
          <a:ln/>
        </p:spPr>
        <p:txBody>
          <a:bodyPr wrap="none" lIns="0" tIns="0" rIns="0" bIns="0" rtlCol="0" anchor="t"/>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5</a:t>
            </a:r>
            <a:endParaRPr lang="en-US" sz="800" dirty="0"/>
          </a:p>
        </p:txBody>
      </p:sp>
      <p:pic>
        <p:nvPicPr>
          <p:cNvPr id="32" name="Image 7" descr="/tmp/h2p-svg-1781853766425-6sz9kj.png">    </p:cNvPr>
          <p:cNvPicPr>
            <a:picLocks noChangeAspect="1"/>
          </p:cNvPicPr>
          <p:nvPr/>
        </p:nvPicPr>
        <p:blipFill>
          <a:blip r:embed="rId8"/>
          <a:stretch>
            <a:fillRect/>
          </a:stretch>
        </p:blipFill>
        <p:spPr>
          <a:xfrm>
            <a:off x="4580372" y="3558480"/>
            <a:ext cx="2102048" cy="287201"/>
          </a:xfrm>
          <a:prstGeom prst="rect">
            <a:avLst/>
          </a:prstGeom>
        </p:spPr>
      </p:pic>
      <p:sp>
        <p:nvSpPr>
          <p:cNvPr id="33" name="Text 23"/>
          <p:cNvSpPr/>
          <p:nvPr/>
        </p:nvSpPr>
        <p:spPr>
          <a:xfrm>
            <a:off x="1855143" y="4018471"/>
            <a:ext cx="549622" cy="125403"/>
          </a:xfrm>
          <a:prstGeom prst="rect">
            <a:avLst/>
          </a:prstGeom>
          <a:noFill/>
          <a:ln/>
        </p:spPr>
        <p:txBody>
          <a:bodyPr wrap="square" lIns="0" tIns="14288" rIns="28575" bIns="0" rtlCol="0" anchor="t"/>
          <a:lstStyle/>
          <a:p>
            <a:pPr algn="r" indent="0" marL="0">
              <a:lnSpc>
                <a:spcPts val="738"/>
              </a:lnSpc>
              <a:buNone/>
            </a:pPr>
            <a:r>
              <a:rPr lang="en-US" sz="800" i="1" dirty="0">
                <a:solidFill>
                  <a:srgbClr val="4A5160"/>
                </a:solidFill>
                <a:latin typeface="Carlito" pitchFamily="34" charset="0"/>
                <a:ea typeface="Carlito" pitchFamily="34" charset="-122"/>
                <a:cs typeface="Carlito" pitchFamily="34" charset="-120"/>
              </a:rPr>
              <a:t>Match F to N*</a:t>
            </a:r>
            <a:endParaRPr lang="en-US" sz="800" dirty="0"/>
          </a:p>
        </p:txBody>
      </p:sp>
      <p:sp>
        <p:nvSpPr>
          <p:cNvPr id="34" name="Text 24"/>
          <p:cNvSpPr/>
          <p:nvPr/>
        </p:nvSpPr>
        <p:spPr>
          <a:xfrm>
            <a:off x="153727" y="3924709"/>
            <a:ext cx="2251038" cy="102718"/>
          </a:xfrm>
          <a:prstGeom prst="rect">
            <a:avLst/>
          </a:prstGeom>
          <a:noFill/>
          <a:ln/>
        </p:spPr>
        <p:txBody>
          <a:bodyPr wrap="none" lIns="0" tIns="0" rIns="0" bIns="0" rtlCol="0" anchor="t">
            <a:normAutofit/>
          </a:bodyPr>
          <a:lstStyle/>
          <a:p>
            <a:pPr algn="r" indent="0" marL="0">
              <a:lnSpc>
                <a:spcPts val="738"/>
              </a:lnSpc>
              <a:buNone/>
            </a:pPr>
            <a:r>
              <a:rPr lang="en-US" sz="800" b="1" spc="24" kern="0" dirty="0">
                <a:solidFill>
                  <a:srgbClr val="1A2A4F"/>
                </a:solidFill>
                <a:latin typeface="Liberation Sans Narrow" pitchFamily="34" charset="0"/>
                <a:ea typeface="Liberation Sans Narrow" pitchFamily="34" charset="-122"/>
                <a:cs typeface="Liberation Sans Narrow" pitchFamily="34" charset="-120"/>
              </a:rPr>
              <a:t>STEP 6</a:t>
            </a:r>
            <a:endParaRPr lang="en-US" sz="800" dirty="0"/>
          </a:p>
        </p:txBody>
      </p:sp>
      <p:pic>
        <p:nvPicPr>
          <p:cNvPr id="35" name="Image 8" descr="/tmp/h2p-svg-1781853766425-59yzav.png">    </p:cNvPr>
          <p:cNvPicPr>
            <a:picLocks noChangeAspect="1"/>
          </p:cNvPicPr>
          <p:nvPr/>
        </p:nvPicPr>
        <p:blipFill>
          <a:blip r:embed="rId9"/>
          <a:stretch>
            <a:fillRect/>
          </a:stretch>
        </p:blipFill>
        <p:spPr>
          <a:xfrm>
            <a:off x="3727698" y="3925156"/>
            <a:ext cx="3807396" cy="285304"/>
          </a:xfrm>
          <a:prstGeom prst="rect">
            <a:avLst/>
          </a:prstGeom>
        </p:spPr>
      </p:pic>
      <p:sp>
        <p:nvSpPr>
          <p:cNvPr id="36" name="Text 25"/>
          <p:cNvSpPr/>
          <p:nvPr/>
        </p:nvSpPr>
        <p:spPr>
          <a:xfrm>
            <a:off x="3501889" y="4502683"/>
            <a:ext cx="779897" cy="164592"/>
          </a:xfrm>
          <a:prstGeom prst="rect">
            <a:avLst/>
          </a:prstGeom>
          <a:noFill/>
          <a:ln/>
        </p:spPr>
        <p:txBody>
          <a:bodyPr wrap="none" lIns="13502" tIns="0" rIns="0" bIns="0" rtlCol="0" anchor="t"/>
          <a:lstStyle/>
          <a:p>
            <a:pPr algn="ctr" indent="0" marL="0">
              <a:lnSpc>
                <a:spcPts val="886"/>
              </a:lnSpc>
              <a:buNone/>
            </a:pPr>
            <a:r>
              <a:rPr lang="en-US" sz="800" b="1" spc="83" kern="0" dirty="0">
                <a:solidFill>
                  <a:srgbClr val="E07B00"/>
                </a:solidFill>
                <a:latin typeface="Carlito" pitchFamily="34" charset="0"/>
                <a:ea typeface="Carlito" pitchFamily="34" charset="-122"/>
                <a:cs typeface="Carlito" pitchFamily="34" charset="-120"/>
              </a:rPr>
              <a:t>FINAL ANSWER</a:t>
            </a:r>
            <a:endParaRPr lang="en-US" sz="800" dirty="0"/>
          </a:p>
        </p:txBody>
      </p:sp>
      <p:sp>
        <p:nvSpPr>
          <p:cNvPr id="37" name="Text 26"/>
          <p:cNvSpPr/>
          <p:nvPr/>
        </p:nvSpPr>
        <p:spPr>
          <a:xfrm>
            <a:off x="4326322" y="4285915"/>
            <a:ext cx="1483556" cy="472492"/>
          </a:xfrm>
          <a:prstGeom prst="roundRect">
            <a:avLst>
              <a:gd name="adj" fmla="val 8064"/>
            </a:avLst>
          </a:prstGeom>
          <a:solidFill>
            <a:srgbClr val="E07B00">
              <a:alpha val="5000"/>
            </a:srgbClr>
          </a:solidFill>
          <a:ln w="7144">
            <a:solidFill>
              <a:srgbClr val="E07B00"/>
            </a:solidFill>
            <a:prstDash val="solid"/>
          </a:ln>
        </p:spPr>
        <p:txBody>
          <a:bodyPr wrap="square" rtlCol="0" anchor="ctr"/>
          <a:lstStyle/>
          <a:p>
            <a:pPr indent="0" marL="0">
              <a:buNone/>
            </a:pPr>
            <a:endParaRPr lang="en-US" dirty="0"/>
          </a:p>
        </p:txBody>
      </p:sp>
      <p:pic>
        <p:nvPicPr>
          <p:cNvPr id="38" name="Image 9" descr="/tmp/h2p-svg-1781853766425-4auvro.png">    </p:cNvPr>
          <p:cNvPicPr>
            <a:picLocks noChangeAspect="1"/>
          </p:cNvPicPr>
          <p:nvPr/>
        </p:nvPicPr>
        <p:blipFill>
          <a:blip r:embed="rId10"/>
          <a:stretch>
            <a:fillRect/>
          </a:stretch>
        </p:blipFill>
        <p:spPr>
          <a:xfrm>
            <a:off x="4487056" y="4361706"/>
            <a:ext cx="1162087" cy="320911"/>
          </a:xfrm>
          <a:prstGeom prst="rect">
            <a:avLst/>
          </a:prstGeom>
        </p:spPr>
      </p:pic>
      <p:sp>
        <p:nvSpPr>
          <p:cNvPr id="39" name="Text 27"/>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28 / 38</a:t>
            </a:r>
            <a:endParaRPr lang="en-US" sz="800" dirty="0"/>
          </a:p>
        </p:txBody>
      </p:sp>
      <p:pic>
        <p:nvPicPr>
          <p:cNvPr id="40" name="Image 10" descr="preencoded.png">    </p:cNvPr>
          <p:cNvPicPr>
            <a:picLocks noChangeAspect="1"/>
          </p:cNvPicPr>
          <p:nvPr/>
        </p:nvPicPr>
        <p:blipFill>
          <a:blip r:embed="rId11"/>
          <a:stretch>
            <a:fillRect/>
          </a:stretch>
        </p:blipFill>
        <p:spPr>
          <a:xfrm>
            <a:off x="0" y="0"/>
            <a:ext cx="17145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A2A4F"/>
          </a:solidFill>
          <a:ln/>
        </p:spPr>
        <p:txBody>
          <a:bodyPr wrap="square" rtlCol="0" anchor="ctr"/>
          <a:lstStyle/>
          <a:p>
            <a:pPr indent="0" marL="0">
              <a:buNone/>
            </a:pPr>
            <a:endParaRPr lang="en-US" dirty="0"/>
          </a:p>
        </p:txBody>
      </p:sp>
      <p:sp>
        <p:nvSpPr>
          <p:cNvPr id="3" name="Text 1"/>
          <p:cNvSpPr/>
          <p:nvPr/>
        </p:nvSpPr>
        <p:spPr>
          <a:xfrm>
            <a:off x="6020395" y="428625"/>
            <a:ext cx="3123605" cy="1836230"/>
          </a:xfrm>
          <a:prstGeom prst="rect">
            <a:avLst/>
          </a:prstGeom>
          <a:noFill/>
          <a:ln/>
        </p:spPr>
        <p:txBody>
          <a:bodyPr wrap="none" lIns="0" tIns="0" rIns="0" bIns="0" rtlCol="0" anchor="t"/>
          <a:lstStyle/>
          <a:p>
            <a:pPr algn="l" indent="0" marL="0">
              <a:lnSpc>
                <a:spcPts val="13388"/>
              </a:lnSpc>
              <a:buNone/>
            </a:pPr>
            <a:r>
              <a:rPr lang="en-US" sz="15750" b="1" spc="-630" kern="0" dirty="0">
                <a:solidFill>
                  <a:srgbClr val="FFFFFF">
                    <a:alpha val="12000"/>
                  </a:srgbClr>
                </a:solidFill>
                <a:latin typeface="Liberation Sans Narrow" pitchFamily="34" charset="0"/>
                <a:ea typeface="Liberation Sans Narrow" pitchFamily="34" charset="-122"/>
                <a:cs typeface="Liberation Sans Narrow" pitchFamily="34" charset="-120"/>
              </a:rPr>
              <a:t>05</a:t>
            </a:r>
            <a:endParaRPr lang="en-US" sz="15750" dirty="0"/>
          </a:p>
        </p:txBody>
      </p:sp>
      <p:sp>
        <p:nvSpPr>
          <p:cNvPr id="4" name="Text 2"/>
          <p:cNvSpPr/>
          <p:nvPr/>
        </p:nvSpPr>
        <p:spPr>
          <a:xfrm>
            <a:off x="571500" y="400050"/>
            <a:ext cx="1712516" cy="125403"/>
          </a:xfrm>
          <a:prstGeom prst="rect">
            <a:avLst/>
          </a:prstGeom>
          <a:noFill/>
          <a:ln/>
        </p:spPr>
        <p:txBody>
          <a:bodyPr wrap="none" lIns="0" tIns="0" rIns="0" bIns="0" rtlCol="0" anchor="t"/>
          <a:lstStyle/>
          <a:p>
            <a:pPr algn="l" indent="0" marL="0">
              <a:buNone/>
            </a:pPr>
            <a:r>
              <a:rPr lang="en-US" sz="800" spc="173" kern="0" dirty="0">
                <a:solidFill>
                  <a:srgbClr val="FFFFFF">
                    <a:alpha val="90000"/>
                  </a:srgbClr>
                </a:solidFill>
                <a:latin typeface="Liberation Sans Narrow" pitchFamily="34" charset="0"/>
                <a:ea typeface="Liberation Sans Narrow" pitchFamily="34" charset="-122"/>
                <a:cs typeface="Liberation Sans Narrow" pitchFamily="34" charset="-120"/>
              </a:rPr>
              <a:t>CHAPTER 05 / 05</a:t>
            </a:r>
            <a:endParaRPr lang="en-US" sz="800" dirty="0"/>
          </a:p>
        </p:txBody>
      </p:sp>
      <p:sp>
        <p:nvSpPr>
          <p:cNvPr id="5" name="Text 3"/>
          <p:cNvSpPr/>
          <p:nvPr/>
        </p:nvSpPr>
        <p:spPr>
          <a:xfrm>
            <a:off x="571500" y="1857375"/>
            <a:ext cx="6286500" cy="1036737"/>
          </a:xfrm>
          <a:prstGeom prst="rect">
            <a:avLst/>
          </a:prstGeom>
          <a:noFill/>
          <a:ln/>
        </p:spPr>
        <p:txBody>
          <a:bodyPr wrap="square" lIns="0" tIns="0" rIns="0" bIns="0" rtlCol="0" anchor="t"/>
          <a:lstStyle/>
          <a:p>
            <a:pPr algn="l" indent="0" marL="0">
              <a:lnSpc>
                <a:spcPts val="3780"/>
              </a:lnSpc>
              <a:buNone/>
            </a:pPr>
            <a:r>
              <a:rPr lang="en-US" sz="3600" b="1" spc="-65" kern="0" dirty="0">
                <a:solidFill>
                  <a:srgbClr val="FFFFFF"/>
                </a:solidFill>
                <a:latin typeface="Carlito" pitchFamily="34" charset="0"/>
                <a:ea typeface="Carlito" pitchFamily="34" charset="-122"/>
                <a:cs typeface="Carlito" pitchFamily="34" charset="-120"/>
              </a:rPr>
              <a:t>Numerical Methods — Euler, Heun, &amp; RK4</a:t>
            </a:r>
            <a:endParaRPr lang="en-US" sz="3600" dirty="0"/>
          </a:p>
        </p:txBody>
      </p:sp>
      <p:sp>
        <p:nvSpPr>
          <p:cNvPr id="6" name="Text 4"/>
          <p:cNvSpPr/>
          <p:nvPr/>
        </p:nvSpPr>
        <p:spPr>
          <a:xfrm>
            <a:off x="571500" y="2988766"/>
            <a:ext cx="5857875" cy="805400"/>
          </a:xfrm>
          <a:prstGeom prst="rect">
            <a:avLst/>
          </a:prstGeom>
          <a:noFill/>
          <a:ln/>
        </p:spPr>
        <p:txBody>
          <a:bodyPr wrap="square" lIns="0" tIns="0" rIns="0" bIns="0" rtlCol="0" anchor="t"/>
          <a:lstStyle/>
          <a:p>
            <a:pPr algn="l" indent="0" marL="0">
              <a:lnSpc>
                <a:spcPts val="1958"/>
              </a:lnSpc>
              <a:buNone/>
            </a:pPr>
            <a:r>
              <a:rPr lang="en-US" sz="1350" i="1" dirty="0">
                <a:solidFill>
                  <a:srgbClr val="FFFFFF">
                    <a:alpha val="80000"/>
                  </a:srgbClr>
                </a:solidFill>
                <a:latin typeface="Carlito" pitchFamily="34" charset="0"/>
                <a:ea typeface="Carlito" pitchFamily="34" charset="-122"/>
                <a:cs typeface="Carlito" pitchFamily="34" charset="-120"/>
              </a:rPr>
              <a:t>Not every ODE is solvable analytically — or feasible to, or efficient to. When algebra fails, we step along the slope field, sampling the dynamics one point at a time.</a:t>
            </a:r>
            <a:endParaRPr lang="en-US" sz="1350" dirty="0"/>
          </a:p>
        </p:txBody>
      </p:sp>
      <p:sp>
        <p:nvSpPr>
          <p:cNvPr id="7" name="Text 5"/>
          <p:cNvSpPr/>
          <p:nvPr/>
        </p:nvSpPr>
        <p:spPr>
          <a:xfrm>
            <a:off x="571500" y="3963107"/>
            <a:ext cx="571500" cy="21431"/>
          </a:xfrm>
          <a:prstGeom prst="rect">
            <a:avLst/>
          </a:prstGeom>
          <a:solidFill>
            <a:srgbClr val="E07B00"/>
          </a:solidFill>
          <a:ln/>
        </p:spPr>
        <p:txBody>
          <a:bodyPr wrap="square" rtlCol="0" anchor="ctr"/>
          <a:lstStyle/>
          <a:p>
            <a:pPr indent="0" marL="0">
              <a:buNone/>
            </a:pPr>
            <a:endParaRPr lang="en-US" dirty="0"/>
          </a:p>
        </p:txBody>
      </p:sp>
      <p:sp>
        <p:nvSpPr>
          <p:cNvPr id="8" name="Text 6"/>
          <p:cNvSpPr/>
          <p:nvPr/>
        </p:nvSpPr>
        <p:spPr>
          <a:xfrm>
            <a:off x="7753871" y="4772025"/>
            <a:ext cx="1023900" cy="125403"/>
          </a:xfrm>
          <a:prstGeom prst="rect">
            <a:avLst/>
          </a:prstGeom>
          <a:noFill/>
          <a:ln/>
        </p:spPr>
        <p:txBody>
          <a:bodyPr wrap="none" lIns="0" tIns="0" rIns="0" bIns="0" rtlCol="0" anchor="t"/>
          <a:lstStyle/>
          <a:p>
            <a:pPr algn="l" indent="0" marL="0">
              <a:buNone/>
            </a:pPr>
            <a:r>
              <a:rPr lang="en-US" sz="800" spc="63" kern="0" dirty="0">
                <a:solidFill>
                  <a:srgbClr val="FFFFFF">
                    <a:alpha val="60000"/>
                  </a:srgbClr>
                </a:solidFill>
                <a:latin typeface="Liberation Sans Narrow" pitchFamily="34" charset="0"/>
                <a:ea typeface="Liberation Sans Narrow" pitchFamily="34" charset="-122"/>
                <a:cs typeface="Liberation Sans Narrow" pitchFamily="34" charset="-120"/>
              </a:rPr>
              <a:t>Slides 30–35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591597"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MOTIVATION</a:t>
            </a:r>
            <a:endParaRPr lang="en-US" sz="844" dirty="0"/>
          </a:p>
        </p:txBody>
      </p:sp>
      <p:sp>
        <p:nvSpPr>
          <p:cNvPr id="3" name="Text 1"/>
          <p:cNvSpPr/>
          <p:nvPr/>
        </p:nvSpPr>
        <p:spPr>
          <a:xfrm>
            <a:off x="685800" y="716161"/>
            <a:ext cx="8341042" cy="252514"/>
          </a:xfrm>
          <a:prstGeom prst="rect">
            <a:avLst/>
          </a:prstGeom>
          <a:noFill/>
          <a:ln/>
        </p:spPr>
        <p:txBody>
          <a:bodyPr wrap="none" lIns="0" tIns="0" rIns="0" bIns="0" rtlCol="0" anchor="t">
            <a:normAutofit/>
          </a:bodyPr>
          <a:lstStyle/>
          <a:p>
            <a:pPr algn="l" indent="0" marL="0">
              <a:lnSpc>
                <a:spcPts val="1980"/>
              </a:lnSpc>
              <a:buNone/>
            </a:pPr>
            <a:r>
              <a:rPr lang="en-US" sz="1800" b="1" spc="-22" kern="0" dirty="0">
                <a:solidFill>
                  <a:srgbClr val="1A2A4F"/>
                </a:solidFill>
                <a:latin typeface="Carlito" pitchFamily="34" charset="0"/>
                <a:ea typeface="Carlito" pitchFamily="34" charset="-122"/>
                <a:cs typeface="Carlito" pitchFamily="34" charset="-120"/>
              </a:rPr>
              <a:t>Why Numerical Methods?</a:t>
            </a:r>
            <a:endParaRPr lang="en-US" sz="1800" dirty="0"/>
          </a:p>
        </p:txBody>
      </p:sp>
      <p:sp>
        <p:nvSpPr>
          <p:cNvPr id="4" name="Text 2"/>
          <p:cNvSpPr/>
          <p:nvPr/>
        </p:nvSpPr>
        <p:spPr>
          <a:xfrm>
            <a:off x="685800" y="996107"/>
            <a:ext cx="8458200" cy="208312"/>
          </a:xfrm>
          <a:prstGeom prst="rect">
            <a:avLst/>
          </a:prstGeom>
          <a:noFill/>
          <a:ln/>
        </p:spPr>
        <p:txBody>
          <a:bodyPr wrap="square" lIns="0" tIns="0" rIns="0" bIns="0" rtlCol="0" anchor="t"/>
          <a:lstStyle/>
          <a:p>
            <a:pPr algn="l" indent="0" marL="0">
              <a:lnSpc>
                <a:spcPts val="1519"/>
              </a:lnSpc>
              <a:buNone/>
            </a:pPr>
            <a:r>
              <a:rPr lang="en-US" sz="1013" i="1" spc="-5" kern="0" dirty="0">
                <a:solidFill>
                  <a:srgbClr val="1F61C9"/>
                </a:solidFill>
                <a:latin typeface="Carlito" pitchFamily="34" charset="0"/>
                <a:ea typeface="Carlito" pitchFamily="34" charset="-122"/>
                <a:cs typeface="Carlito" pitchFamily="34" charset="-120"/>
              </a:rPr>
              <a:t>When Algebra Fails, Feels, or Drags</a:t>
            </a:r>
            <a:endParaRPr lang="en-US" sz="1013" dirty="0"/>
          </a:p>
        </p:txBody>
      </p:sp>
      <p:sp>
        <p:nvSpPr>
          <p:cNvPr id="5" name="Text 3"/>
          <p:cNvSpPr/>
          <p:nvPr/>
        </p:nvSpPr>
        <p:spPr>
          <a:xfrm>
            <a:off x="685800" y="1274713"/>
            <a:ext cx="7786688" cy="370573"/>
          </a:xfrm>
          <a:prstGeom prst="rect">
            <a:avLst/>
          </a:prstGeom>
          <a:noFill/>
          <a:ln/>
        </p:spPr>
        <p:txBody>
          <a:bodyPr wrap="square" lIns="0" tIns="0" rIns="0" bIns="0" rtlCol="0" anchor="t"/>
          <a:lstStyle/>
          <a:p>
            <a:pPr algn="l" indent="0" marL="0">
              <a:lnSpc>
                <a:spcPts val="1351"/>
              </a:lnSpc>
              <a:buNone/>
            </a:pPr>
            <a:r>
              <a:rPr lang="en-US" sz="872" dirty="0">
                <a:solidFill>
                  <a:srgbClr val="14171F"/>
                </a:solidFill>
                <a:latin typeface="Carlito" pitchFamily="34" charset="0"/>
                <a:ea typeface="Carlito" pitchFamily="34" charset="-122"/>
                <a:cs typeface="Carlito" pitchFamily="34" charset="-120"/>
              </a:rPr>
              <a:t>Analytical methods are powerful, but they assume the ODE fits a recognizable shape. Real-world models often do not. Numerical methods trade exactness for universality — they work on any first-order ODE, regardless of form.</a:t>
            </a:r>
            <a:endParaRPr lang="en-US" sz="872" dirty="0"/>
          </a:p>
        </p:txBody>
      </p:sp>
      <p:sp>
        <p:nvSpPr>
          <p:cNvPr id="6" name="Text 4"/>
          <p:cNvSpPr/>
          <p:nvPr/>
        </p:nvSpPr>
        <p:spPr>
          <a:xfrm>
            <a:off x="685800" y="1746424"/>
            <a:ext cx="2562151" cy="2056507"/>
          </a:xfrm>
          <a:prstGeom prst="roundRect">
            <a:avLst>
              <a:gd name="adj" fmla="val 3705"/>
            </a:avLst>
          </a:prstGeom>
          <a:solidFill>
            <a:srgbClr val="F6F7FB"/>
          </a:solidFill>
          <a:ln/>
        </p:spPr>
        <p:txBody>
          <a:bodyPr wrap="square" rtlCol="0" anchor="ctr"/>
          <a:lstStyle/>
          <a:p>
            <a:pPr indent="0" marL="0">
              <a:buNone/>
            </a:pPr>
            <a:endParaRPr lang="en-US" dirty="0"/>
          </a:p>
        </p:txBody>
      </p:sp>
      <p:sp>
        <p:nvSpPr>
          <p:cNvPr id="7" name="Shape 5"/>
          <p:cNvSpPr/>
          <p:nvPr/>
        </p:nvSpPr>
        <p:spPr>
          <a:xfrm>
            <a:off x="685800" y="1757139"/>
            <a:ext cx="2562151" cy="0"/>
          </a:xfrm>
          <a:prstGeom prst="line">
            <a:avLst/>
          </a:prstGeom>
          <a:noFill/>
          <a:ln w="21431">
            <a:solidFill>
              <a:srgbClr val="1F61C9"/>
            </a:solidFill>
            <a:prstDash val="solid"/>
          </a:ln>
        </p:spPr>
      </p:sp>
      <p:sp>
        <p:nvSpPr>
          <p:cNvPr id="8" name="Shape 6"/>
          <p:cNvSpPr/>
          <p:nvPr/>
        </p:nvSpPr>
        <p:spPr>
          <a:xfrm>
            <a:off x="3244379" y="1746424"/>
            <a:ext cx="0" cy="2056507"/>
          </a:xfrm>
          <a:prstGeom prst="line">
            <a:avLst/>
          </a:prstGeom>
          <a:noFill/>
          <a:ln w="7144">
            <a:solidFill>
              <a:srgbClr val="E3E6EE"/>
            </a:solidFill>
            <a:prstDash val="solid"/>
          </a:ln>
        </p:spPr>
      </p:sp>
      <p:sp>
        <p:nvSpPr>
          <p:cNvPr id="9" name="Shape 7"/>
          <p:cNvSpPr/>
          <p:nvPr/>
        </p:nvSpPr>
        <p:spPr>
          <a:xfrm>
            <a:off x="685800" y="3799359"/>
            <a:ext cx="2562151" cy="0"/>
          </a:xfrm>
          <a:prstGeom prst="line">
            <a:avLst/>
          </a:prstGeom>
          <a:noFill/>
          <a:ln w="7144">
            <a:solidFill>
              <a:srgbClr val="E3E6EE"/>
            </a:solidFill>
            <a:prstDash val="solid"/>
          </a:ln>
        </p:spPr>
      </p:sp>
      <p:sp>
        <p:nvSpPr>
          <p:cNvPr id="10" name="Shape 8"/>
          <p:cNvSpPr/>
          <p:nvPr/>
        </p:nvSpPr>
        <p:spPr>
          <a:xfrm>
            <a:off x="689372" y="1746424"/>
            <a:ext cx="0" cy="2056507"/>
          </a:xfrm>
          <a:prstGeom prst="line">
            <a:avLst/>
          </a:prstGeom>
          <a:noFill/>
          <a:ln w="7144">
            <a:solidFill>
              <a:srgbClr val="E3E6EE"/>
            </a:solidFill>
            <a:prstDash val="solid"/>
          </a:ln>
        </p:spPr>
      </p:sp>
      <p:sp>
        <p:nvSpPr>
          <p:cNvPr id="11" name="Text 9"/>
          <p:cNvSpPr/>
          <p:nvPr/>
        </p:nvSpPr>
        <p:spPr>
          <a:xfrm>
            <a:off x="835819" y="1882155"/>
            <a:ext cx="225028" cy="231458"/>
          </a:xfrm>
          <a:prstGeom prst="rect">
            <a:avLst/>
          </a:prstGeom>
          <a:noFill/>
          <a:ln/>
        </p:spPr>
        <p:txBody>
          <a:bodyPr wrap="none" lIns="0" tIns="0" rIns="0" bIns="0" rtlCol="0" anchor="t"/>
          <a:lstStyle/>
          <a:p>
            <a:pPr algn="l" indent="0" marL="0">
              <a:lnSpc>
                <a:spcPts val="1688"/>
              </a:lnSpc>
              <a:buNone/>
            </a:pPr>
            <a:r>
              <a:rPr lang="en-US" sz="1688" b="1" spc="-67" kern="0" dirty="0">
                <a:solidFill>
                  <a:srgbClr val="1F61C9"/>
                </a:solidFill>
                <a:latin typeface="Liberation Sans Narrow" pitchFamily="34" charset="0"/>
                <a:ea typeface="Liberation Sans Narrow" pitchFamily="34" charset="-122"/>
                <a:cs typeface="Liberation Sans Narrow" pitchFamily="34" charset="-120"/>
              </a:rPr>
              <a:t>1</a:t>
            </a:r>
            <a:endParaRPr lang="en-US" sz="1688" dirty="0"/>
          </a:p>
        </p:txBody>
      </p:sp>
      <p:sp>
        <p:nvSpPr>
          <p:cNvPr id="12" name="Text 10"/>
          <p:cNvSpPr/>
          <p:nvPr/>
        </p:nvSpPr>
        <p:spPr>
          <a:xfrm>
            <a:off x="1062186" y="1939305"/>
            <a:ext cx="2035746" cy="185166"/>
          </a:xfrm>
          <a:prstGeom prst="rect">
            <a:avLst/>
          </a:prstGeom>
          <a:noFill/>
          <a:ln/>
        </p:spPr>
        <p:txBody>
          <a:bodyPr wrap="none" lIns="0" tIns="0" rIns="0" bIns="0" rtlCol="0" anchor="t"/>
          <a:lstStyle/>
          <a:p>
            <a:pPr algn="l" indent="0" marL="0">
              <a:lnSpc>
                <a:spcPts val="1350"/>
              </a:lnSpc>
              <a:buNone/>
            </a:pPr>
            <a:r>
              <a:rPr lang="en-US" sz="900" b="1" spc="108" kern="0" dirty="0">
                <a:solidFill>
                  <a:srgbClr val="1A2A4F"/>
                </a:solidFill>
                <a:latin typeface="Carlito" pitchFamily="34" charset="0"/>
                <a:ea typeface="Carlito" pitchFamily="34" charset="-122"/>
                <a:cs typeface="Carlito" pitchFamily="34" charset="-120"/>
              </a:rPr>
              <a:t>UNSOLVABLE</a:t>
            </a:r>
            <a:endParaRPr lang="en-US" sz="900" dirty="0"/>
          </a:p>
        </p:txBody>
      </p:sp>
      <p:sp>
        <p:nvSpPr>
          <p:cNvPr id="13" name="Text 11"/>
          <p:cNvSpPr/>
          <p:nvPr/>
        </p:nvSpPr>
        <p:spPr>
          <a:xfrm>
            <a:off x="835819" y="2182192"/>
            <a:ext cx="2262113" cy="449413"/>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Most nonlinear ODEs have no closed-form solution. For example, the ODE below cannot be solved by any of our analytical techniques.</a:t>
            </a:r>
            <a:endParaRPr lang="en-US" sz="800" dirty="0"/>
          </a:p>
        </p:txBody>
      </p:sp>
      <p:pic>
        <p:nvPicPr>
          <p:cNvPr id="14" name="Image 0" descr="/tmp/h2p-svg-1781853766279-ts3qz1.png">    </p:cNvPr>
          <p:cNvPicPr>
            <a:picLocks noChangeAspect="1"/>
          </p:cNvPicPr>
          <p:nvPr/>
        </p:nvPicPr>
        <p:blipFill>
          <a:blip r:embed="rId1"/>
          <a:stretch>
            <a:fillRect/>
          </a:stretch>
        </p:blipFill>
        <p:spPr>
          <a:xfrm>
            <a:off x="1632682" y="2661605"/>
            <a:ext cx="668275" cy="136847"/>
          </a:xfrm>
          <a:prstGeom prst="rect">
            <a:avLst/>
          </a:prstGeom>
        </p:spPr>
      </p:pic>
      <p:sp>
        <p:nvSpPr>
          <p:cNvPr id="15" name="Text 12"/>
          <p:cNvSpPr/>
          <p:nvPr/>
        </p:nvSpPr>
        <p:spPr>
          <a:xfrm>
            <a:off x="835819" y="2849352"/>
            <a:ext cx="2262113" cy="493776"/>
          </a:xfrm>
          <a:prstGeom prst="rect">
            <a:avLst/>
          </a:prstGeom>
          <a:noFill/>
          <a:ln/>
        </p:spPr>
        <p:txBody>
          <a:bodyPr wrap="square" lIns="0" tIns="0" rIns="0" bIns="0" rtlCol="0" anchor="t"/>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Yet its solution exists and is uniquely determined by any initial condition — we just have to approximate it.</a:t>
            </a:r>
            <a:endParaRPr lang="en-US" sz="800" dirty="0"/>
          </a:p>
        </p:txBody>
      </p:sp>
      <p:sp>
        <p:nvSpPr>
          <p:cNvPr id="16" name="Shape 13"/>
          <p:cNvSpPr/>
          <p:nvPr/>
        </p:nvSpPr>
        <p:spPr>
          <a:xfrm>
            <a:off x="835819" y="3500772"/>
            <a:ext cx="2262113" cy="0"/>
          </a:xfrm>
          <a:prstGeom prst="line">
            <a:avLst/>
          </a:prstGeom>
          <a:noFill/>
          <a:ln w="7144">
            <a:solidFill>
              <a:srgbClr val="E3E6EE"/>
            </a:solidFill>
            <a:prstDash val="dash"/>
          </a:ln>
        </p:spPr>
      </p:sp>
      <p:sp>
        <p:nvSpPr>
          <p:cNvPr id="17" name="Text 14"/>
          <p:cNvSpPr/>
          <p:nvPr/>
        </p:nvSpPr>
        <p:spPr>
          <a:xfrm>
            <a:off x="835819" y="3497200"/>
            <a:ext cx="2371841" cy="184286"/>
          </a:xfrm>
          <a:prstGeom prst="rect">
            <a:avLst/>
          </a:prstGeom>
          <a:noFill/>
          <a:ln/>
        </p:spPr>
        <p:txBody>
          <a:bodyPr wrap="square" lIns="0" tIns="57150" rIns="0" bIns="0" rtlCol="0" anchor="t"/>
          <a:lstStyle/>
          <a:p>
            <a:pPr algn="l" indent="0" marL="0">
              <a:lnSpc>
                <a:spcPts val="945"/>
              </a:lnSpc>
              <a:buNone/>
            </a:pPr>
            <a:r>
              <a:rPr lang="en-US" sz="800" i="1" dirty="0">
                <a:solidFill>
                  <a:srgbClr val="4A5160"/>
                </a:solidFill>
                <a:latin typeface="Carlito" pitchFamily="34" charset="0"/>
                <a:ea typeface="Carlito" pitchFamily="34" charset="-122"/>
                <a:cs typeface="Carlito" pitchFamily="34" charset="-120"/>
              </a:rPr>
              <a:t>No closed-form antiderivative exists.</a:t>
            </a:r>
            <a:endParaRPr lang="en-US" sz="800" dirty="0"/>
          </a:p>
        </p:txBody>
      </p:sp>
      <p:sp>
        <p:nvSpPr>
          <p:cNvPr id="18" name="Text 15"/>
          <p:cNvSpPr/>
          <p:nvPr/>
        </p:nvSpPr>
        <p:spPr>
          <a:xfrm>
            <a:off x="3376538" y="1746424"/>
            <a:ext cx="2562262" cy="2056507"/>
          </a:xfrm>
          <a:prstGeom prst="roundRect">
            <a:avLst>
              <a:gd name="adj" fmla="val 3705"/>
            </a:avLst>
          </a:prstGeom>
          <a:solidFill>
            <a:srgbClr val="F6F7FB"/>
          </a:solidFill>
          <a:ln/>
        </p:spPr>
        <p:txBody>
          <a:bodyPr wrap="square" rtlCol="0" anchor="ctr"/>
          <a:lstStyle/>
          <a:p>
            <a:pPr indent="0" marL="0">
              <a:buNone/>
            </a:pPr>
            <a:endParaRPr lang="en-US" dirty="0"/>
          </a:p>
        </p:txBody>
      </p:sp>
      <p:sp>
        <p:nvSpPr>
          <p:cNvPr id="19" name="Shape 16"/>
          <p:cNvSpPr/>
          <p:nvPr/>
        </p:nvSpPr>
        <p:spPr>
          <a:xfrm>
            <a:off x="3376538" y="1757139"/>
            <a:ext cx="2562262" cy="0"/>
          </a:xfrm>
          <a:prstGeom prst="line">
            <a:avLst/>
          </a:prstGeom>
          <a:noFill/>
          <a:ln w="21431">
            <a:solidFill>
              <a:srgbClr val="1F61C9"/>
            </a:solidFill>
            <a:prstDash val="solid"/>
          </a:ln>
        </p:spPr>
      </p:sp>
      <p:sp>
        <p:nvSpPr>
          <p:cNvPr id="20" name="Shape 17"/>
          <p:cNvSpPr/>
          <p:nvPr/>
        </p:nvSpPr>
        <p:spPr>
          <a:xfrm>
            <a:off x="5935228" y="1746424"/>
            <a:ext cx="0" cy="2056507"/>
          </a:xfrm>
          <a:prstGeom prst="line">
            <a:avLst/>
          </a:prstGeom>
          <a:noFill/>
          <a:ln w="7144">
            <a:solidFill>
              <a:srgbClr val="E3E6EE"/>
            </a:solidFill>
            <a:prstDash val="solid"/>
          </a:ln>
        </p:spPr>
      </p:sp>
      <p:sp>
        <p:nvSpPr>
          <p:cNvPr id="21" name="Shape 18"/>
          <p:cNvSpPr/>
          <p:nvPr/>
        </p:nvSpPr>
        <p:spPr>
          <a:xfrm>
            <a:off x="3376538" y="3799359"/>
            <a:ext cx="2562262" cy="0"/>
          </a:xfrm>
          <a:prstGeom prst="line">
            <a:avLst/>
          </a:prstGeom>
          <a:noFill/>
          <a:ln w="7144">
            <a:solidFill>
              <a:srgbClr val="E3E6EE"/>
            </a:solidFill>
            <a:prstDash val="solid"/>
          </a:ln>
        </p:spPr>
      </p:sp>
      <p:sp>
        <p:nvSpPr>
          <p:cNvPr id="22" name="Shape 19"/>
          <p:cNvSpPr/>
          <p:nvPr/>
        </p:nvSpPr>
        <p:spPr>
          <a:xfrm>
            <a:off x="3380110" y="1746424"/>
            <a:ext cx="0" cy="2056507"/>
          </a:xfrm>
          <a:prstGeom prst="line">
            <a:avLst/>
          </a:prstGeom>
          <a:noFill/>
          <a:ln w="7144">
            <a:solidFill>
              <a:srgbClr val="E3E6EE"/>
            </a:solidFill>
            <a:prstDash val="solid"/>
          </a:ln>
        </p:spPr>
      </p:sp>
      <p:sp>
        <p:nvSpPr>
          <p:cNvPr id="23" name="Text 20"/>
          <p:cNvSpPr/>
          <p:nvPr/>
        </p:nvSpPr>
        <p:spPr>
          <a:xfrm>
            <a:off x="3526557" y="1882155"/>
            <a:ext cx="225028" cy="231458"/>
          </a:xfrm>
          <a:prstGeom prst="rect">
            <a:avLst/>
          </a:prstGeom>
          <a:noFill/>
          <a:ln/>
        </p:spPr>
        <p:txBody>
          <a:bodyPr wrap="none" lIns="0" tIns="0" rIns="0" bIns="0" rtlCol="0" anchor="t"/>
          <a:lstStyle/>
          <a:p>
            <a:pPr algn="l" indent="0" marL="0">
              <a:lnSpc>
                <a:spcPts val="1688"/>
              </a:lnSpc>
              <a:buNone/>
            </a:pPr>
            <a:r>
              <a:rPr lang="en-US" sz="1688" b="1" spc="-67" kern="0" dirty="0">
                <a:solidFill>
                  <a:srgbClr val="1F61C9"/>
                </a:solidFill>
                <a:latin typeface="Liberation Sans Narrow" pitchFamily="34" charset="0"/>
                <a:ea typeface="Liberation Sans Narrow" pitchFamily="34" charset="-122"/>
                <a:cs typeface="Liberation Sans Narrow" pitchFamily="34" charset="-120"/>
              </a:rPr>
              <a:t>2</a:t>
            </a:r>
            <a:endParaRPr lang="en-US" sz="1688" dirty="0"/>
          </a:p>
        </p:txBody>
      </p:sp>
      <p:sp>
        <p:nvSpPr>
          <p:cNvPr id="24" name="Text 21"/>
          <p:cNvSpPr/>
          <p:nvPr/>
        </p:nvSpPr>
        <p:spPr>
          <a:xfrm>
            <a:off x="3752924" y="1939305"/>
            <a:ext cx="2035857" cy="185166"/>
          </a:xfrm>
          <a:prstGeom prst="rect">
            <a:avLst/>
          </a:prstGeom>
          <a:noFill/>
          <a:ln/>
        </p:spPr>
        <p:txBody>
          <a:bodyPr wrap="none" lIns="0" tIns="0" rIns="0" bIns="0" rtlCol="0" anchor="t"/>
          <a:lstStyle/>
          <a:p>
            <a:pPr algn="l" indent="0" marL="0">
              <a:lnSpc>
                <a:spcPts val="1350"/>
              </a:lnSpc>
              <a:buNone/>
            </a:pPr>
            <a:r>
              <a:rPr lang="en-US" sz="900" b="1" spc="108" kern="0" dirty="0">
                <a:solidFill>
                  <a:srgbClr val="1A2A4F"/>
                </a:solidFill>
                <a:latin typeface="Carlito" pitchFamily="34" charset="0"/>
                <a:ea typeface="Carlito" pitchFamily="34" charset="-122"/>
                <a:cs typeface="Carlito" pitchFamily="34" charset="-120"/>
              </a:rPr>
              <a:t>INFEASIBLE</a:t>
            </a:r>
            <a:endParaRPr lang="en-US" sz="900" dirty="0"/>
          </a:p>
        </p:txBody>
      </p:sp>
      <p:sp>
        <p:nvSpPr>
          <p:cNvPr id="25" name="Text 22"/>
          <p:cNvSpPr/>
          <p:nvPr/>
        </p:nvSpPr>
        <p:spPr>
          <a:xfrm>
            <a:off x="3526557" y="2182192"/>
            <a:ext cx="2262225" cy="738735"/>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Even when a closed form exists, it may involve special functions or integrals that are themselves hard to evaluate. The analytical solution to the ODE below involves the error function, which has no elementary form.</a:t>
            </a:r>
            <a:endParaRPr lang="en-US" sz="800" dirty="0"/>
          </a:p>
        </p:txBody>
      </p:sp>
      <p:pic>
        <p:nvPicPr>
          <p:cNvPr id="26" name="Image 1" descr="/tmp/h2p-svg-1781853766280-jrd8vn.png">    </p:cNvPr>
          <p:cNvPicPr>
            <a:picLocks noChangeAspect="1"/>
          </p:cNvPicPr>
          <p:nvPr/>
        </p:nvPicPr>
        <p:blipFill>
          <a:blip r:embed="rId2"/>
          <a:stretch>
            <a:fillRect/>
          </a:stretch>
        </p:blipFill>
        <p:spPr>
          <a:xfrm>
            <a:off x="4362152" y="2948360"/>
            <a:ext cx="590922" cy="156046"/>
          </a:xfrm>
          <a:prstGeom prst="rect">
            <a:avLst/>
          </a:prstGeom>
        </p:spPr>
      </p:pic>
      <p:sp>
        <p:nvSpPr>
          <p:cNvPr id="27" name="Text 23"/>
          <p:cNvSpPr/>
          <p:nvPr/>
        </p:nvSpPr>
        <p:spPr>
          <a:xfrm>
            <a:off x="3526557" y="3161109"/>
            <a:ext cx="2371953" cy="164592"/>
          </a:xfrm>
          <a:prstGeom prst="rect">
            <a:avLst/>
          </a:prstGeom>
          <a:noFill/>
          <a:ln/>
        </p:spPr>
        <p:txBody>
          <a:bodyPr wrap="square" lIns="0" tIns="0" rIns="0" bIns="0" rtlCol="0" anchor="t"/>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Numerical evaluation is often more practical.</a:t>
            </a:r>
            <a:endParaRPr lang="en-US" sz="800" dirty="0"/>
          </a:p>
        </p:txBody>
      </p:sp>
      <p:sp>
        <p:nvSpPr>
          <p:cNvPr id="28" name="Shape 24"/>
          <p:cNvSpPr/>
          <p:nvPr/>
        </p:nvSpPr>
        <p:spPr>
          <a:xfrm>
            <a:off x="3526557" y="3380780"/>
            <a:ext cx="2262225" cy="0"/>
          </a:xfrm>
          <a:prstGeom prst="line">
            <a:avLst/>
          </a:prstGeom>
          <a:noFill/>
          <a:ln w="7144">
            <a:solidFill>
              <a:srgbClr val="E3E6EE"/>
            </a:solidFill>
            <a:prstDash val="dash"/>
          </a:ln>
        </p:spPr>
      </p:sp>
      <p:sp>
        <p:nvSpPr>
          <p:cNvPr id="29" name="Text 25"/>
          <p:cNvSpPr/>
          <p:nvPr/>
        </p:nvSpPr>
        <p:spPr>
          <a:xfrm>
            <a:off x="3526557" y="3377208"/>
            <a:ext cx="2262225" cy="304279"/>
          </a:xfrm>
          <a:prstGeom prst="rect">
            <a:avLst/>
          </a:prstGeom>
          <a:noFill/>
          <a:ln/>
        </p:spPr>
        <p:txBody>
          <a:bodyPr wrap="square" lIns="0" tIns="57150" rIns="0" bIns="0" rtlCol="0" anchor="t"/>
          <a:lstStyle/>
          <a:p>
            <a:pPr algn="l" indent="0" marL="0">
              <a:lnSpc>
                <a:spcPts val="945"/>
              </a:lnSpc>
              <a:buNone/>
            </a:pPr>
            <a:r>
              <a:rPr lang="en-US" sz="800" i="1" dirty="0">
                <a:solidFill>
                  <a:srgbClr val="4A5160"/>
                </a:solidFill>
                <a:latin typeface="Carlito" pitchFamily="34" charset="0"/>
                <a:ea typeface="Carlito" pitchFamily="34" charset="-122"/>
                <a:cs typeface="Carlito" pitchFamily="34" charset="-120"/>
              </a:rPr>
              <a:t>Solution involves the error function — no elementary form.</a:t>
            </a:r>
            <a:endParaRPr lang="en-US" sz="800" dirty="0"/>
          </a:p>
        </p:txBody>
      </p:sp>
      <p:sp>
        <p:nvSpPr>
          <p:cNvPr id="30" name="Text 26"/>
          <p:cNvSpPr/>
          <p:nvPr/>
        </p:nvSpPr>
        <p:spPr>
          <a:xfrm>
            <a:off x="6067388" y="1746424"/>
            <a:ext cx="2562151" cy="2056507"/>
          </a:xfrm>
          <a:prstGeom prst="roundRect">
            <a:avLst>
              <a:gd name="adj" fmla="val 3705"/>
            </a:avLst>
          </a:prstGeom>
          <a:solidFill>
            <a:srgbClr val="F6F7FB"/>
          </a:solidFill>
          <a:ln/>
        </p:spPr>
        <p:txBody>
          <a:bodyPr wrap="square" rtlCol="0" anchor="ctr"/>
          <a:lstStyle/>
          <a:p>
            <a:pPr indent="0" marL="0">
              <a:buNone/>
            </a:pPr>
            <a:endParaRPr lang="en-US" dirty="0"/>
          </a:p>
        </p:txBody>
      </p:sp>
      <p:sp>
        <p:nvSpPr>
          <p:cNvPr id="31" name="Shape 27"/>
          <p:cNvSpPr/>
          <p:nvPr/>
        </p:nvSpPr>
        <p:spPr>
          <a:xfrm>
            <a:off x="6067388" y="1757139"/>
            <a:ext cx="2562151" cy="0"/>
          </a:xfrm>
          <a:prstGeom prst="line">
            <a:avLst/>
          </a:prstGeom>
          <a:noFill/>
          <a:ln w="21431">
            <a:solidFill>
              <a:srgbClr val="1F61C9"/>
            </a:solidFill>
            <a:prstDash val="solid"/>
          </a:ln>
        </p:spPr>
      </p:sp>
      <p:sp>
        <p:nvSpPr>
          <p:cNvPr id="32" name="Shape 28"/>
          <p:cNvSpPr/>
          <p:nvPr/>
        </p:nvSpPr>
        <p:spPr>
          <a:xfrm>
            <a:off x="8625967" y="1746424"/>
            <a:ext cx="0" cy="2056507"/>
          </a:xfrm>
          <a:prstGeom prst="line">
            <a:avLst/>
          </a:prstGeom>
          <a:noFill/>
          <a:ln w="7144">
            <a:solidFill>
              <a:srgbClr val="E3E6EE"/>
            </a:solidFill>
            <a:prstDash val="solid"/>
          </a:ln>
        </p:spPr>
      </p:sp>
      <p:sp>
        <p:nvSpPr>
          <p:cNvPr id="33" name="Shape 29"/>
          <p:cNvSpPr/>
          <p:nvPr/>
        </p:nvSpPr>
        <p:spPr>
          <a:xfrm>
            <a:off x="6067388" y="3799359"/>
            <a:ext cx="2562151" cy="0"/>
          </a:xfrm>
          <a:prstGeom prst="line">
            <a:avLst/>
          </a:prstGeom>
          <a:noFill/>
          <a:ln w="7144">
            <a:solidFill>
              <a:srgbClr val="E3E6EE"/>
            </a:solidFill>
            <a:prstDash val="solid"/>
          </a:ln>
        </p:spPr>
      </p:sp>
      <p:sp>
        <p:nvSpPr>
          <p:cNvPr id="34" name="Shape 30"/>
          <p:cNvSpPr/>
          <p:nvPr/>
        </p:nvSpPr>
        <p:spPr>
          <a:xfrm>
            <a:off x="6070960" y="1746424"/>
            <a:ext cx="0" cy="2056507"/>
          </a:xfrm>
          <a:prstGeom prst="line">
            <a:avLst/>
          </a:prstGeom>
          <a:noFill/>
          <a:ln w="7144">
            <a:solidFill>
              <a:srgbClr val="E3E6EE"/>
            </a:solidFill>
            <a:prstDash val="solid"/>
          </a:ln>
        </p:spPr>
      </p:sp>
      <p:sp>
        <p:nvSpPr>
          <p:cNvPr id="35" name="Text 31"/>
          <p:cNvSpPr/>
          <p:nvPr/>
        </p:nvSpPr>
        <p:spPr>
          <a:xfrm>
            <a:off x="6217407" y="1882155"/>
            <a:ext cx="225028" cy="231458"/>
          </a:xfrm>
          <a:prstGeom prst="rect">
            <a:avLst/>
          </a:prstGeom>
          <a:noFill/>
          <a:ln/>
        </p:spPr>
        <p:txBody>
          <a:bodyPr wrap="none" lIns="0" tIns="0" rIns="0" bIns="0" rtlCol="0" anchor="t"/>
          <a:lstStyle/>
          <a:p>
            <a:pPr algn="l" indent="0" marL="0">
              <a:lnSpc>
                <a:spcPts val="1688"/>
              </a:lnSpc>
              <a:buNone/>
            </a:pPr>
            <a:r>
              <a:rPr lang="en-US" sz="1688" b="1" spc="-67" kern="0" dirty="0">
                <a:solidFill>
                  <a:srgbClr val="1F61C9"/>
                </a:solidFill>
                <a:latin typeface="Liberation Sans Narrow" pitchFamily="34" charset="0"/>
                <a:ea typeface="Liberation Sans Narrow" pitchFamily="34" charset="-122"/>
                <a:cs typeface="Liberation Sans Narrow" pitchFamily="34" charset="-120"/>
              </a:rPr>
              <a:t>3</a:t>
            </a:r>
            <a:endParaRPr lang="en-US" sz="1688" dirty="0"/>
          </a:p>
        </p:txBody>
      </p:sp>
      <p:sp>
        <p:nvSpPr>
          <p:cNvPr id="36" name="Text 32"/>
          <p:cNvSpPr/>
          <p:nvPr/>
        </p:nvSpPr>
        <p:spPr>
          <a:xfrm>
            <a:off x="6443774" y="1939305"/>
            <a:ext cx="2035746" cy="185166"/>
          </a:xfrm>
          <a:prstGeom prst="rect">
            <a:avLst/>
          </a:prstGeom>
          <a:noFill/>
          <a:ln/>
        </p:spPr>
        <p:txBody>
          <a:bodyPr wrap="none" lIns="0" tIns="0" rIns="0" bIns="0" rtlCol="0" anchor="t"/>
          <a:lstStyle/>
          <a:p>
            <a:pPr algn="l" indent="0" marL="0">
              <a:lnSpc>
                <a:spcPts val="1350"/>
              </a:lnSpc>
              <a:buNone/>
            </a:pPr>
            <a:r>
              <a:rPr lang="en-US" sz="900" b="1" spc="108" kern="0" dirty="0">
                <a:solidFill>
                  <a:srgbClr val="1A2A4F"/>
                </a:solidFill>
                <a:latin typeface="Carlito" pitchFamily="34" charset="0"/>
                <a:ea typeface="Carlito" pitchFamily="34" charset="-122"/>
                <a:cs typeface="Carlito" pitchFamily="34" charset="-120"/>
              </a:rPr>
              <a:t>INEFFICIENT</a:t>
            </a:r>
            <a:endParaRPr lang="en-US" sz="900" dirty="0"/>
          </a:p>
        </p:txBody>
      </p:sp>
      <p:sp>
        <p:nvSpPr>
          <p:cNvPr id="37" name="Text 33"/>
          <p:cNvSpPr/>
          <p:nvPr/>
        </p:nvSpPr>
        <p:spPr>
          <a:xfrm>
            <a:off x="6217407" y="2182192"/>
            <a:ext cx="2262113" cy="1152144"/>
          </a:xfrm>
          <a:prstGeom prst="rect">
            <a:avLst/>
          </a:prstGeom>
          <a:noFill/>
          <a:ln/>
        </p:spPr>
        <p:txBody>
          <a:bodyPr wrap="square" lIns="0" tIns="0" rIns="0" bIns="0" rtlCol="0" anchor="t"/>
          <a:lstStyle/>
          <a:p>
            <a:pPr algn="l" indent="0" marL="0">
              <a:lnSpc>
                <a:spcPts val="1139"/>
              </a:lnSpc>
              <a:buNone/>
            </a:pPr>
            <a:r>
              <a:rPr lang="en-US" sz="800" dirty="0">
                <a:solidFill>
                  <a:srgbClr val="14171F"/>
                </a:solidFill>
                <a:latin typeface="Carlito" pitchFamily="34" charset="0"/>
                <a:ea typeface="Carlito" pitchFamily="34" charset="-122"/>
                <a:cs typeface="Carlito" pitchFamily="34" charset="-120"/>
              </a:rPr>
              <a:t>Sometimes the analytical solution is so complex that evaluating it is slower than just stepping numerically. In real-time control systems (autopilot, robotics, game physics), speed matters more than symbolic elegance — a few RK4 steps per frame is the industry standard.</a:t>
            </a:r>
            <a:endParaRPr lang="en-US" sz="800" dirty="0"/>
          </a:p>
        </p:txBody>
      </p:sp>
      <p:sp>
        <p:nvSpPr>
          <p:cNvPr id="38" name="Shape 34"/>
          <p:cNvSpPr/>
          <p:nvPr/>
        </p:nvSpPr>
        <p:spPr>
          <a:xfrm>
            <a:off x="6217407" y="3500772"/>
            <a:ext cx="2262113" cy="0"/>
          </a:xfrm>
          <a:prstGeom prst="line">
            <a:avLst/>
          </a:prstGeom>
          <a:noFill/>
          <a:ln w="7144">
            <a:solidFill>
              <a:srgbClr val="E3E6EE"/>
            </a:solidFill>
            <a:prstDash val="dash"/>
          </a:ln>
        </p:spPr>
      </p:sp>
      <p:sp>
        <p:nvSpPr>
          <p:cNvPr id="39" name="Text 35"/>
          <p:cNvSpPr/>
          <p:nvPr/>
        </p:nvSpPr>
        <p:spPr>
          <a:xfrm>
            <a:off x="6217407" y="3497200"/>
            <a:ext cx="2371841" cy="184286"/>
          </a:xfrm>
          <a:prstGeom prst="rect">
            <a:avLst/>
          </a:prstGeom>
          <a:noFill/>
          <a:ln/>
        </p:spPr>
        <p:txBody>
          <a:bodyPr wrap="square" lIns="0" tIns="57150" rIns="0" bIns="0" rtlCol="0" anchor="t"/>
          <a:lstStyle/>
          <a:p>
            <a:pPr algn="l" indent="0" marL="0">
              <a:lnSpc>
                <a:spcPts val="945"/>
              </a:lnSpc>
              <a:buNone/>
            </a:pPr>
            <a:r>
              <a:rPr lang="en-US" sz="800" i="1" dirty="0">
                <a:solidFill>
                  <a:srgbClr val="4A5160"/>
                </a:solidFill>
                <a:latin typeface="Carlito" pitchFamily="34" charset="0"/>
                <a:ea typeface="Carlito" pitchFamily="34" charset="-122"/>
                <a:cs typeface="Carlito" pitchFamily="34" charset="-120"/>
              </a:rPr>
              <a:t>Example: real-time simulations — RK4 at 60 Hz.</a:t>
            </a:r>
            <a:endParaRPr lang="en-US" sz="800" dirty="0"/>
          </a:p>
        </p:txBody>
      </p:sp>
      <p:sp>
        <p:nvSpPr>
          <p:cNvPr id="40" name="Text 36"/>
          <p:cNvSpPr/>
          <p:nvPr/>
        </p:nvSpPr>
        <p:spPr>
          <a:xfrm>
            <a:off x="685800" y="3917231"/>
            <a:ext cx="7943850" cy="482203"/>
          </a:xfrm>
          <a:prstGeom prst="roundRect">
            <a:avLst>
              <a:gd name="adj" fmla="val 7901"/>
            </a:avLst>
          </a:prstGeom>
          <a:solidFill>
            <a:srgbClr val="F6F7FB"/>
          </a:solidFill>
          <a:ln/>
        </p:spPr>
        <p:txBody>
          <a:bodyPr wrap="square" rtlCol="0" anchor="ctr"/>
          <a:lstStyle/>
          <a:p>
            <a:pPr indent="0" marL="0">
              <a:buNone/>
            </a:pPr>
            <a:endParaRPr lang="en-US" dirty="0"/>
          </a:p>
        </p:txBody>
      </p:sp>
      <p:sp>
        <p:nvSpPr>
          <p:cNvPr id="41" name="Shape 37"/>
          <p:cNvSpPr/>
          <p:nvPr/>
        </p:nvSpPr>
        <p:spPr>
          <a:xfrm>
            <a:off x="700088" y="3917231"/>
            <a:ext cx="0" cy="482203"/>
          </a:xfrm>
          <a:prstGeom prst="line">
            <a:avLst/>
          </a:prstGeom>
          <a:noFill/>
          <a:ln w="28575">
            <a:solidFill>
              <a:srgbClr val="1F61C9"/>
            </a:solidFill>
            <a:prstDash val="solid"/>
          </a:ln>
        </p:spPr>
      </p:sp>
      <p:sp>
        <p:nvSpPr>
          <p:cNvPr id="42" name="Text 38"/>
          <p:cNvSpPr/>
          <p:nvPr/>
        </p:nvSpPr>
        <p:spPr>
          <a:xfrm>
            <a:off x="871538" y="4083323"/>
            <a:ext cx="1227277" cy="164592"/>
          </a:xfrm>
          <a:prstGeom prst="rect">
            <a:avLst/>
          </a:prstGeom>
          <a:noFill/>
          <a:ln/>
        </p:spPr>
        <p:txBody>
          <a:bodyPr wrap="none" lIns="0" tIns="0" rIns="0" bIns="0" rtlCol="0" anchor="t"/>
          <a:lstStyle/>
          <a:p>
            <a:pPr algn="l" indent="0" marL="0">
              <a:lnSpc>
                <a:spcPts val="1181"/>
              </a:lnSpc>
              <a:buNone/>
            </a:pPr>
            <a:r>
              <a:rPr lang="en-US" sz="800" b="1" spc="126" kern="0" dirty="0">
                <a:solidFill>
                  <a:srgbClr val="1F61C9"/>
                </a:solidFill>
                <a:latin typeface="Carlito" pitchFamily="34" charset="0"/>
                <a:ea typeface="Carlito" pitchFamily="34" charset="-122"/>
                <a:cs typeface="Carlito" pitchFamily="34" charset="-120"/>
              </a:rPr>
              <a:t>THE TRADE</a:t>
            </a:r>
            <a:endParaRPr lang="en-US" sz="800" dirty="0"/>
          </a:p>
        </p:txBody>
      </p:sp>
      <p:sp>
        <p:nvSpPr>
          <p:cNvPr id="43" name="Text 39"/>
          <p:cNvSpPr/>
          <p:nvPr/>
        </p:nvSpPr>
        <p:spPr>
          <a:xfrm>
            <a:off x="1801788" y="4002956"/>
            <a:ext cx="6670700" cy="310753"/>
          </a:xfrm>
          <a:prstGeom prst="rect">
            <a:avLst/>
          </a:prstGeom>
          <a:noFill/>
          <a:ln/>
        </p:spPr>
        <p:txBody>
          <a:bodyPr wrap="square" lIns="0" tIns="0" rIns="0" bIns="0" rtlCol="0" anchor="t"/>
          <a:lstStyle/>
          <a:p>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Numerical methods give up the exact closed form in exchange for universality and speed. The cost is error — each step accumulates a small discrepancy — but with the right method and step size, we can bound that error to any desired tolerance.</a:t>
            </a:r>
            <a:endParaRPr lang="en-US" sz="816" dirty="0"/>
          </a:p>
        </p:txBody>
      </p:sp>
      <p:sp>
        <p:nvSpPr>
          <p:cNvPr id="44" name="Text 40"/>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30 / 38</a:t>
            </a:r>
            <a:endParaRPr lang="en-US" sz="800" dirty="0"/>
          </a:p>
        </p:txBody>
      </p:sp>
      <p:pic>
        <p:nvPicPr>
          <p:cNvPr id="45" name="Image 2" descr="preencoded.png">    </p:cNvPr>
          <p:cNvPicPr>
            <a:picLocks noChangeAspect="1"/>
          </p:cNvPicPr>
          <p:nvPr/>
        </p:nvPicPr>
        <p:blipFill>
          <a:blip r:embed="rId3"/>
          <a:stretch>
            <a:fillRect/>
          </a:stretch>
        </p:blipFill>
        <p:spPr>
          <a:xfrm>
            <a:off x="0" y="0"/>
            <a:ext cx="17145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408996"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METHOD 1</a:t>
            </a:r>
            <a:endParaRPr lang="en-US" sz="844" dirty="0"/>
          </a:p>
        </p:txBody>
      </p:sp>
      <p:sp>
        <p:nvSpPr>
          <p:cNvPr id="3" name="Text 1"/>
          <p:cNvSpPr/>
          <p:nvPr/>
        </p:nvSpPr>
        <p:spPr>
          <a:xfrm>
            <a:off x="685800" y="716161"/>
            <a:ext cx="8341042" cy="236887"/>
          </a:xfrm>
          <a:prstGeom prst="rect">
            <a:avLst/>
          </a:prstGeom>
          <a:noFill/>
          <a:ln/>
        </p:spPr>
        <p:txBody>
          <a:bodyPr wrap="none" lIns="0" tIns="0" rIns="0" bIns="0" rtlCol="0" anchor="t">
            <a:normAutofit/>
          </a:bodyPr>
          <a:lstStyle/>
          <a:p>
            <a:pPr algn="l" indent="0" marL="0">
              <a:lnSpc>
                <a:spcPts val="1856"/>
              </a:lnSpc>
              <a:buNone/>
            </a:pPr>
            <a:r>
              <a:rPr lang="en-US" sz="1688" b="1" spc="-20" kern="0" dirty="0">
                <a:solidFill>
                  <a:srgbClr val="1A2A4F"/>
                </a:solidFill>
                <a:latin typeface="Carlito" pitchFamily="34" charset="0"/>
                <a:ea typeface="Carlito" pitchFamily="34" charset="-122"/>
                <a:cs typeface="Carlito" pitchFamily="34" charset="-120"/>
              </a:rPr>
              <a:t>Euler’s Method</a:t>
            </a:r>
            <a:endParaRPr lang="en-US" sz="1688" dirty="0"/>
          </a:p>
        </p:txBody>
      </p:sp>
      <p:sp>
        <p:nvSpPr>
          <p:cNvPr id="4" name="Text 2"/>
          <p:cNvSpPr/>
          <p:nvPr/>
        </p:nvSpPr>
        <p:spPr>
          <a:xfrm>
            <a:off x="685800" y="980480"/>
            <a:ext cx="8458200" cy="196739"/>
          </a:xfrm>
          <a:prstGeom prst="rect">
            <a:avLst/>
          </a:prstGeom>
          <a:noFill/>
          <a:ln/>
        </p:spPr>
        <p:txBody>
          <a:bodyPr wrap="square" lIns="0" tIns="0" rIns="0" bIns="0" rtlCol="0" anchor="t"/>
          <a:lstStyle/>
          <a:p>
            <a:pPr algn="l" indent="0" marL="0">
              <a:lnSpc>
                <a:spcPts val="1434"/>
              </a:lnSpc>
              <a:buNone/>
            </a:pPr>
            <a:r>
              <a:rPr lang="en-US" sz="956" i="1" spc="-5" kern="0" dirty="0">
                <a:solidFill>
                  <a:srgbClr val="1F61C9"/>
                </a:solidFill>
                <a:latin typeface="Carlito" pitchFamily="34" charset="0"/>
                <a:ea typeface="Carlito" pitchFamily="34" charset="-122"/>
                <a:cs typeface="Carlito" pitchFamily="34" charset="-120"/>
              </a:rPr>
              <a:t>Follow the Slope Field One Step at a Time</a:t>
            </a:r>
            <a:endParaRPr lang="en-US" sz="956" dirty="0"/>
          </a:p>
        </p:txBody>
      </p:sp>
      <p:sp>
        <p:nvSpPr>
          <p:cNvPr id="5" name="Shape 3"/>
          <p:cNvSpPr/>
          <p:nvPr/>
        </p:nvSpPr>
        <p:spPr>
          <a:xfrm>
            <a:off x="685800" y="1466255"/>
            <a:ext cx="4065463" cy="0"/>
          </a:xfrm>
          <a:prstGeom prst="line">
            <a:avLst/>
          </a:prstGeom>
          <a:noFill/>
          <a:ln w="14288">
            <a:solidFill>
              <a:srgbClr val="1F61C9"/>
            </a:solidFill>
            <a:prstDash val="solid"/>
          </a:ln>
        </p:spPr>
      </p:sp>
      <p:sp>
        <p:nvSpPr>
          <p:cNvPr id="6" name="Text 4"/>
          <p:cNvSpPr/>
          <p:nvPr/>
        </p:nvSpPr>
        <p:spPr>
          <a:xfrm>
            <a:off x="685800" y="1276945"/>
            <a:ext cx="5359297" cy="232117"/>
          </a:xfrm>
          <a:prstGeom prst="rect">
            <a:avLst/>
          </a:prstGeom>
          <a:noFill/>
          <a:ln/>
        </p:spPr>
        <p:txBody>
          <a:bodyPr wrap="none" lIns="0" tIns="0" rIns="0" bIns="42863" rtlCol="0" anchor="t"/>
          <a:lstStyle/>
          <a:p>
            <a:pPr algn="l" indent="0" marL="0">
              <a:lnSpc>
                <a:spcPts val="1097"/>
              </a:lnSpc>
              <a:buNone/>
            </a:pPr>
            <a:r>
              <a:rPr lang="en-US" sz="800" b="1" spc="117" kern="0" dirty="0">
                <a:solidFill>
                  <a:srgbClr val="1F61C9"/>
                </a:solidFill>
                <a:latin typeface="Carlito" pitchFamily="34" charset="0"/>
                <a:ea typeface="Carlito" pitchFamily="34" charset="-122"/>
                <a:cs typeface="Carlito" pitchFamily="34" charset="-120"/>
              </a:rPr>
              <a:t>THE CORE LOGIC</a:t>
            </a:r>
            <a:endParaRPr lang="en-US" sz="800" dirty="0"/>
          </a:p>
        </p:txBody>
      </p:sp>
      <p:sp>
        <p:nvSpPr>
          <p:cNvPr id="7" name="Text 5"/>
          <p:cNvSpPr/>
          <p:nvPr/>
        </p:nvSpPr>
        <p:spPr>
          <a:xfrm>
            <a:off x="685800" y="1601986"/>
            <a:ext cx="4065463" cy="480221"/>
          </a:xfrm>
          <a:prstGeom prst="rect">
            <a:avLst/>
          </a:prstGeom>
          <a:noFill/>
          <a:ln/>
        </p:spPr>
        <p:txBody>
          <a:bodyPr wrap="square" lIns="0" tIns="0" rIns="0" bIns="0" rtlCol="0" anchor="t">
            <a:normAutofit/>
          </a:bodyPr>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Given the initial-value problem below, Euler’s idea is breathtakingly simple: at each point, compute the slope and step forward a small distance along that slope. The new point is:</a:t>
            </a:r>
            <a:endParaRPr lang="en-US" sz="800" dirty="0"/>
          </a:p>
        </p:txBody>
      </p:sp>
      <p:pic>
        <p:nvPicPr>
          <p:cNvPr id="8" name="Image 0" descr="/tmp/h2p-svg-1781853766554-isuegu.png">    </p:cNvPr>
          <p:cNvPicPr>
            <a:picLocks noChangeAspect="1"/>
          </p:cNvPicPr>
          <p:nvPr/>
        </p:nvPicPr>
        <p:blipFill>
          <a:blip r:embed="rId1"/>
          <a:stretch>
            <a:fillRect/>
          </a:stretch>
        </p:blipFill>
        <p:spPr>
          <a:xfrm>
            <a:off x="1836279" y="2148036"/>
            <a:ext cx="1764395" cy="171115"/>
          </a:xfrm>
          <a:prstGeom prst="rect">
            <a:avLst/>
          </a:prstGeom>
        </p:spPr>
      </p:pic>
      <p:sp>
        <p:nvSpPr>
          <p:cNvPr id="9" name="Text 6"/>
          <p:cNvSpPr/>
          <p:nvPr/>
        </p:nvSpPr>
        <p:spPr>
          <a:xfrm>
            <a:off x="685800" y="2444502"/>
            <a:ext cx="4065463" cy="334863"/>
          </a:xfrm>
          <a:prstGeom prst="roundRect">
            <a:avLst>
              <a:gd name="adj" fmla="val 11378"/>
            </a:avLst>
          </a:prstGeom>
          <a:solidFill>
            <a:srgbClr val="F3ECF8"/>
          </a:solidFill>
          <a:ln/>
        </p:spPr>
        <p:txBody>
          <a:bodyPr wrap="square" rtlCol="0" anchor="ctr"/>
          <a:lstStyle/>
          <a:p>
            <a:pPr indent="0" marL="0">
              <a:buNone/>
            </a:pPr>
            <a:endParaRPr lang="en-US" dirty="0"/>
          </a:p>
        </p:txBody>
      </p:sp>
      <p:sp>
        <p:nvSpPr>
          <p:cNvPr id="10" name="Shape 7"/>
          <p:cNvSpPr/>
          <p:nvPr/>
        </p:nvSpPr>
        <p:spPr>
          <a:xfrm>
            <a:off x="696516" y="2444502"/>
            <a:ext cx="0" cy="334863"/>
          </a:xfrm>
          <a:prstGeom prst="line">
            <a:avLst/>
          </a:prstGeom>
          <a:noFill/>
          <a:ln w="21431">
            <a:solidFill>
              <a:srgbClr val="6B2FA0"/>
            </a:solidFill>
            <a:prstDash val="solid"/>
          </a:ln>
        </p:spPr>
      </p:sp>
      <p:pic>
        <p:nvPicPr>
          <p:cNvPr id="11" name="Image 1" descr="/tmp/h2p-svg-1781853766560-48znat.png">    </p:cNvPr>
          <p:cNvPicPr>
            <a:picLocks noChangeAspect="1"/>
          </p:cNvPicPr>
          <p:nvPr/>
        </p:nvPicPr>
        <p:blipFill>
          <a:blip r:embed="rId2"/>
          <a:stretch>
            <a:fillRect/>
          </a:stretch>
        </p:blipFill>
        <p:spPr>
          <a:xfrm>
            <a:off x="1917427" y="2535362"/>
            <a:ext cx="1623640" cy="161516"/>
          </a:xfrm>
          <a:prstGeom prst="rect">
            <a:avLst/>
          </a:prstGeom>
        </p:spPr>
      </p:pic>
      <p:sp>
        <p:nvSpPr>
          <p:cNvPr id="12" name="Text 8"/>
          <p:cNvSpPr/>
          <p:nvPr/>
        </p:nvSpPr>
        <p:spPr>
          <a:xfrm>
            <a:off x="685800" y="2893665"/>
            <a:ext cx="4065463" cy="494508"/>
          </a:xfrm>
          <a:prstGeom prst="rect">
            <a:avLst/>
          </a:prstGeom>
          <a:noFill/>
          <a:ln/>
        </p:spPr>
        <p:txBody>
          <a:bodyPr wrap="square" lIns="0" tIns="0" rIns="0" bIns="0" rtlCol="0" anchor="t">
            <a:normAutofit/>
          </a:bodyPr>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Geometrically, we are approximating the solution curve by its tangent line at each step. Over a single step the approximation is good; over many steps, errors accumulate — but the method is so cheap that we can take many small steps.</a:t>
            </a:r>
            <a:endParaRPr lang="en-US" sz="800" dirty="0"/>
          </a:p>
        </p:txBody>
      </p:sp>
      <p:sp>
        <p:nvSpPr>
          <p:cNvPr id="13" name="Text 9"/>
          <p:cNvSpPr/>
          <p:nvPr/>
        </p:nvSpPr>
        <p:spPr>
          <a:xfrm>
            <a:off x="685800" y="3415605"/>
            <a:ext cx="4065463" cy="169980"/>
          </a:xfrm>
          <a:prstGeom prst="rect">
            <a:avLst/>
          </a:prstGeom>
          <a:noFill/>
          <a:ln/>
        </p:spPr>
        <p:txBody>
          <a:bodyPr wrap="square" lIns="0" tIns="0" rIns="0" bIns="0" rtlCol="0" anchor="t"/>
          <a:lstStyle/>
          <a:p>
            <a:pPr algn="l" indent="0" marL="0">
              <a:lnSpc>
                <a:spcPts val="1221"/>
              </a:lnSpc>
              <a:buNone/>
            </a:pPr>
            <a:r>
              <a:rPr lang="en-US" sz="800" dirty="0">
                <a:solidFill>
                  <a:srgbClr val="14171F"/>
                </a:solidFill>
                <a:latin typeface="Carlito" pitchFamily="34" charset="0"/>
                <a:ea typeface="Carlito" pitchFamily="34" charset="-122"/>
                <a:cs typeface="Carlito" pitchFamily="34" charset="-120"/>
              </a:rPr>
              <a:t>The independent variable advances by the step size:</a:t>
            </a:r>
            <a:endParaRPr lang="en-US" sz="800" dirty="0"/>
          </a:p>
        </p:txBody>
      </p:sp>
      <p:sp>
        <p:nvSpPr>
          <p:cNvPr id="14" name="Text 10"/>
          <p:cNvSpPr/>
          <p:nvPr/>
        </p:nvSpPr>
        <p:spPr>
          <a:xfrm>
            <a:off x="685800" y="3627686"/>
            <a:ext cx="4065463" cy="334863"/>
          </a:xfrm>
          <a:prstGeom prst="roundRect">
            <a:avLst>
              <a:gd name="adj" fmla="val 11378"/>
            </a:avLst>
          </a:prstGeom>
          <a:solidFill>
            <a:srgbClr val="F3ECF8"/>
          </a:solidFill>
          <a:ln/>
        </p:spPr>
        <p:txBody>
          <a:bodyPr wrap="square" rtlCol="0" anchor="ctr"/>
          <a:lstStyle/>
          <a:p>
            <a:pPr indent="0" marL="0">
              <a:buNone/>
            </a:pPr>
            <a:endParaRPr lang="en-US" dirty="0"/>
          </a:p>
        </p:txBody>
      </p:sp>
      <p:sp>
        <p:nvSpPr>
          <p:cNvPr id="15" name="Shape 11"/>
          <p:cNvSpPr/>
          <p:nvPr/>
        </p:nvSpPr>
        <p:spPr>
          <a:xfrm>
            <a:off x="696516" y="3627686"/>
            <a:ext cx="0" cy="334863"/>
          </a:xfrm>
          <a:prstGeom prst="line">
            <a:avLst/>
          </a:prstGeom>
          <a:noFill/>
          <a:ln w="21431">
            <a:solidFill>
              <a:srgbClr val="6B2FA0"/>
            </a:solidFill>
            <a:prstDash val="solid"/>
          </a:ln>
        </p:spPr>
      </p:sp>
      <p:pic>
        <p:nvPicPr>
          <p:cNvPr id="16" name="Image 2" descr="/tmp/h2p-svg-1781853766560-zobs7t.png">    </p:cNvPr>
          <p:cNvPicPr>
            <a:picLocks noChangeAspect="1"/>
          </p:cNvPicPr>
          <p:nvPr/>
        </p:nvPicPr>
        <p:blipFill>
          <a:blip r:embed="rId3"/>
          <a:stretch>
            <a:fillRect/>
          </a:stretch>
        </p:blipFill>
        <p:spPr>
          <a:xfrm>
            <a:off x="2228738" y="3727475"/>
            <a:ext cx="1001018" cy="145777"/>
          </a:xfrm>
          <a:prstGeom prst="rect">
            <a:avLst/>
          </a:prstGeom>
        </p:spPr>
      </p:pic>
      <p:sp>
        <p:nvSpPr>
          <p:cNvPr id="17" name="Shape 12"/>
          <p:cNvSpPr/>
          <p:nvPr/>
        </p:nvSpPr>
        <p:spPr>
          <a:xfrm>
            <a:off x="4951288" y="1466255"/>
            <a:ext cx="3678250" cy="0"/>
          </a:xfrm>
          <a:prstGeom prst="line">
            <a:avLst/>
          </a:prstGeom>
          <a:noFill/>
          <a:ln w="14288">
            <a:solidFill>
              <a:srgbClr val="1F61C9"/>
            </a:solidFill>
            <a:prstDash val="solid"/>
          </a:ln>
        </p:spPr>
      </p:sp>
      <p:sp>
        <p:nvSpPr>
          <p:cNvPr id="18" name="Text 13"/>
          <p:cNvSpPr/>
          <p:nvPr/>
        </p:nvSpPr>
        <p:spPr>
          <a:xfrm>
            <a:off x="4951288" y="1276945"/>
            <a:ext cx="4192712" cy="232117"/>
          </a:xfrm>
          <a:prstGeom prst="rect">
            <a:avLst/>
          </a:prstGeom>
          <a:noFill/>
          <a:ln/>
        </p:spPr>
        <p:txBody>
          <a:bodyPr wrap="none" lIns="0" tIns="0" rIns="0" bIns="42863" rtlCol="0" anchor="t"/>
          <a:lstStyle/>
          <a:p>
            <a:pPr algn="l" indent="0" marL="0">
              <a:lnSpc>
                <a:spcPts val="1097"/>
              </a:lnSpc>
              <a:buNone/>
            </a:pPr>
            <a:r>
              <a:rPr lang="en-US" sz="800" b="1" spc="117" kern="0" dirty="0">
                <a:solidFill>
                  <a:srgbClr val="1F61C9"/>
                </a:solidFill>
                <a:latin typeface="Carlito" pitchFamily="34" charset="0"/>
                <a:ea typeface="Carlito" pitchFamily="34" charset="-122"/>
                <a:cs typeface="Carlito" pitchFamily="34" charset="-120"/>
              </a:rPr>
              <a:t>THE METHODOLOGY</a:t>
            </a:r>
            <a:endParaRPr lang="en-US" sz="800" dirty="0"/>
          </a:p>
        </p:txBody>
      </p:sp>
      <p:sp>
        <p:nvSpPr>
          <p:cNvPr id="19" name="Text 14"/>
          <p:cNvSpPr/>
          <p:nvPr/>
        </p:nvSpPr>
        <p:spPr>
          <a:xfrm>
            <a:off x="4951288" y="1544836"/>
            <a:ext cx="3678250" cy="1133285"/>
          </a:xfrm>
          <a:prstGeom prst="rect">
            <a:avLst/>
          </a:prstGeom>
          <a:noFill/>
          <a:ln/>
        </p:spPr>
        <p:txBody>
          <a:bodyPr wrap="square" lIns="0" tIns="0" rIns="0" bIns="0" rtlCol="0" anchor="t"/>
          <a:lstStyle/>
          <a:p>
            <a:pPr algn="l" marL="342900" indent="-342900">
              <a:lnSpc>
                <a:spcPts val="1519"/>
              </a:lnSpc>
              <a:spcAft>
                <a:spcPts val="338"/>
              </a:spcAft>
              <a:buSzPct val="100000"/>
              <a:buFont typeface="+mj-lt"/>
              <a:buAutoNum type="arabicPeriod" startAt="1"/>
            </a:pPr>
            <a:r>
              <a:rPr lang="en-US" sz="800" b="1" dirty="0">
                <a:solidFill>
                  <a:srgbClr val="FFFFFF"/>
                </a:solidFill>
                <a:highlight>
                  <a:srgbClr val="1F61C9"/>
                </a:highlight>
                <a:latin typeface="Liberation Sans Narrow" pitchFamily="34" charset="0"/>
                <a:ea typeface="Liberation Sans Narrow" pitchFamily="34" charset="-122"/>
                <a:cs typeface="Liberation Sans Narrow" pitchFamily="34" charset="-120"/>
              </a:rPr>
              <a:t>1</a:t>
            </a:r>
            <a:endParaRPr lang="en-US" sz="1013" dirty="0"/>
          </a:p>
          <a:p>
            <a:pPr algn="l" indent="0" marL="0">
              <a:lnSpc>
                <a:spcPts val="1519"/>
              </a:lnSpc>
              <a:spcAft>
                <a:spcPts val="338"/>
              </a:spcAft>
              <a:buNone/>
            </a:pPr>
            <a:r>
              <a:rPr lang="en-US" sz="1013" dirty="0">
                <a:solidFill>
                  <a:srgbClr val="14171F"/>
                </a:solidFill>
                <a:latin typeface="Carlito" pitchFamily="34" charset="0"/>
                <a:ea typeface="Carlito" pitchFamily="34" charset="-122"/>
                <a:cs typeface="Carlito" pitchFamily="34" charset="-120"/>
              </a:rPr>
              <a:t> Choose a step size h (smaller = more accurate, more work)</a:t>
            </a:r>
            <a:endParaRPr lang="en-US" sz="1013" dirty="0"/>
          </a:p>
          <a:p>
            <a:pPr algn="l" marL="342900" indent="-342900">
              <a:lnSpc>
                <a:spcPts val="1519"/>
              </a:lnSpc>
              <a:spcAft>
                <a:spcPts val="338"/>
              </a:spcAft>
              <a:buSzPct val="100000"/>
              <a:buFont typeface="+mj-lt"/>
              <a:buAutoNum type="arabicPeriod" startAt="1"/>
            </a:pPr>
            <a:r>
              <a:rPr lang="en-US" sz="800" b="1" dirty="0">
                <a:solidFill>
                  <a:srgbClr val="FFFFFF"/>
                </a:solidFill>
                <a:highlight>
                  <a:srgbClr val="1F61C9"/>
                </a:highlight>
                <a:latin typeface="Liberation Sans Narrow" pitchFamily="34" charset="0"/>
                <a:ea typeface="Liberation Sans Narrow" pitchFamily="34" charset="-122"/>
                <a:cs typeface="Liberation Sans Narrow" pitchFamily="34" charset="-120"/>
              </a:rPr>
              <a:t>2</a:t>
            </a:r>
            <a:endParaRPr lang="en-US" sz="1013" dirty="0"/>
          </a:p>
          <a:p>
            <a:pPr algn="l" indent="0" marL="0">
              <a:lnSpc>
                <a:spcPts val="1519"/>
              </a:lnSpc>
              <a:spcAft>
                <a:spcPts val="338"/>
              </a:spcAft>
              <a:buNone/>
            </a:pPr>
            <a:r>
              <a:rPr lang="en-US" sz="1013" dirty="0">
                <a:solidFill>
                  <a:srgbClr val="14171F"/>
                </a:solidFill>
                <a:latin typeface="Carlito" pitchFamily="34" charset="0"/>
                <a:ea typeface="Carlito" pitchFamily="34" charset="-122"/>
                <a:cs typeface="Carlito" pitchFamily="34" charset="-120"/>
              </a:rPr>
              <a:t> Start at the initial point (x0,y0)</a:t>
            </a:r>
            <a:endParaRPr lang="en-US" sz="1013" dirty="0"/>
          </a:p>
          <a:p>
            <a:pPr algn="l" marL="342900" indent="-342900">
              <a:lnSpc>
                <a:spcPts val="1519"/>
              </a:lnSpc>
              <a:spcAft>
                <a:spcPts val="338"/>
              </a:spcAft>
              <a:buSzPct val="100000"/>
              <a:buFont typeface="+mj-lt"/>
              <a:buAutoNum type="arabicPeriod" startAt="1"/>
            </a:pPr>
            <a:r>
              <a:rPr lang="en-US" sz="800" b="1" dirty="0">
                <a:solidFill>
                  <a:srgbClr val="FFFFFF"/>
                </a:solidFill>
                <a:highlight>
                  <a:srgbClr val="1F61C9"/>
                </a:highlight>
                <a:latin typeface="Liberation Sans Narrow" pitchFamily="34" charset="0"/>
                <a:ea typeface="Liberation Sans Narrow" pitchFamily="34" charset="-122"/>
                <a:cs typeface="Liberation Sans Narrow" pitchFamily="34" charset="-120"/>
              </a:rPr>
              <a:t>3</a:t>
            </a:r>
            <a:endParaRPr lang="en-US" sz="1013" dirty="0"/>
          </a:p>
          <a:p>
            <a:pPr algn="l" indent="0" marL="0">
              <a:lnSpc>
                <a:spcPts val="1519"/>
              </a:lnSpc>
              <a:spcAft>
                <a:spcPts val="338"/>
              </a:spcAft>
              <a:buNone/>
            </a:pPr>
            <a:r>
              <a:rPr lang="en-US" sz="1013" dirty="0">
                <a:solidFill>
                  <a:srgbClr val="14171F"/>
                </a:solidFill>
                <a:latin typeface="Carlito" pitchFamily="34" charset="0"/>
                <a:ea typeface="Carlito" pitchFamily="34" charset="-122"/>
                <a:cs typeface="Carlito" pitchFamily="34" charset="-120"/>
              </a:rPr>
              <a:t> Compute the slope sn=f(xn,yn)</a:t>
            </a:r>
            <a:endParaRPr lang="en-US" sz="1013" dirty="0"/>
          </a:p>
          <a:p>
            <a:pPr algn="l" marL="342900" indent="-342900">
              <a:lnSpc>
                <a:spcPts val="1519"/>
              </a:lnSpc>
              <a:spcAft>
                <a:spcPts val="338"/>
              </a:spcAft>
              <a:buSzPct val="100000"/>
              <a:buFont typeface="+mj-lt"/>
              <a:buAutoNum type="arabicPeriod" startAt="1"/>
            </a:pPr>
            <a:r>
              <a:rPr lang="en-US" sz="800" b="1" dirty="0">
                <a:solidFill>
                  <a:srgbClr val="FFFFFF"/>
                </a:solidFill>
                <a:highlight>
                  <a:srgbClr val="1F61C9"/>
                </a:highlight>
                <a:latin typeface="Liberation Sans Narrow" pitchFamily="34" charset="0"/>
                <a:ea typeface="Liberation Sans Narrow" pitchFamily="34" charset="-122"/>
                <a:cs typeface="Liberation Sans Narrow" pitchFamily="34" charset="-120"/>
              </a:rPr>
              <a:t>4</a:t>
            </a:r>
            <a:endParaRPr lang="en-US" sz="1013" dirty="0"/>
          </a:p>
          <a:p>
            <a:pPr algn="l" indent="0" marL="0">
              <a:lnSpc>
                <a:spcPts val="1519"/>
              </a:lnSpc>
              <a:spcAft>
                <a:spcPts val="338"/>
              </a:spcAft>
              <a:buNone/>
            </a:pPr>
            <a:r>
              <a:rPr lang="en-US" sz="1013" dirty="0">
                <a:solidFill>
                  <a:srgbClr val="14171F"/>
                </a:solidFill>
                <a:latin typeface="Carlito" pitchFamily="34" charset="0"/>
                <a:ea typeface="Carlito" pitchFamily="34" charset="-122"/>
                <a:cs typeface="Carlito" pitchFamily="34" charset="-120"/>
              </a:rPr>
              <a:t> Step: yn+1=yn+h⋅sn, xn+1=xn+h.</a:t>
            </a:r>
            <a:endParaRPr lang="en-US" sz="1013" dirty="0"/>
          </a:p>
          <a:p>
            <a:pPr algn="l" marL="342900" indent="-342900">
              <a:lnSpc>
                <a:spcPts val="1519"/>
              </a:lnSpc>
              <a:spcAft>
                <a:spcPts val="338"/>
              </a:spcAft>
              <a:buSzPct val="100000"/>
              <a:buFont typeface="+mj-lt"/>
              <a:buAutoNum type="arabicPeriod" startAt="1"/>
            </a:pPr>
            <a:r>
              <a:rPr lang="en-US" sz="800" b="1" dirty="0">
                <a:solidFill>
                  <a:srgbClr val="FFFFFF"/>
                </a:solidFill>
                <a:highlight>
                  <a:srgbClr val="1F61C9"/>
                </a:highlight>
                <a:latin typeface="Liberation Sans Narrow" pitchFamily="34" charset="0"/>
                <a:ea typeface="Liberation Sans Narrow" pitchFamily="34" charset="-122"/>
                <a:cs typeface="Liberation Sans Narrow" pitchFamily="34" charset="-120"/>
              </a:rPr>
              <a:t>5</a:t>
            </a:r>
            <a:endParaRPr lang="en-US" sz="1013" dirty="0"/>
          </a:p>
          <a:p>
            <a:pPr algn="l" indent="0" marL="0">
              <a:lnSpc>
                <a:spcPts val="1519"/>
              </a:lnSpc>
              <a:spcAft>
                <a:spcPts val="338"/>
              </a:spcAft>
              <a:buNone/>
            </a:pPr>
            <a:r>
              <a:rPr lang="en-US" sz="1013" dirty="0">
                <a:solidFill>
                  <a:srgbClr val="14171F"/>
                </a:solidFill>
                <a:latin typeface="Carlito" pitchFamily="34" charset="0"/>
                <a:ea typeface="Carlito" pitchFamily="34" charset="-122"/>
                <a:cs typeface="Carlito" pitchFamily="34" charset="-120"/>
              </a:rPr>
              <a:t> Repeat until you reach the target x.</a:t>
            </a:r>
            <a:endParaRPr lang="en-US" sz="1013" dirty="0"/>
          </a:p>
        </p:txBody>
      </p:sp>
      <p:sp>
        <p:nvSpPr>
          <p:cNvPr id="20" name="Text 15"/>
          <p:cNvSpPr/>
          <p:nvPr/>
        </p:nvSpPr>
        <p:spPr>
          <a:xfrm>
            <a:off x="4951288" y="2659261"/>
            <a:ext cx="3678250" cy="848544"/>
          </a:xfrm>
          <a:prstGeom prst="roundRect">
            <a:avLst>
              <a:gd name="adj" fmla="val 4490"/>
            </a:avLst>
          </a:prstGeom>
          <a:solidFill>
            <a:srgbClr val="FCEFD9"/>
          </a:solidFill>
          <a:ln/>
        </p:spPr>
        <p:txBody>
          <a:bodyPr wrap="square" rtlCol="0" anchor="ctr"/>
          <a:lstStyle/>
          <a:p>
            <a:pPr indent="0" marL="0">
              <a:buNone/>
            </a:pPr>
            <a:endParaRPr lang="en-US" dirty="0"/>
          </a:p>
        </p:txBody>
      </p:sp>
      <p:sp>
        <p:nvSpPr>
          <p:cNvPr id="21" name="Shape 16"/>
          <p:cNvSpPr/>
          <p:nvPr/>
        </p:nvSpPr>
        <p:spPr>
          <a:xfrm>
            <a:off x="4965576" y="2659261"/>
            <a:ext cx="0" cy="848544"/>
          </a:xfrm>
          <a:prstGeom prst="line">
            <a:avLst/>
          </a:prstGeom>
          <a:noFill/>
          <a:ln w="28575">
            <a:solidFill>
              <a:srgbClr val="E07B00"/>
            </a:solidFill>
            <a:prstDash val="solid"/>
          </a:ln>
        </p:spPr>
      </p:sp>
      <p:sp>
        <p:nvSpPr>
          <p:cNvPr id="22" name="Text 17"/>
          <p:cNvSpPr/>
          <p:nvPr/>
        </p:nvSpPr>
        <p:spPr>
          <a:xfrm>
            <a:off x="5094163" y="2744986"/>
            <a:ext cx="3421075" cy="154734"/>
          </a:xfrm>
          <a:prstGeom prst="rect">
            <a:avLst/>
          </a:prstGeom>
          <a:noFill/>
          <a:ln/>
        </p:spPr>
        <p:txBody>
          <a:bodyPr wrap="none" lIns="0" tIns="0" rIns="0" bIns="0" rtlCol="0" anchor="t">
            <a:normAutofit/>
          </a:bodyPr>
          <a:lstStyle/>
          <a:p>
            <a:pPr algn="l" indent="0" marL="0">
              <a:lnSpc>
                <a:spcPts val="1097"/>
              </a:lnSpc>
              <a:buNone/>
            </a:pPr>
            <a:r>
              <a:rPr lang="en-US" sz="800" b="1" spc="117" kern="0" dirty="0">
                <a:solidFill>
                  <a:srgbClr val="E07B00"/>
                </a:solidFill>
                <a:latin typeface="Carlito" pitchFamily="34" charset="0"/>
                <a:ea typeface="Carlito" pitchFamily="34" charset="-122"/>
                <a:cs typeface="Carlito" pitchFamily="34" charset="-120"/>
              </a:rPr>
              <a:t>ACCURACY</a:t>
            </a:r>
            <a:endParaRPr lang="en-US" sz="800" dirty="0"/>
          </a:p>
        </p:txBody>
      </p:sp>
      <p:sp>
        <p:nvSpPr>
          <p:cNvPr id="23" name="Text 18"/>
          <p:cNvSpPr/>
          <p:nvPr/>
        </p:nvSpPr>
        <p:spPr>
          <a:xfrm>
            <a:off x="5094163" y="2941439"/>
            <a:ext cx="1564146" cy="164592"/>
          </a:xfrm>
          <a:prstGeom prst="rect">
            <a:avLst/>
          </a:prstGeom>
          <a:noFill/>
          <a:ln/>
        </p:spPr>
        <p:txBody>
          <a:bodyPr wrap="square" lIns="0" tIns="0" rIns="0" bIns="0" rtlCol="0" anchor="t"/>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Local truncation error per step:</a:t>
            </a:r>
            <a:endParaRPr lang="en-US" sz="800" dirty="0"/>
          </a:p>
        </p:txBody>
      </p:sp>
      <p:pic>
        <p:nvPicPr>
          <p:cNvPr id="24" name="Image 3" descr="/tmp/h2p-svg-1781853766561-2cy0yg.png">    </p:cNvPr>
          <p:cNvPicPr>
            <a:picLocks noChangeAspect="1"/>
          </p:cNvPicPr>
          <p:nvPr/>
        </p:nvPicPr>
        <p:blipFill>
          <a:blip r:embed="rId4"/>
          <a:stretch>
            <a:fillRect/>
          </a:stretch>
        </p:blipFill>
        <p:spPr>
          <a:xfrm>
            <a:off x="6585310" y="2927152"/>
            <a:ext cx="366006" cy="146558"/>
          </a:xfrm>
          <a:prstGeom prst="rect">
            <a:avLst/>
          </a:prstGeom>
        </p:spPr>
      </p:pic>
      <p:sp>
        <p:nvSpPr>
          <p:cNvPr id="25" name="Text 19"/>
          <p:cNvSpPr/>
          <p:nvPr/>
        </p:nvSpPr>
        <p:spPr>
          <a:xfrm>
            <a:off x="5094163" y="3112108"/>
            <a:ext cx="1637408" cy="164592"/>
          </a:xfrm>
          <a:prstGeom prst="rect">
            <a:avLst/>
          </a:prstGeom>
          <a:noFill/>
          <a:ln/>
        </p:spPr>
        <p:txBody>
          <a:bodyPr wrap="square" lIns="0" tIns="0" rIns="0" bIns="0" rtlCol="0" anchor="t"/>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Global error over a fixed interval:</a:t>
            </a:r>
            <a:endParaRPr lang="en-US" sz="800" dirty="0"/>
          </a:p>
        </p:txBody>
      </p:sp>
      <p:pic>
        <p:nvPicPr>
          <p:cNvPr id="26" name="Image 4" descr="/tmp/h2p-svg-1781853766561-03li1k.png">    </p:cNvPr>
          <p:cNvPicPr>
            <a:picLocks noChangeAspect="1"/>
          </p:cNvPicPr>
          <p:nvPr/>
        </p:nvPicPr>
        <p:blipFill>
          <a:blip r:embed="rId5"/>
          <a:stretch>
            <a:fillRect/>
          </a:stretch>
        </p:blipFill>
        <p:spPr>
          <a:xfrm>
            <a:off x="6681750" y="3115121"/>
            <a:ext cx="309637" cy="129257"/>
          </a:xfrm>
          <a:prstGeom prst="rect">
            <a:avLst/>
          </a:prstGeom>
        </p:spPr>
      </p:pic>
      <p:sp>
        <p:nvSpPr>
          <p:cNvPr id="27" name="Text 20"/>
          <p:cNvSpPr/>
          <p:nvPr/>
        </p:nvSpPr>
        <p:spPr>
          <a:xfrm>
            <a:off x="5094163" y="3282776"/>
            <a:ext cx="3421075" cy="139303"/>
          </a:xfrm>
          <a:prstGeom prst="rect">
            <a:avLst/>
          </a:prstGeom>
          <a:noFill/>
          <a:ln/>
        </p:spPr>
        <p:txBody>
          <a:bodyPr wrap="square" lIns="0" tIns="0" rIns="0" bIns="0" rtlCol="0" anchor="t"/>
          <a:lstStyle/>
          <a:p>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Halving </a:t>
            </a:r>
            <a:pPr algn="l" indent="0" marL="0">
              <a:lnSpc>
                <a:spcPts val="1097"/>
              </a:lnSpc>
              <a:buNone/>
            </a:pPr>
            <a:r>
              <a:rPr lang="en-US" sz="800" i="1" dirty="0">
                <a:solidFill>
                  <a:srgbClr val="14171F"/>
                </a:solidFill>
                <a:latin typeface="Carlito" pitchFamily="34" charset="0"/>
                <a:ea typeface="Carlito" pitchFamily="34" charset="-122"/>
                <a:cs typeface="Carlito" pitchFamily="34" charset="-120"/>
              </a:rPr>
              <a:t>h</a:t>
            </a:r>
            <a:pPr algn="l" indent="0" marL="0">
              <a:lnSpc>
                <a:spcPts val="1097"/>
              </a:lnSpc>
              <a:buNone/>
            </a:pPr>
            <a:r>
              <a:rPr lang="en-US" sz="800" dirty="0">
                <a:solidFill>
                  <a:srgbClr val="14171F"/>
                </a:solidFill>
                <a:latin typeface="Carlito" pitchFamily="34" charset="0"/>
                <a:ea typeface="Carlito" pitchFamily="34" charset="-122"/>
                <a:cs typeface="Carlito" pitchFamily="34" charset="-120"/>
              </a:rPr>
              <a:t> roughly halves the total error — but doubles the work.</a:t>
            </a:r>
            <a:endParaRPr lang="en-US" sz="800" dirty="0"/>
          </a:p>
        </p:txBody>
      </p:sp>
      <p:sp>
        <p:nvSpPr>
          <p:cNvPr id="28" name="Text 2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31 / 38</a:t>
            </a:r>
            <a:endParaRPr lang="en-US" sz="800" dirty="0"/>
          </a:p>
        </p:txBody>
      </p:sp>
      <p:pic>
        <p:nvPicPr>
          <p:cNvPr id="29" name="Image 5" descr="preencoded.png">    </p:cNvPr>
          <p:cNvPicPr>
            <a:picLocks noChangeAspect="1"/>
          </p:cNvPicPr>
          <p:nvPr/>
        </p:nvPicPr>
        <p:blipFill>
          <a:blip r:embed="rId6"/>
          <a:stretch>
            <a:fillRect/>
          </a:stretch>
        </p:blipFill>
        <p:spPr>
          <a:xfrm>
            <a:off x="0" y="0"/>
            <a:ext cx="17145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408996"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METHOD 2</a:t>
            </a:r>
            <a:endParaRPr lang="en-US" sz="844" dirty="0"/>
          </a:p>
        </p:txBody>
      </p:sp>
      <p:sp>
        <p:nvSpPr>
          <p:cNvPr id="3" name="Text 1"/>
          <p:cNvSpPr/>
          <p:nvPr/>
        </p:nvSpPr>
        <p:spPr>
          <a:xfrm>
            <a:off x="685800" y="716161"/>
            <a:ext cx="8458200" cy="247602"/>
          </a:xfrm>
          <a:prstGeom prst="rect">
            <a:avLst/>
          </a:prstGeom>
          <a:noFill/>
          <a:ln/>
        </p:spPr>
        <p:txBody>
          <a:bodyPr wrap="square" lIns="0" tIns="0" rIns="0" bIns="0" rtlCol="0" anchor="t">
            <a:normAutofit/>
          </a:bodyPr>
          <a:lstStyle/>
          <a:p>
            <a:pPr algn="l" indent="0" marL="0">
              <a:lnSpc>
                <a:spcPts val="1941"/>
              </a:lnSpc>
              <a:buNone/>
            </a:pPr>
            <a:r>
              <a:rPr lang="en-US" sz="1688" b="1" dirty="0">
                <a:solidFill>
                  <a:srgbClr val="1A2A4F"/>
                </a:solidFill>
                <a:latin typeface="Carlito" pitchFamily="34" charset="0"/>
                <a:ea typeface="Carlito" pitchFamily="34" charset="-122"/>
                <a:cs typeface="Carlito" pitchFamily="34" charset="-120"/>
              </a:rPr>
              <a:t>Heun's Method — Improved Euler</a:t>
            </a:r>
            <a:endParaRPr lang="en-US" sz="1688" dirty="0"/>
          </a:p>
        </p:txBody>
      </p:sp>
      <p:sp>
        <p:nvSpPr>
          <p:cNvPr id="4" name="Text 2"/>
          <p:cNvSpPr/>
          <p:nvPr/>
        </p:nvSpPr>
        <p:spPr>
          <a:xfrm>
            <a:off x="685800" y="991195"/>
            <a:ext cx="8458200" cy="196739"/>
          </a:xfrm>
          <a:prstGeom prst="rect">
            <a:avLst/>
          </a:prstGeom>
          <a:noFill/>
          <a:ln/>
        </p:spPr>
        <p:txBody>
          <a:bodyPr wrap="none" lIns="0" tIns="0" rIns="0" bIns="0" rtlCol="0" anchor="t"/>
          <a:lstStyle/>
          <a:p>
            <a:pPr algn="l" indent="0" marL="0">
              <a:lnSpc>
                <a:spcPts val="1434"/>
              </a:lnSpc>
              <a:buNone/>
            </a:pPr>
            <a:r>
              <a:rPr lang="en-US" sz="956" i="1" dirty="0">
                <a:solidFill>
                  <a:srgbClr val="1F61C9"/>
                </a:solidFill>
                <a:latin typeface="Carlito" pitchFamily="34" charset="0"/>
                <a:ea typeface="Carlito" pitchFamily="34" charset="-122"/>
                <a:cs typeface="Carlito" pitchFamily="34" charset="-120"/>
              </a:rPr>
              <a:t>Predict, Then Correct</a:t>
            </a:r>
            <a:endParaRPr lang="en-US" sz="956" dirty="0"/>
          </a:p>
        </p:txBody>
      </p:sp>
      <p:sp>
        <p:nvSpPr>
          <p:cNvPr id="5" name="Shape 3"/>
          <p:cNvSpPr/>
          <p:nvPr/>
        </p:nvSpPr>
        <p:spPr>
          <a:xfrm>
            <a:off x="685800" y="1446609"/>
            <a:ext cx="3879056" cy="0"/>
          </a:xfrm>
          <a:prstGeom prst="line">
            <a:avLst/>
          </a:prstGeom>
          <a:noFill/>
          <a:ln w="7144">
            <a:solidFill>
              <a:srgbClr val="1F61C9"/>
            </a:solidFill>
            <a:prstDash val="solid"/>
          </a:ln>
        </p:spPr>
      </p:sp>
      <p:sp>
        <p:nvSpPr>
          <p:cNvPr id="6" name="Text 4"/>
          <p:cNvSpPr/>
          <p:nvPr/>
        </p:nvSpPr>
        <p:spPr>
          <a:xfrm>
            <a:off x="685800" y="1273373"/>
            <a:ext cx="4819000" cy="206526"/>
          </a:xfrm>
          <a:prstGeom prst="rect">
            <a:avLst/>
          </a:prstGeom>
          <a:noFill/>
          <a:ln/>
        </p:spPr>
        <p:txBody>
          <a:bodyPr wrap="none" lIns="0" tIns="0" rIns="0" bIns="35719" rtlCol="0" anchor="t">
            <a:normAutofit/>
          </a:bodyPr>
          <a:lstStyle/>
          <a:p>
            <a:pPr algn="l" indent="0" marL="0">
              <a:lnSpc>
                <a:spcPts val="1055"/>
              </a:lnSpc>
              <a:buNone/>
            </a:pPr>
            <a:r>
              <a:rPr lang="en-US" sz="800" b="1" spc="56" kern="0" dirty="0">
                <a:solidFill>
                  <a:srgbClr val="1F61C9"/>
                </a:solidFill>
                <a:latin typeface="Carlito" pitchFamily="34" charset="0"/>
                <a:ea typeface="Carlito" pitchFamily="34" charset="-122"/>
                <a:cs typeface="Carlito" pitchFamily="34" charset="-120"/>
              </a:rPr>
              <a:t>THE CORE LOGIC</a:t>
            </a:r>
            <a:endParaRPr lang="en-US" sz="800" dirty="0"/>
          </a:p>
        </p:txBody>
      </p:sp>
      <p:sp>
        <p:nvSpPr>
          <p:cNvPr id="7" name="Text 5"/>
          <p:cNvSpPr/>
          <p:nvPr/>
        </p:nvSpPr>
        <p:spPr>
          <a:xfrm>
            <a:off x="685800" y="1507331"/>
            <a:ext cx="3879056" cy="433563"/>
          </a:xfrm>
          <a:prstGeom prst="rect">
            <a:avLst/>
          </a:prstGeom>
          <a:noFill/>
          <a:ln/>
        </p:spPr>
        <p:txBody>
          <a:bodyPr wrap="square" lIns="0" tIns="0" rIns="0" bIns="0" rtlCol="0" anchor="t">
            <a:normAutofit/>
          </a:bodyPr>
          <a:lstStyle/>
          <a:p>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Euler's flaw: it uses only the slope at the START of the step, ignoring how the slope changes. Heun's fix: take an Euler step to </a:t>
            </a:r>
            <a:pPr algn="l" indent="0" marL="0">
              <a:lnSpc>
                <a:spcPts val="1060"/>
              </a:lnSpc>
              <a:buNone/>
            </a:pPr>
            <a:r>
              <a:rPr lang="en-US" sz="800" b="1" dirty="0">
                <a:solidFill>
                  <a:srgbClr val="14171F"/>
                </a:solidFill>
                <a:latin typeface="Carlito" pitchFamily="34" charset="0"/>
                <a:ea typeface="Carlito" pitchFamily="34" charset="-122"/>
                <a:cs typeface="Carlito" pitchFamily="34" charset="-120"/>
              </a:rPr>
              <a:t>PREDICT</a:t>
            </a:r>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 the endpoint, then use the </a:t>
            </a:r>
            <a:pPr algn="l" indent="0" marL="0">
              <a:lnSpc>
                <a:spcPts val="1060"/>
              </a:lnSpc>
              <a:buNone/>
            </a:pPr>
            <a:r>
              <a:rPr lang="en-US" sz="800" b="1" dirty="0">
                <a:solidFill>
                  <a:srgbClr val="14171F"/>
                </a:solidFill>
                <a:latin typeface="Carlito" pitchFamily="34" charset="0"/>
                <a:ea typeface="Carlito" pitchFamily="34" charset="-122"/>
                <a:cs typeface="Carlito" pitchFamily="34" charset="-120"/>
              </a:rPr>
              <a:t>AVERAGE</a:t>
            </a:r>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 of the starting and ending slopes to </a:t>
            </a:r>
            <a:pPr algn="l" indent="0" marL="0">
              <a:lnSpc>
                <a:spcPts val="1060"/>
              </a:lnSpc>
              <a:buNone/>
            </a:pPr>
            <a:r>
              <a:rPr lang="en-US" sz="800" b="1" dirty="0">
                <a:solidFill>
                  <a:srgbClr val="14171F"/>
                </a:solidFill>
                <a:latin typeface="Carlito" pitchFamily="34" charset="0"/>
                <a:ea typeface="Carlito" pitchFamily="34" charset="-122"/>
                <a:cs typeface="Carlito" pitchFamily="34" charset="-120"/>
              </a:rPr>
              <a:t>CORRECT</a:t>
            </a:r>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 the step.</a:t>
            </a:r>
            <a:endParaRPr lang="en-US" sz="800" dirty="0"/>
          </a:p>
        </p:txBody>
      </p:sp>
      <p:sp>
        <p:nvSpPr>
          <p:cNvPr id="8" name="Text 6"/>
          <p:cNvSpPr/>
          <p:nvPr/>
        </p:nvSpPr>
        <p:spPr>
          <a:xfrm>
            <a:off x="685800" y="1968326"/>
            <a:ext cx="4189381" cy="120801"/>
          </a:xfrm>
          <a:prstGeom prst="rect">
            <a:avLst/>
          </a:prstGeom>
          <a:noFill/>
          <a:ln/>
        </p:spPr>
        <p:txBody>
          <a:bodyPr wrap="square" lIns="0" tIns="0" rIns="0" bIns="0" rtlCol="0" anchor="t">
            <a:normAutofit/>
          </a:bodyPr>
          <a:lstStyle/>
          <a:p>
            <a:pPr algn="l" indent="0" marL="0">
              <a:lnSpc>
                <a:spcPts val="1055"/>
              </a:lnSpc>
              <a:buNone/>
            </a:pPr>
            <a:r>
              <a:rPr lang="en-US" sz="800" b="1" dirty="0">
                <a:solidFill>
                  <a:srgbClr val="14171F"/>
                </a:solidFill>
                <a:latin typeface="Carlito" pitchFamily="34" charset="0"/>
                <a:ea typeface="Carlito" pitchFamily="34" charset="-122"/>
                <a:cs typeface="Carlito" pitchFamily="34" charset="-120"/>
              </a:rPr>
              <a:t>Step 1 — Predict (Euler step to the endpoint):</a:t>
            </a:r>
            <a:endParaRPr lang="en-US" sz="800" dirty="0"/>
          </a:p>
        </p:txBody>
      </p:sp>
      <p:sp>
        <p:nvSpPr>
          <p:cNvPr id="9" name="Text 7"/>
          <p:cNvSpPr/>
          <p:nvPr/>
        </p:nvSpPr>
        <p:spPr>
          <a:xfrm>
            <a:off x="685800" y="2116559"/>
            <a:ext cx="3879056" cy="338770"/>
          </a:xfrm>
          <a:prstGeom prst="roundRect">
            <a:avLst>
              <a:gd name="adj" fmla="val 8435"/>
            </a:avLst>
          </a:prstGeom>
          <a:solidFill>
            <a:srgbClr val="F3ECF8"/>
          </a:solidFill>
          <a:ln/>
        </p:spPr>
        <p:txBody>
          <a:bodyPr wrap="square" rtlCol="0" anchor="ctr"/>
          <a:lstStyle/>
          <a:p>
            <a:pPr indent="0" marL="0">
              <a:buNone/>
            </a:pPr>
            <a:endParaRPr lang="en-US" dirty="0"/>
          </a:p>
        </p:txBody>
      </p:sp>
      <p:sp>
        <p:nvSpPr>
          <p:cNvPr id="10" name="Shape 8"/>
          <p:cNvSpPr/>
          <p:nvPr/>
        </p:nvSpPr>
        <p:spPr>
          <a:xfrm>
            <a:off x="696516" y="2116559"/>
            <a:ext cx="0" cy="338770"/>
          </a:xfrm>
          <a:prstGeom prst="line">
            <a:avLst/>
          </a:prstGeom>
          <a:noFill/>
          <a:ln w="21431">
            <a:solidFill>
              <a:srgbClr val="6B2FA0"/>
            </a:solidFill>
            <a:prstDash val="solid"/>
          </a:ln>
        </p:spPr>
      </p:sp>
      <p:pic>
        <p:nvPicPr>
          <p:cNvPr id="11" name="Image 0" descr="/tmp/h2p-svg-1781853766548-r6vafp.png">    </p:cNvPr>
          <p:cNvPicPr>
            <a:picLocks noChangeAspect="1"/>
          </p:cNvPicPr>
          <p:nvPr/>
        </p:nvPicPr>
        <p:blipFill>
          <a:blip r:embed="rId1"/>
          <a:stretch>
            <a:fillRect/>
          </a:stretch>
        </p:blipFill>
        <p:spPr>
          <a:xfrm>
            <a:off x="1905372" y="2208758"/>
            <a:ext cx="1461232" cy="145331"/>
          </a:xfrm>
          <a:prstGeom prst="rect">
            <a:avLst/>
          </a:prstGeom>
        </p:spPr>
      </p:pic>
      <p:sp>
        <p:nvSpPr>
          <p:cNvPr id="12" name="Text 9"/>
          <p:cNvSpPr/>
          <p:nvPr/>
        </p:nvSpPr>
        <p:spPr>
          <a:xfrm>
            <a:off x="685800" y="2512479"/>
            <a:ext cx="4189381" cy="120801"/>
          </a:xfrm>
          <a:prstGeom prst="rect">
            <a:avLst/>
          </a:prstGeom>
          <a:noFill/>
          <a:ln/>
        </p:spPr>
        <p:txBody>
          <a:bodyPr wrap="square" lIns="0" tIns="0" rIns="0" bIns="0" rtlCol="0" anchor="t">
            <a:normAutofit/>
          </a:bodyPr>
          <a:lstStyle/>
          <a:p>
            <a:pPr algn="l" indent="0" marL="0">
              <a:lnSpc>
                <a:spcPts val="1055"/>
              </a:lnSpc>
              <a:buNone/>
            </a:pPr>
            <a:r>
              <a:rPr lang="en-US" sz="800" b="1" dirty="0">
                <a:solidFill>
                  <a:srgbClr val="14171F"/>
                </a:solidFill>
                <a:latin typeface="Carlito" pitchFamily="34" charset="0"/>
                <a:ea typeface="Carlito" pitchFamily="34" charset="-122"/>
                <a:cs typeface="Carlito" pitchFamily="34" charset="-120"/>
              </a:rPr>
              <a:t>Step 2 — Correct (average the slopes):</a:t>
            </a:r>
            <a:endParaRPr lang="en-US" sz="800" dirty="0"/>
          </a:p>
        </p:txBody>
      </p:sp>
      <p:sp>
        <p:nvSpPr>
          <p:cNvPr id="13" name="Text 10"/>
          <p:cNvSpPr/>
          <p:nvPr/>
        </p:nvSpPr>
        <p:spPr>
          <a:xfrm>
            <a:off x="685800" y="2660712"/>
            <a:ext cx="3879056" cy="472715"/>
          </a:xfrm>
          <a:prstGeom prst="roundRect">
            <a:avLst>
              <a:gd name="adj" fmla="val 6045"/>
            </a:avLst>
          </a:prstGeom>
          <a:solidFill>
            <a:srgbClr val="F3ECF8"/>
          </a:solidFill>
          <a:ln/>
        </p:spPr>
        <p:txBody>
          <a:bodyPr wrap="square" rtlCol="0" anchor="ctr"/>
          <a:lstStyle/>
          <a:p>
            <a:pPr indent="0" marL="0">
              <a:buNone/>
            </a:pPr>
            <a:endParaRPr lang="en-US" dirty="0"/>
          </a:p>
        </p:txBody>
      </p:sp>
      <p:sp>
        <p:nvSpPr>
          <p:cNvPr id="14" name="Shape 11"/>
          <p:cNvSpPr/>
          <p:nvPr/>
        </p:nvSpPr>
        <p:spPr>
          <a:xfrm>
            <a:off x="696516" y="2660712"/>
            <a:ext cx="0" cy="472715"/>
          </a:xfrm>
          <a:prstGeom prst="line">
            <a:avLst/>
          </a:prstGeom>
          <a:noFill/>
          <a:ln w="21431">
            <a:solidFill>
              <a:srgbClr val="6B2FA0"/>
            </a:solidFill>
            <a:prstDash val="solid"/>
          </a:ln>
        </p:spPr>
      </p:sp>
      <p:pic>
        <p:nvPicPr>
          <p:cNvPr id="15" name="Image 1" descr="/tmp/h2p-svg-1781853766548-rcb7th.png">    </p:cNvPr>
          <p:cNvPicPr>
            <a:picLocks noChangeAspect="1"/>
          </p:cNvPicPr>
          <p:nvPr/>
        </p:nvPicPr>
        <p:blipFill>
          <a:blip r:embed="rId2"/>
          <a:stretch>
            <a:fillRect/>
          </a:stretch>
        </p:blipFill>
        <p:spPr>
          <a:xfrm>
            <a:off x="1320478" y="2747553"/>
            <a:ext cx="2631132" cy="299033"/>
          </a:xfrm>
          <a:prstGeom prst="rect">
            <a:avLst/>
          </a:prstGeom>
        </p:spPr>
      </p:pic>
      <p:sp>
        <p:nvSpPr>
          <p:cNvPr id="16" name="Shape 12"/>
          <p:cNvSpPr/>
          <p:nvPr/>
        </p:nvSpPr>
        <p:spPr>
          <a:xfrm>
            <a:off x="692944" y="3176290"/>
            <a:ext cx="0" cy="248469"/>
          </a:xfrm>
          <a:prstGeom prst="line">
            <a:avLst/>
          </a:prstGeom>
          <a:noFill/>
          <a:ln w="14288">
            <a:solidFill>
              <a:srgbClr val="E3E6EE"/>
            </a:solidFill>
            <a:prstDash val="solid"/>
          </a:ln>
        </p:spPr>
      </p:sp>
      <p:sp>
        <p:nvSpPr>
          <p:cNvPr id="17" name="Text 13"/>
          <p:cNvSpPr/>
          <p:nvPr/>
        </p:nvSpPr>
        <p:spPr>
          <a:xfrm>
            <a:off x="685800" y="3176290"/>
            <a:ext cx="3879056" cy="318040"/>
          </a:xfrm>
          <a:prstGeom prst="rect">
            <a:avLst/>
          </a:prstGeom>
          <a:noFill/>
          <a:ln/>
        </p:spPr>
        <p:txBody>
          <a:bodyPr wrap="square" lIns="71438" tIns="0" rIns="0" bIns="0" rtlCol="0" anchor="t"/>
          <a:lstStyle/>
          <a:p>
            <a:pPr algn="l" indent="0" marL="0">
              <a:lnSpc>
                <a:spcPts val="979"/>
              </a:lnSpc>
              <a:buNone/>
            </a:pPr>
            <a:r>
              <a:rPr lang="en-US" sz="800" i="1" dirty="0">
                <a:solidFill>
                  <a:srgbClr val="4A5160"/>
                </a:solidFill>
                <a:latin typeface="Carlito" pitchFamily="34" charset="0"/>
                <a:ea typeface="Carlito" pitchFamily="34" charset="-122"/>
                <a:cs typeface="Carlito" pitchFamily="34" charset="-120"/>
              </a:rPr>
              <a:t>This is the trapezoidal rule applied to the ODE — instead of a single rectangle (Euler), we use a trapezoid that accounts for the slope at both ends.</a:t>
            </a:r>
            <a:endParaRPr lang="en-US" sz="800" dirty="0"/>
          </a:p>
        </p:txBody>
      </p:sp>
      <p:sp>
        <p:nvSpPr>
          <p:cNvPr id="18" name="Shape 14"/>
          <p:cNvSpPr/>
          <p:nvPr/>
        </p:nvSpPr>
        <p:spPr>
          <a:xfrm>
            <a:off x="4750594" y="1446609"/>
            <a:ext cx="3879056" cy="0"/>
          </a:xfrm>
          <a:prstGeom prst="line">
            <a:avLst/>
          </a:prstGeom>
          <a:noFill/>
          <a:ln w="7144">
            <a:solidFill>
              <a:srgbClr val="1F61C9"/>
            </a:solidFill>
            <a:prstDash val="solid"/>
          </a:ln>
        </p:spPr>
      </p:sp>
      <p:sp>
        <p:nvSpPr>
          <p:cNvPr id="19" name="Text 15"/>
          <p:cNvSpPr/>
          <p:nvPr/>
        </p:nvSpPr>
        <p:spPr>
          <a:xfrm>
            <a:off x="4750594" y="1273373"/>
            <a:ext cx="4393406" cy="206526"/>
          </a:xfrm>
          <a:prstGeom prst="rect">
            <a:avLst/>
          </a:prstGeom>
          <a:noFill/>
          <a:ln/>
        </p:spPr>
        <p:txBody>
          <a:bodyPr wrap="none" lIns="0" tIns="0" rIns="0" bIns="35719" rtlCol="0" anchor="t">
            <a:normAutofit/>
          </a:bodyPr>
          <a:lstStyle/>
          <a:p>
            <a:pPr algn="l" indent="0" marL="0">
              <a:lnSpc>
                <a:spcPts val="1055"/>
              </a:lnSpc>
              <a:buNone/>
            </a:pPr>
            <a:r>
              <a:rPr lang="en-US" sz="800" b="1" spc="56" kern="0" dirty="0">
                <a:solidFill>
                  <a:srgbClr val="1F61C9"/>
                </a:solidFill>
                <a:latin typeface="Carlito" pitchFamily="34" charset="0"/>
                <a:ea typeface="Carlito" pitchFamily="34" charset="-122"/>
                <a:cs typeface="Carlito" pitchFamily="34" charset="-120"/>
              </a:rPr>
              <a:t>THE METHODOLOGY</a:t>
            </a:r>
            <a:endParaRPr lang="en-US" sz="800" dirty="0"/>
          </a:p>
        </p:txBody>
      </p:sp>
      <p:sp>
        <p:nvSpPr>
          <p:cNvPr id="20" name="Text 16"/>
          <p:cNvSpPr/>
          <p:nvPr/>
        </p:nvSpPr>
        <p:spPr>
          <a:xfrm>
            <a:off x="4750594" y="1507331"/>
            <a:ext cx="3879056" cy="1138031"/>
          </a:xfrm>
          <a:prstGeom prst="rect">
            <a:avLst/>
          </a:prstGeom>
          <a:noFill/>
          <a:ln/>
        </p:spPr>
        <p:txBody>
          <a:bodyPr wrap="square" lIns="0" tIns="0" rIns="0" bIns="0" rtlCol="0" anchor="t"/>
          <a:lstStyle/>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Choose step size </a:t>
            </a:r>
            <a:pPr algn="l" indent="0" marL="0">
              <a:lnSpc>
                <a:spcPts val="984"/>
              </a:lnSpc>
              <a:spcAft>
                <a:spcPts val="56"/>
              </a:spcAft>
              <a:buNone/>
            </a:pPr>
            <a:r>
              <a:rPr lang="en-US" sz="800" dirty="0">
                <a:solidFill>
                  <a:srgbClr val="14171F"/>
                </a:solidFill>
                <a:latin typeface="Courier New" pitchFamily="34" charset="0"/>
                <a:ea typeface="Courier New" pitchFamily="34" charset="-122"/>
                <a:cs typeface="Courier New" pitchFamily="34" charset="-120"/>
              </a:rPr>
              <a:t>h</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 Start at </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(x0,y0).</a:t>
            </a:r>
            <a:endParaRPr lang="en-US" sz="800" dirty="0"/>
          </a:p>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Predict: </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y~n+1=yn+hf(xn,yn).</a:t>
            </a:r>
            <a:endParaRPr lang="en-US" sz="800" dirty="0"/>
          </a:p>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Evaluate the slope at the predicted point: </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f(xn+1,y~n+1).</a:t>
            </a:r>
            <a:endParaRPr lang="en-US" sz="800" dirty="0"/>
          </a:p>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Correct: </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yn+1=yn+h2[f(xn,yn)+f(xn+1,y~n+1)].</a:t>
            </a:r>
            <a:endParaRPr lang="en-US" sz="800" dirty="0"/>
          </a:p>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Advance: </a:t>
            </a:r>
            <a:pPr algn="l" indent="0" marL="0">
              <a:lnSpc>
                <a:spcPts val="984"/>
              </a:lnSpc>
              <a:spcAft>
                <a:spcPts val="56"/>
              </a:spcAft>
              <a:buNone/>
            </a:pPr>
            <a:r>
              <a:rPr lang="en-US" sz="800" dirty="0">
                <a:solidFill>
                  <a:srgbClr val="14171F"/>
                </a:solidFill>
                <a:latin typeface="Carlito" pitchFamily="34" charset="0"/>
                <a:ea typeface="Carlito" pitchFamily="34" charset="-122"/>
                <a:cs typeface="Carlito" pitchFamily="34" charset="-120"/>
              </a:rPr>
              <a:t>xn+1=xn+h.</a:t>
            </a:r>
            <a:endParaRPr lang="en-US" sz="800" dirty="0"/>
          </a:p>
          <a:p>
            <a:pPr algn="l" marL="342900" indent="-342900">
              <a:lnSpc>
                <a:spcPts val="984"/>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Repeat.</a:t>
            </a:r>
            <a:endParaRPr lang="en-US" sz="800" dirty="0"/>
          </a:p>
        </p:txBody>
      </p:sp>
      <p:sp>
        <p:nvSpPr>
          <p:cNvPr id="21" name="Text 17"/>
          <p:cNvSpPr/>
          <p:nvPr/>
        </p:nvSpPr>
        <p:spPr>
          <a:xfrm>
            <a:off x="4750594" y="2631356"/>
            <a:ext cx="3879056" cy="546832"/>
          </a:xfrm>
          <a:prstGeom prst="roundRect">
            <a:avLst>
              <a:gd name="adj" fmla="val 6967"/>
            </a:avLst>
          </a:prstGeom>
          <a:solidFill>
            <a:srgbClr val="FCEFD9"/>
          </a:solidFill>
          <a:ln/>
        </p:spPr>
        <p:txBody>
          <a:bodyPr wrap="square" rtlCol="0" anchor="ctr"/>
          <a:lstStyle/>
          <a:p>
            <a:pPr indent="0" marL="0">
              <a:buNone/>
            </a:pPr>
            <a:endParaRPr lang="en-US" dirty="0"/>
          </a:p>
        </p:txBody>
      </p:sp>
      <p:sp>
        <p:nvSpPr>
          <p:cNvPr id="22" name="Shape 18"/>
          <p:cNvSpPr/>
          <p:nvPr/>
        </p:nvSpPr>
        <p:spPr>
          <a:xfrm>
            <a:off x="4764881" y="2631356"/>
            <a:ext cx="0" cy="546832"/>
          </a:xfrm>
          <a:prstGeom prst="line">
            <a:avLst/>
          </a:prstGeom>
          <a:noFill/>
          <a:ln w="28575">
            <a:solidFill>
              <a:srgbClr val="E07B00"/>
            </a:solidFill>
            <a:prstDash val="solid"/>
          </a:ln>
        </p:spPr>
      </p:sp>
      <p:sp>
        <p:nvSpPr>
          <p:cNvPr id="23" name="Text 19"/>
          <p:cNvSpPr/>
          <p:nvPr/>
        </p:nvSpPr>
        <p:spPr>
          <a:xfrm>
            <a:off x="4879181" y="2702793"/>
            <a:ext cx="3650456" cy="122587"/>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E07B00"/>
                </a:solidFill>
                <a:latin typeface="Carlito" pitchFamily="34" charset="0"/>
                <a:ea typeface="Carlito" pitchFamily="34" charset="-122"/>
                <a:cs typeface="Carlito" pitchFamily="34" charset="-120"/>
              </a:rPr>
              <a:t>ACCURACY</a:t>
            </a:r>
            <a:endParaRPr lang="en-US" sz="800" dirty="0"/>
          </a:p>
        </p:txBody>
      </p:sp>
      <p:sp>
        <p:nvSpPr>
          <p:cNvPr id="24" name="Text 20"/>
          <p:cNvSpPr/>
          <p:nvPr/>
        </p:nvSpPr>
        <p:spPr>
          <a:xfrm>
            <a:off x="4879181" y="2852812"/>
            <a:ext cx="3650456" cy="253938"/>
          </a:xfrm>
          <a:prstGeom prst="rect">
            <a:avLst/>
          </a:prstGeom>
          <a:noFill/>
          <a:ln/>
        </p:spPr>
        <p:txBody>
          <a:bodyPr wrap="square" lIns="0" tIns="0" rIns="0" bIns="0" rtlCol="0" anchor="t"/>
          <a:lstStyle/>
          <a:p>
            <a:pPr algn="l" indent="0" marL="0">
              <a:lnSpc>
                <a:spcPts val="984"/>
              </a:lnSpc>
              <a:buNone/>
            </a:pPr>
            <a:r>
              <a:rPr lang="en-US" sz="800" dirty="0">
                <a:solidFill>
                  <a:srgbClr val="14171F"/>
                </a:solidFill>
                <a:latin typeface="Carlito" pitchFamily="34" charset="0"/>
                <a:ea typeface="Carlito" pitchFamily="34" charset="-122"/>
                <a:cs typeface="Carlito" pitchFamily="34" charset="-120"/>
              </a:rPr>
              <a:t>Local truncation error: O(h3). Global error: O(h2). Twice the work of Euler per step, but typically 10–100× more accurate for the same total work.</a:t>
            </a:r>
            <a:endParaRPr lang="en-US" sz="800" dirty="0"/>
          </a:p>
        </p:txBody>
      </p:sp>
      <p:sp>
        <p:nvSpPr>
          <p:cNvPr id="25" name="Text 2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32 / 38</a:t>
            </a:r>
            <a:endParaRPr lang="en-US" sz="800" dirty="0"/>
          </a:p>
        </p:txBody>
      </p:sp>
      <p:pic>
        <p:nvPicPr>
          <p:cNvPr id="26" name="Image 2" descr="preencoded.png">    </p:cNvPr>
          <p:cNvPicPr>
            <a:picLocks noChangeAspect="1"/>
          </p:cNvPicPr>
          <p:nvPr/>
        </p:nvPicPr>
        <p:blipFill>
          <a:blip r:embed="rId3"/>
          <a:stretch>
            <a:fillRect/>
          </a:stretch>
        </p:blipFill>
        <p:spPr>
          <a:xfrm>
            <a:off x="0" y="0"/>
            <a:ext cx="17145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408996"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METHOD 3</a:t>
            </a:r>
            <a:endParaRPr lang="en-US" sz="844" dirty="0"/>
          </a:p>
        </p:txBody>
      </p:sp>
      <p:sp>
        <p:nvSpPr>
          <p:cNvPr id="3" name="Text 1"/>
          <p:cNvSpPr/>
          <p:nvPr/>
        </p:nvSpPr>
        <p:spPr>
          <a:xfrm>
            <a:off x="685800" y="716161"/>
            <a:ext cx="8458200" cy="214004"/>
          </a:xfrm>
          <a:prstGeom prst="rect">
            <a:avLst/>
          </a:prstGeom>
          <a:noFill/>
          <a:ln/>
        </p:spPr>
        <p:txBody>
          <a:bodyPr wrap="square" lIns="0" tIns="0" rIns="0" bIns="0" rtlCol="0" anchor="t">
            <a:normAutofit/>
          </a:bodyPr>
          <a:lstStyle/>
          <a:p>
            <a:pPr algn="l" indent="0" marL="0">
              <a:lnSpc>
                <a:spcPts val="1733"/>
              </a:lnSpc>
              <a:buNone/>
            </a:pPr>
            <a:r>
              <a:rPr lang="en-US" sz="1575" b="1" dirty="0">
                <a:solidFill>
                  <a:srgbClr val="1A2A4F"/>
                </a:solidFill>
                <a:latin typeface="Liberation Sans Narrow" pitchFamily="34" charset="0"/>
                <a:ea typeface="Liberation Sans Narrow" pitchFamily="34" charset="-122"/>
                <a:cs typeface="Liberation Sans Narrow" pitchFamily="34" charset="-120"/>
              </a:rPr>
              <a:t>RK4 — Classical Runge-Kutta</a:t>
            </a:r>
            <a:endParaRPr lang="en-US" sz="1575" dirty="0"/>
          </a:p>
        </p:txBody>
      </p:sp>
      <p:sp>
        <p:nvSpPr>
          <p:cNvPr id="4" name="Text 2"/>
          <p:cNvSpPr/>
          <p:nvPr/>
        </p:nvSpPr>
        <p:spPr>
          <a:xfrm>
            <a:off x="685800" y="957597"/>
            <a:ext cx="8458200" cy="185166"/>
          </a:xfrm>
          <a:prstGeom prst="rect">
            <a:avLst/>
          </a:prstGeom>
          <a:noFill/>
          <a:ln/>
        </p:spPr>
        <p:txBody>
          <a:bodyPr wrap="none" lIns="0" tIns="0" rIns="0" bIns="0" rtlCol="0" anchor="t"/>
          <a:lstStyle/>
          <a:p>
            <a:pPr algn="l" indent="0" marL="0">
              <a:lnSpc>
                <a:spcPts val="1350"/>
              </a:lnSpc>
              <a:buNone/>
            </a:pPr>
            <a:r>
              <a:rPr lang="en-US" sz="900" i="1" dirty="0">
                <a:solidFill>
                  <a:srgbClr val="1F61C9"/>
                </a:solidFill>
                <a:latin typeface="Carlito" pitchFamily="34" charset="0"/>
                <a:ea typeface="Carlito" pitchFamily="34" charset="-122"/>
                <a:cs typeface="Carlito" pitchFamily="34" charset="-120"/>
              </a:rPr>
              <a:t>The Industry Standard</a:t>
            </a:r>
            <a:endParaRPr lang="en-US" sz="900" dirty="0"/>
          </a:p>
        </p:txBody>
      </p:sp>
      <p:sp>
        <p:nvSpPr>
          <p:cNvPr id="5" name="Shape 3"/>
          <p:cNvSpPr/>
          <p:nvPr/>
        </p:nvSpPr>
        <p:spPr>
          <a:xfrm>
            <a:off x="685800" y="1346932"/>
            <a:ext cx="4088011" cy="0"/>
          </a:xfrm>
          <a:prstGeom prst="line">
            <a:avLst/>
          </a:prstGeom>
          <a:noFill/>
          <a:ln w="7144">
            <a:solidFill>
              <a:srgbClr val="1F61C9"/>
            </a:solidFill>
            <a:prstDash val="solid"/>
          </a:ln>
        </p:spPr>
      </p:sp>
      <p:sp>
        <p:nvSpPr>
          <p:cNvPr id="6" name="Text 4"/>
          <p:cNvSpPr/>
          <p:nvPr/>
        </p:nvSpPr>
        <p:spPr>
          <a:xfrm>
            <a:off x="685800" y="1186197"/>
            <a:ext cx="5067090" cy="179737"/>
          </a:xfrm>
          <a:prstGeom prst="rect">
            <a:avLst/>
          </a:prstGeom>
          <a:noFill/>
          <a:ln/>
        </p:spPr>
        <p:txBody>
          <a:bodyPr wrap="none" lIns="0" tIns="0" rIns="0" bIns="28575" rtlCol="0" anchor="t">
            <a:normAutofit/>
          </a:bodyPr>
          <a:lstStyle/>
          <a:p>
            <a:pPr algn="l" indent="0" marL="0">
              <a:lnSpc>
                <a:spcPts val="1013"/>
              </a:lnSpc>
              <a:buNone/>
            </a:pPr>
            <a:r>
              <a:rPr lang="en-US" sz="800" b="1" spc="54" kern="0" dirty="0">
                <a:solidFill>
                  <a:srgbClr val="1F61C9"/>
                </a:solidFill>
                <a:latin typeface="Carlito" pitchFamily="34" charset="0"/>
                <a:ea typeface="Carlito" pitchFamily="34" charset="-122"/>
                <a:cs typeface="Carlito" pitchFamily="34" charset="-120"/>
              </a:rPr>
              <a:t>THE CORE LOGIC</a:t>
            </a:r>
            <a:endParaRPr lang="en-US" sz="800" dirty="0"/>
          </a:p>
        </p:txBody>
      </p:sp>
      <p:sp>
        <p:nvSpPr>
          <p:cNvPr id="7" name="Text 5"/>
          <p:cNvSpPr/>
          <p:nvPr/>
        </p:nvSpPr>
        <p:spPr>
          <a:xfrm>
            <a:off x="685800" y="1393366"/>
            <a:ext cx="4088011" cy="368265"/>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RK4 samples the slope at FOUR points within each step — at the start, two midpoints, and the end — and takes a weighted average that cancels lower-order error terms. The four intermediate slopes are:</a:t>
            </a:r>
            <a:endParaRPr lang="en-US" sz="800" dirty="0"/>
          </a:p>
        </p:txBody>
      </p:sp>
      <p:sp>
        <p:nvSpPr>
          <p:cNvPr id="8" name="Text 6"/>
          <p:cNvSpPr/>
          <p:nvPr/>
        </p:nvSpPr>
        <p:spPr>
          <a:xfrm>
            <a:off x="685800" y="1789063"/>
            <a:ext cx="4292411" cy="91440"/>
          </a:xfrm>
          <a:prstGeom prst="rect">
            <a:avLst/>
          </a:prstGeom>
          <a:noFill/>
          <a:ln/>
        </p:spPr>
        <p:txBody>
          <a:bodyPr wrap="none" lIns="0" tIns="0" rIns="0" bIns="0" rtlCol="0" anchor="t">
            <a:normAutofit/>
          </a:bodyPr>
          <a:lstStyle/>
          <a:p>
            <a:pPr algn="l" indent="0" marL="0">
              <a:lnSpc>
                <a:spcPts val="841"/>
              </a:lnSpc>
              <a:buNone/>
            </a:pPr>
            <a:r>
              <a:rPr lang="en-US" sz="800" b="1" dirty="0">
                <a:solidFill>
                  <a:srgbClr val="14171F"/>
                </a:solidFill>
                <a:latin typeface="Liberation Sans Narrow" pitchFamily="34" charset="0"/>
                <a:ea typeface="Liberation Sans Narrow" pitchFamily="34" charset="-122"/>
                <a:cs typeface="Liberation Sans Narrow" pitchFamily="34" charset="-120"/>
              </a:rPr>
              <a:t>Step 1 — Slope at the start:</a:t>
            </a:r>
            <a:endParaRPr lang="en-US" sz="800" dirty="0"/>
          </a:p>
        </p:txBody>
      </p:sp>
      <p:sp>
        <p:nvSpPr>
          <p:cNvPr id="9" name="Text 7"/>
          <p:cNvSpPr/>
          <p:nvPr/>
        </p:nvSpPr>
        <p:spPr>
          <a:xfrm>
            <a:off x="685800" y="1902916"/>
            <a:ext cx="4088011" cy="237083"/>
          </a:xfrm>
          <a:prstGeom prst="roundRect">
            <a:avLst>
              <a:gd name="adj" fmla="val 12053"/>
            </a:avLst>
          </a:prstGeom>
          <a:solidFill>
            <a:srgbClr val="F3ECF8"/>
          </a:solidFill>
          <a:ln/>
        </p:spPr>
        <p:txBody>
          <a:bodyPr wrap="square" rtlCol="0" anchor="ctr"/>
          <a:lstStyle/>
          <a:p>
            <a:pPr indent="0" marL="0">
              <a:buNone/>
            </a:pPr>
            <a:endParaRPr lang="en-US" dirty="0"/>
          </a:p>
        </p:txBody>
      </p:sp>
      <p:sp>
        <p:nvSpPr>
          <p:cNvPr id="10" name="Shape 8"/>
          <p:cNvSpPr/>
          <p:nvPr/>
        </p:nvSpPr>
        <p:spPr>
          <a:xfrm>
            <a:off x="696516" y="1902916"/>
            <a:ext cx="0" cy="237083"/>
          </a:xfrm>
          <a:prstGeom prst="line">
            <a:avLst/>
          </a:prstGeom>
          <a:noFill/>
          <a:ln w="21431">
            <a:solidFill>
              <a:srgbClr val="6B2FA0"/>
            </a:solidFill>
            <a:prstDash val="solid"/>
          </a:ln>
        </p:spPr>
      </p:sp>
      <p:pic>
        <p:nvPicPr>
          <p:cNvPr id="11" name="Image 0" descr="/tmp/h2p-svg-1781853766704-ynp369.png">    </p:cNvPr>
          <p:cNvPicPr>
            <a:picLocks noChangeAspect="1"/>
          </p:cNvPicPr>
          <p:nvPr/>
        </p:nvPicPr>
        <p:blipFill>
          <a:blip r:embed="rId1"/>
          <a:stretch>
            <a:fillRect/>
          </a:stretch>
        </p:blipFill>
        <p:spPr>
          <a:xfrm>
            <a:off x="2332769" y="1956606"/>
            <a:ext cx="815504" cy="129257"/>
          </a:xfrm>
          <a:prstGeom prst="rect">
            <a:avLst/>
          </a:prstGeom>
        </p:spPr>
      </p:pic>
      <p:sp>
        <p:nvSpPr>
          <p:cNvPr id="12" name="Text 9"/>
          <p:cNvSpPr/>
          <p:nvPr/>
        </p:nvSpPr>
        <p:spPr>
          <a:xfrm>
            <a:off x="685800" y="2175718"/>
            <a:ext cx="4415052" cy="91440"/>
          </a:xfrm>
          <a:prstGeom prst="rect">
            <a:avLst/>
          </a:prstGeom>
          <a:noFill/>
          <a:ln/>
        </p:spPr>
        <p:txBody>
          <a:bodyPr wrap="square" lIns="0" tIns="0" rIns="0" bIns="0" rtlCol="0" anchor="t">
            <a:normAutofit/>
          </a:bodyPr>
          <a:lstStyle/>
          <a:p>
            <a:pPr algn="l" indent="0" marL="0">
              <a:lnSpc>
                <a:spcPts val="841"/>
              </a:lnSpc>
              <a:buNone/>
            </a:pPr>
            <a:r>
              <a:rPr lang="en-US" sz="800" b="1" dirty="0">
                <a:solidFill>
                  <a:srgbClr val="14171F"/>
                </a:solidFill>
                <a:latin typeface="Carlito" pitchFamily="34" charset="0"/>
                <a:ea typeface="Carlito" pitchFamily="34" charset="-122"/>
                <a:cs typeface="Carlito" pitchFamily="34" charset="-120"/>
              </a:rPr>
              <a:t>Step 2 — Slope at the midpoint (using k1):</a:t>
            </a:r>
            <a:endParaRPr lang="en-US" sz="800" dirty="0"/>
          </a:p>
        </p:txBody>
      </p:sp>
      <p:sp>
        <p:nvSpPr>
          <p:cNvPr id="13" name="Text 10"/>
          <p:cNvSpPr/>
          <p:nvPr/>
        </p:nvSpPr>
        <p:spPr>
          <a:xfrm>
            <a:off x="685800" y="2291804"/>
            <a:ext cx="4088011" cy="246571"/>
          </a:xfrm>
          <a:prstGeom prst="roundRect">
            <a:avLst>
              <a:gd name="adj" fmla="val 11589"/>
            </a:avLst>
          </a:prstGeom>
          <a:solidFill>
            <a:srgbClr val="F3ECF8"/>
          </a:solidFill>
          <a:ln/>
        </p:spPr>
        <p:txBody>
          <a:bodyPr wrap="square" rtlCol="0" anchor="ctr"/>
          <a:lstStyle/>
          <a:p>
            <a:pPr indent="0" marL="0">
              <a:buNone/>
            </a:pPr>
            <a:endParaRPr lang="en-US" dirty="0"/>
          </a:p>
        </p:txBody>
      </p:sp>
      <p:sp>
        <p:nvSpPr>
          <p:cNvPr id="14" name="Shape 11"/>
          <p:cNvSpPr/>
          <p:nvPr/>
        </p:nvSpPr>
        <p:spPr>
          <a:xfrm>
            <a:off x="696516" y="2291804"/>
            <a:ext cx="0" cy="246571"/>
          </a:xfrm>
          <a:prstGeom prst="line">
            <a:avLst/>
          </a:prstGeom>
          <a:noFill/>
          <a:ln w="21431">
            <a:solidFill>
              <a:srgbClr val="6B2FA0"/>
            </a:solidFill>
            <a:prstDash val="solid"/>
          </a:ln>
        </p:spPr>
      </p:sp>
      <p:pic>
        <p:nvPicPr>
          <p:cNvPr id="15" name="Image 1" descr="/tmp/h2p-svg-1781853766705-99d6mt.png">    </p:cNvPr>
          <p:cNvPicPr>
            <a:picLocks noChangeAspect="1"/>
          </p:cNvPicPr>
          <p:nvPr/>
        </p:nvPicPr>
        <p:blipFill>
          <a:blip r:embed="rId2"/>
          <a:stretch>
            <a:fillRect/>
          </a:stretch>
        </p:blipFill>
        <p:spPr>
          <a:xfrm>
            <a:off x="1983507" y="2335337"/>
            <a:ext cx="1513917" cy="159507"/>
          </a:xfrm>
          <a:prstGeom prst="rect">
            <a:avLst/>
          </a:prstGeom>
        </p:spPr>
      </p:pic>
      <p:sp>
        <p:nvSpPr>
          <p:cNvPr id="16" name="Text 12"/>
          <p:cNvSpPr/>
          <p:nvPr/>
        </p:nvSpPr>
        <p:spPr>
          <a:xfrm>
            <a:off x="685800" y="2574094"/>
            <a:ext cx="4415052" cy="91440"/>
          </a:xfrm>
          <a:prstGeom prst="rect">
            <a:avLst/>
          </a:prstGeom>
          <a:noFill/>
          <a:ln/>
        </p:spPr>
        <p:txBody>
          <a:bodyPr wrap="square" lIns="0" tIns="0" rIns="0" bIns="0" rtlCol="0" anchor="t">
            <a:normAutofit/>
          </a:bodyPr>
          <a:lstStyle/>
          <a:p>
            <a:pPr algn="l" indent="0" marL="0">
              <a:lnSpc>
                <a:spcPts val="841"/>
              </a:lnSpc>
              <a:buNone/>
            </a:pPr>
            <a:r>
              <a:rPr lang="en-US" sz="800" b="1" dirty="0">
                <a:solidFill>
                  <a:srgbClr val="14171F"/>
                </a:solidFill>
                <a:latin typeface="Carlito" pitchFamily="34" charset="0"/>
                <a:ea typeface="Carlito" pitchFamily="34" charset="-122"/>
                <a:cs typeface="Carlito" pitchFamily="34" charset="-120"/>
              </a:rPr>
              <a:t>Step 3 — Slope at the midpoint (using k2):</a:t>
            </a:r>
            <a:endParaRPr lang="en-US" sz="800" dirty="0"/>
          </a:p>
        </p:txBody>
      </p:sp>
      <p:sp>
        <p:nvSpPr>
          <p:cNvPr id="17" name="Text 13"/>
          <p:cNvSpPr/>
          <p:nvPr/>
        </p:nvSpPr>
        <p:spPr>
          <a:xfrm>
            <a:off x="685800" y="2690180"/>
            <a:ext cx="4088011" cy="246571"/>
          </a:xfrm>
          <a:prstGeom prst="roundRect">
            <a:avLst>
              <a:gd name="adj" fmla="val 11589"/>
            </a:avLst>
          </a:prstGeom>
          <a:solidFill>
            <a:srgbClr val="F3ECF8"/>
          </a:solidFill>
          <a:ln/>
        </p:spPr>
        <p:txBody>
          <a:bodyPr wrap="square" rtlCol="0" anchor="ctr"/>
          <a:lstStyle/>
          <a:p>
            <a:pPr indent="0" marL="0">
              <a:buNone/>
            </a:pPr>
            <a:endParaRPr lang="en-US" dirty="0"/>
          </a:p>
        </p:txBody>
      </p:sp>
      <p:sp>
        <p:nvSpPr>
          <p:cNvPr id="18" name="Shape 14"/>
          <p:cNvSpPr/>
          <p:nvPr/>
        </p:nvSpPr>
        <p:spPr>
          <a:xfrm>
            <a:off x="696516" y="2690180"/>
            <a:ext cx="0" cy="246571"/>
          </a:xfrm>
          <a:prstGeom prst="line">
            <a:avLst/>
          </a:prstGeom>
          <a:noFill/>
          <a:ln w="21431">
            <a:solidFill>
              <a:srgbClr val="6B2FA0"/>
            </a:solidFill>
            <a:prstDash val="solid"/>
          </a:ln>
        </p:spPr>
      </p:sp>
      <p:pic>
        <p:nvPicPr>
          <p:cNvPr id="19" name="Image 2" descr="/tmp/h2p-svg-1781853766705-e7gzzx.png">    </p:cNvPr>
          <p:cNvPicPr>
            <a:picLocks noChangeAspect="1"/>
          </p:cNvPicPr>
          <p:nvPr/>
        </p:nvPicPr>
        <p:blipFill>
          <a:blip r:embed="rId3"/>
          <a:stretch>
            <a:fillRect/>
          </a:stretch>
        </p:blipFill>
        <p:spPr>
          <a:xfrm>
            <a:off x="1983507" y="2733712"/>
            <a:ext cx="1513917" cy="159507"/>
          </a:xfrm>
          <a:prstGeom prst="rect">
            <a:avLst/>
          </a:prstGeom>
        </p:spPr>
      </p:pic>
      <p:sp>
        <p:nvSpPr>
          <p:cNvPr id="20" name="Text 15"/>
          <p:cNvSpPr/>
          <p:nvPr/>
        </p:nvSpPr>
        <p:spPr>
          <a:xfrm>
            <a:off x="685800" y="2972470"/>
            <a:ext cx="4415052" cy="91440"/>
          </a:xfrm>
          <a:prstGeom prst="rect">
            <a:avLst/>
          </a:prstGeom>
          <a:noFill/>
          <a:ln/>
        </p:spPr>
        <p:txBody>
          <a:bodyPr wrap="square" lIns="0" tIns="0" rIns="0" bIns="0" rtlCol="0" anchor="t">
            <a:normAutofit/>
          </a:bodyPr>
          <a:lstStyle/>
          <a:p>
            <a:pPr algn="l" indent="0" marL="0">
              <a:lnSpc>
                <a:spcPts val="841"/>
              </a:lnSpc>
              <a:buNone/>
            </a:pPr>
            <a:r>
              <a:rPr lang="en-US" sz="800" b="1" dirty="0">
                <a:solidFill>
                  <a:srgbClr val="14171F"/>
                </a:solidFill>
                <a:latin typeface="Carlito" pitchFamily="34" charset="0"/>
                <a:ea typeface="Carlito" pitchFamily="34" charset="-122"/>
                <a:cs typeface="Carlito" pitchFamily="34" charset="-120"/>
              </a:rPr>
              <a:t>Step 4 — Slope at the endpoint (using k3):</a:t>
            </a:r>
            <a:endParaRPr lang="en-US" sz="800" dirty="0"/>
          </a:p>
        </p:txBody>
      </p:sp>
      <p:sp>
        <p:nvSpPr>
          <p:cNvPr id="21" name="Text 16"/>
          <p:cNvSpPr/>
          <p:nvPr/>
        </p:nvSpPr>
        <p:spPr>
          <a:xfrm>
            <a:off x="685800" y="3088556"/>
            <a:ext cx="4088011" cy="237083"/>
          </a:xfrm>
          <a:prstGeom prst="roundRect">
            <a:avLst>
              <a:gd name="adj" fmla="val 12053"/>
            </a:avLst>
          </a:prstGeom>
          <a:solidFill>
            <a:srgbClr val="F3ECF8"/>
          </a:solidFill>
          <a:ln/>
        </p:spPr>
        <p:txBody>
          <a:bodyPr wrap="square" rtlCol="0" anchor="ctr"/>
          <a:lstStyle/>
          <a:p>
            <a:pPr indent="0" marL="0">
              <a:buNone/>
            </a:pPr>
            <a:endParaRPr lang="en-US" dirty="0"/>
          </a:p>
        </p:txBody>
      </p:sp>
      <p:sp>
        <p:nvSpPr>
          <p:cNvPr id="22" name="Shape 17"/>
          <p:cNvSpPr/>
          <p:nvPr/>
        </p:nvSpPr>
        <p:spPr>
          <a:xfrm>
            <a:off x="696516" y="3088556"/>
            <a:ext cx="0" cy="237083"/>
          </a:xfrm>
          <a:prstGeom prst="line">
            <a:avLst/>
          </a:prstGeom>
          <a:noFill/>
          <a:ln w="21431">
            <a:solidFill>
              <a:srgbClr val="6B2FA0"/>
            </a:solidFill>
            <a:prstDash val="solid"/>
          </a:ln>
        </p:spPr>
      </p:sp>
      <p:pic>
        <p:nvPicPr>
          <p:cNvPr id="23" name="Image 3" descr="/tmp/h2p-svg-1781853766705-f83h83.png">    </p:cNvPr>
          <p:cNvPicPr>
            <a:picLocks noChangeAspect="1"/>
          </p:cNvPicPr>
          <p:nvPr/>
        </p:nvPicPr>
        <p:blipFill>
          <a:blip r:embed="rId4"/>
          <a:stretch>
            <a:fillRect/>
          </a:stretch>
        </p:blipFill>
        <p:spPr>
          <a:xfrm>
            <a:off x="2027486" y="3142245"/>
            <a:ext cx="1425959" cy="129257"/>
          </a:xfrm>
          <a:prstGeom prst="rect">
            <a:avLst/>
          </a:prstGeom>
        </p:spPr>
      </p:pic>
      <p:sp>
        <p:nvSpPr>
          <p:cNvPr id="24" name="Text 18"/>
          <p:cNvSpPr/>
          <p:nvPr/>
        </p:nvSpPr>
        <p:spPr>
          <a:xfrm>
            <a:off x="685800" y="3361358"/>
            <a:ext cx="4088011" cy="91440"/>
          </a:xfrm>
          <a:prstGeom prst="rect">
            <a:avLst/>
          </a:prstGeom>
          <a:noFill/>
          <a:ln/>
        </p:spPr>
        <p:txBody>
          <a:bodyPr wrap="square" lIns="0" tIns="0" rIns="0" bIns="0" rtlCol="0" anchor="t">
            <a:normAutofit/>
          </a:bodyPr>
          <a:lstStyle/>
          <a:p>
            <a:pPr algn="l" indent="0" marL="0">
              <a:lnSpc>
                <a:spcPts val="841"/>
              </a:lnSpc>
              <a:buNone/>
            </a:pPr>
            <a:r>
              <a:rPr lang="en-US" sz="800" b="1" dirty="0">
                <a:solidFill>
                  <a:srgbClr val="14171F"/>
                </a:solidFill>
                <a:latin typeface="Carlito" pitchFamily="34" charset="0"/>
                <a:ea typeface="Carlito" pitchFamily="34" charset="-122"/>
                <a:cs typeface="Carlito" pitchFamily="34" charset="-120"/>
              </a:rPr>
              <a:t>Step 5 — Weighted average (weights 1 : 2 : 2 : 1, divided by 6):</a:t>
            </a:r>
            <a:endParaRPr lang="en-US" sz="800" dirty="0"/>
          </a:p>
        </p:txBody>
      </p:sp>
      <p:sp>
        <p:nvSpPr>
          <p:cNvPr id="25" name="Text 19"/>
          <p:cNvSpPr/>
          <p:nvPr/>
        </p:nvSpPr>
        <p:spPr>
          <a:xfrm>
            <a:off x="685800" y="3475211"/>
            <a:ext cx="4088011" cy="355625"/>
          </a:xfrm>
          <a:prstGeom prst="roundRect">
            <a:avLst>
              <a:gd name="adj" fmla="val 8035"/>
            </a:avLst>
          </a:prstGeom>
          <a:solidFill>
            <a:srgbClr val="F3ECF8"/>
          </a:solidFill>
          <a:ln/>
        </p:spPr>
        <p:txBody>
          <a:bodyPr wrap="square" rtlCol="0" anchor="ctr"/>
          <a:lstStyle/>
          <a:p>
            <a:pPr indent="0" marL="0">
              <a:buNone/>
            </a:pPr>
            <a:endParaRPr lang="en-US" dirty="0"/>
          </a:p>
        </p:txBody>
      </p:sp>
      <p:sp>
        <p:nvSpPr>
          <p:cNvPr id="26" name="Shape 20"/>
          <p:cNvSpPr/>
          <p:nvPr/>
        </p:nvSpPr>
        <p:spPr>
          <a:xfrm>
            <a:off x="696516" y="3475211"/>
            <a:ext cx="0" cy="355625"/>
          </a:xfrm>
          <a:prstGeom prst="line">
            <a:avLst/>
          </a:prstGeom>
          <a:noFill/>
          <a:ln w="21431">
            <a:solidFill>
              <a:srgbClr val="6B2FA0"/>
            </a:solidFill>
            <a:prstDash val="solid"/>
          </a:ln>
        </p:spPr>
      </p:sp>
      <p:pic>
        <p:nvPicPr>
          <p:cNvPr id="27" name="Image 4" descr="/tmp/h2p-svg-1781853766705-4e096i.png">    </p:cNvPr>
          <p:cNvPicPr>
            <a:picLocks noChangeAspect="1"/>
          </p:cNvPicPr>
          <p:nvPr/>
        </p:nvPicPr>
        <p:blipFill>
          <a:blip r:embed="rId5"/>
          <a:stretch>
            <a:fillRect/>
          </a:stretch>
        </p:blipFill>
        <p:spPr>
          <a:xfrm>
            <a:off x="1722537" y="3518743"/>
            <a:ext cx="2035857" cy="268560"/>
          </a:xfrm>
          <a:prstGeom prst="rect">
            <a:avLst/>
          </a:prstGeom>
        </p:spPr>
      </p:pic>
      <p:sp>
        <p:nvSpPr>
          <p:cNvPr id="28" name="Shape 21"/>
          <p:cNvSpPr/>
          <p:nvPr/>
        </p:nvSpPr>
        <p:spPr>
          <a:xfrm>
            <a:off x="4930973" y="1346932"/>
            <a:ext cx="3698677" cy="0"/>
          </a:xfrm>
          <a:prstGeom prst="line">
            <a:avLst/>
          </a:prstGeom>
          <a:noFill/>
          <a:ln w="7144">
            <a:solidFill>
              <a:srgbClr val="1F61C9"/>
            </a:solidFill>
            <a:prstDash val="solid"/>
          </a:ln>
        </p:spPr>
      </p:sp>
      <p:sp>
        <p:nvSpPr>
          <p:cNvPr id="29" name="Text 22"/>
          <p:cNvSpPr/>
          <p:nvPr/>
        </p:nvSpPr>
        <p:spPr>
          <a:xfrm>
            <a:off x="4930973" y="1186197"/>
            <a:ext cx="4213027" cy="179737"/>
          </a:xfrm>
          <a:prstGeom prst="rect">
            <a:avLst/>
          </a:prstGeom>
          <a:noFill/>
          <a:ln/>
        </p:spPr>
        <p:txBody>
          <a:bodyPr wrap="none" lIns="0" tIns="0" rIns="0" bIns="28575" rtlCol="0" anchor="t">
            <a:normAutofit/>
          </a:bodyPr>
          <a:lstStyle/>
          <a:p>
            <a:pPr algn="l" indent="0" marL="0">
              <a:lnSpc>
                <a:spcPts val="1013"/>
              </a:lnSpc>
              <a:buNone/>
            </a:pPr>
            <a:r>
              <a:rPr lang="en-US" sz="800" b="1" spc="54" kern="0" dirty="0">
                <a:solidFill>
                  <a:srgbClr val="1F61C9"/>
                </a:solidFill>
                <a:latin typeface="Carlito" pitchFamily="34" charset="0"/>
                <a:ea typeface="Carlito" pitchFamily="34" charset="-122"/>
                <a:cs typeface="Carlito" pitchFamily="34" charset="-120"/>
              </a:rPr>
              <a:t>WHY IT WORKS</a:t>
            </a:r>
            <a:endParaRPr lang="en-US" sz="800" dirty="0"/>
          </a:p>
        </p:txBody>
      </p:sp>
      <p:sp>
        <p:nvSpPr>
          <p:cNvPr id="30" name="Text 23"/>
          <p:cNvSpPr/>
          <p:nvPr/>
        </p:nvSpPr>
        <p:spPr>
          <a:xfrm>
            <a:off x="4930973" y="1393366"/>
            <a:ext cx="3698677" cy="406216"/>
          </a:xfrm>
          <a:prstGeom prst="rect">
            <a:avLst/>
          </a:prstGeom>
          <a:noFill/>
          <a:ln/>
        </p:spPr>
        <p:txBody>
          <a:bodyPr wrap="square" lIns="0" tIns="0" rIns="0" bIns="0" rtlCol="0" anchor="t">
            <a:normAutofit/>
          </a:bodyPr>
          <a:lstStyle/>
          <a:p>
            <a:pPr algn="l" indent="0" marL="0">
              <a:lnSpc>
                <a:spcPts val="945"/>
              </a:lnSpc>
              <a:buNone/>
            </a:pPr>
            <a:r>
              <a:rPr lang="en-US" sz="800" dirty="0">
                <a:solidFill>
                  <a:srgbClr val="14171F"/>
                </a:solidFill>
                <a:latin typeface="Carlito" pitchFamily="34" charset="0"/>
                <a:ea typeface="Carlito" pitchFamily="34" charset="-122"/>
                <a:cs typeface="Carlito" pitchFamily="34" charset="-120"/>
              </a:rPr>
              <a:t>The weights 1 : 2 : 2 : 1 are chosen so that the Taylor expansion of yn+1 matches the true Taylor series up to O(h4). The k2,k3 midpoint samples capture the curvature within the step; the k4 endpoint sample closes the error cancellation.</a:t>
            </a:r>
            <a:endParaRPr lang="en-US" sz="800" dirty="0"/>
          </a:p>
        </p:txBody>
      </p:sp>
      <p:sp>
        <p:nvSpPr>
          <p:cNvPr id="31" name="Shape 24"/>
          <p:cNvSpPr/>
          <p:nvPr/>
        </p:nvSpPr>
        <p:spPr>
          <a:xfrm>
            <a:off x="4930973" y="1987748"/>
            <a:ext cx="3698677" cy="0"/>
          </a:xfrm>
          <a:prstGeom prst="line">
            <a:avLst/>
          </a:prstGeom>
          <a:noFill/>
          <a:ln w="7144">
            <a:solidFill>
              <a:srgbClr val="1F61C9"/>
            </a:solidFill>
            <a:prstDash val="solid"/>
          </a:ln>
        </p:spPr>
      </p:sp>
      <p:sp>
        <p:nvSpPr>
          <p:cNvPr id="32" name="Text 25"/>
          <p:cNvSpPr/>
          <p:nvPr/>
        </p:nvSpPr>
        <p:spPr>
          <a:xfrm>
            <a:off x="4930973" y="1827014"/>
            <a:ext cx="4213027" cy="179737"/>
          </a:xfrm>
          <a:prstGeom prst="rect">
            <a:avLst/>
          </a:prstGeom>
          <a:noFill/>
          <a:ln/>
        </p:spPr>
        <p:txBody>
          <a:bodyPr wrap="none" lIns="0" tIns="0" rIns="0" bIns="28575" rtlCol="0" anchor="t">
            <a:normAutofit/>
          </a:bodyPr>
          <a:lstStyle/>
          <a:p>
            <a:pPr algn="l" indent="0" marL="0">
              <a:lnSpc>
                <a:spcPts val="1013"/>
              </a:lnSpc>
              <a:buNone/>
            </a:pPr>
            <a:r>
              <a:rPr lang="en-US" sz="800" b="1" spc="54" kern="0" dirty="0">
                <a:solidFill>
                  <a:srgbClr val="1F61C9"/>
                </a:solidFill>
                <a:latin typeface="Carlito" pitchFamily="34" charset="0"/>
                <a:ea typeface="Carlito" pitchFamily="34" charset="-122"/>
                <a:cs typeface="Carlito" pitchFamily="34" charset="-120"/>
              </a:rPr>
              <a:t>THE METHODOLOGY</a:t>
            </a:r>
            <a:endParaRPr lang="en-US" sz="800" dirty="0"/>
          </a:p>
        </p:txBody>
      </p:sp>
      <p:sp>
        <p:nvSpPr>
          <p:cNvPr id="33" name="Text 26"/>
          <p:cNvSpPr/>
          <p:nvPr/>
        </p:nvSpPr>
        <p:spPr>
          <a:xfrm>
            <a:off x="4930973" y="2034183"/>
            <a:ext cx="3698677" cy="821884"/>
          </a:xfrm>
          <a:prstGeom prst="rect">
            <a:avLst/>
          </a:prstGeom>
          <a:noFill/>
          <a:ln/>
        </p:spPr>
        <p:txBody>
          <a:bodyPr wrap="square" lIns="0" tIns="0" rIns="0" bIns="0" rtlCol="0" anchor="t"/>
          <a:lstStyle/>
          <a:p>
            <a:pPr algn="l" marL="342900" indent="-342900">
              <a:lnSpc>
                <a:spcPts val="873"/>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Choose </a:t>
            </a:r>
            <a:pPr algn="l" indent="0" marL="0">
              <a:lnSpc>
                <a:spcPts val="873"/>
              </a:lnSpc>
              <a:spcAft>
                <a:spcPts val="56"/>
              </a:spcAft>
              <a:buNone/>
            </a:pPr>
            <a:r>
              <a:rPr lang="en-US" sz="800" dirty="0">
                <a:solidFill>
                  <a:srgbClr val="14171F"/>
                </a:solidFill>
                <a:latin typeface="Carlito" pitchFamily="34" charset="0"/>
                <a:ea typeface="Carlito" pitchFamily="34" charset="-122"/>
                <a:cs typeface="Carlito" pitchFamily="34" charset="-120"/>
              </a:rPr>
              <a:t>h. Start at </a:t>
            </a:r>
            <a:pPr algn="l" indent="0" marL="0">
              <a:lnSpc>
                <a:spcPts val="873"/>
              </a:lnSpc>
              <a:spcAft>
                <a:spcPts val="56"/>
              </a:spcAft>
              <a:buNone/>
            </a:pPr>
            <a:r>
              <a:rPr lang="en-US" sz="800" dirty="0">
                <a:solidFill>
                  <a:srgbClr val="14171F"/>
                </a:solidFill>
                <a:latin typeface="Carlito" pitchFamily="34" charset="0"/>
                <a:ea typeface="Carlito" pitchFamily="34" charset="-122"/>
                <a:cs typeface="Carlito" pitchFamily="34" charset="-120"/>
              </a:rPr>
              <a:t>(x0,y0).</a:t>
            </a:r>
            <a:endParaRPr lang="en-US" sz="800" dirty="0"/>
          </a:p>
          <a:p>
            <a:pPr algn="l" marL="342900" indent="-342900">
              <a:lnSpc>
                <a:spcPts val="873"/>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Compute </a:t>
            </a:r>
            <a:pPr algn="l" indent="0" marL="0">
              <a:lnSpc>
                <a:spcPts val="873"/>
              </a:lnSpc>
              <a:spcAft>
                <a:spcPts val="56"/>
              </a:spcAft>
              <a:buNone/>
            </a:pPr>
            <a:r>
              <a:rPr lang="en-US" sz="800" dirty="0">
                <a:solidFill>
                  <a:srgbClr val="14171F"/>
                </a:solidFill>
                <a:latin typeface="Carlito" pitchFamily="34" charset="0"/>
                <a:ea typeface="Carlito" pitchFamily="34" charset="-122"/>
                <a:cs typeface="Carlito" pitchFamily="34" charset="-120"/>
              </a:rPr>
              <a:t>k1,k2,k3,k4 in order.</a:t>
            </a:r>
            <a:endParaRPr lang="en-US" sz="800" dirty="0"/>
          </a:p>
          <a:p>
            <a:pPr algn="l" marL="342900" indent="-342900">
              <a:lnSpc>
                <a:spcPts val="873"/>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Update: </a:t>
            </a:r>
            <a:pPr algn="l" indent="0" marL="0">
              <a:lnSpc>
                <a:spcPts val="873"/>
              </a:lnSpc>
              <a:spcAft>
                <a:spcPts val="56"/>
              </a:spcAft>
              <a:buNone/>
            </a:pPr>
            <a:r>
              <a:rPr lang="en-US" sz="800" dirty="0">
                <a:solidFill>
                  <a:srgbClr val="14171F"/>
                </a:solidFill>
                <a:latin typeface="Carlito" pitchFamily="34" charset="0"/>
                <a:ea typeface="Carlito" pitchFamily="34" charset="-122"/>
                <a:cs typeface="Carlito" pitchFamily="34" charset="-120"/>
              </a:rPr>
              <a:t>yn+1=yn+h6(k1+2k2+2k3+k4).</a:t>
            </a:r>
            <a:endParaRPr lang="en-US" sz="800" dirty="0"/>
          </a:p>
          <a:p>
            <a:pPr algn="l" marL="342900" indent="-342900">
              <a:lnSpc>
                <a:spcPts val="873"/>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Advance: </a:t>
            </a:r>
            <a:pPr algn="l" indent="0" marL="0">
              <a:lnSpc>
                <a:spcPts val="873"/>
              </a:lnSpc>
              <a:spcAft>
                <a:spcPts val="56"/>
              </a:spcAft>
              <a:buNone/>
            </a:pPr>
            <a:r>
              <a:rPr lang="en-US" sz="800" dirty="0">
                <a:solidFill>
                  <a:srgbClr val="14171F"/>
                </a:solidFill>
                <a:latin typeface="Carlito" pitchFamily="34" charset="0"/>
                <a:ea typeface="Carlito" pitchFamily="34" charset="-122"/>
                <a:cs typeface="Carlito" pitchFamily="34" charset="-120"/>
              </a:rPr>
              <a:t>xn+1=xn+h.</a:t>
            </a:r>
            <a:endParaRPr lang="en-US" sz="800" dirty="0"/>
          </a:p>
          <a:p>
            <a:pPr algn="l" marL="342900" indent="-342900">
              <a:lnSpc>
                <a:spcPts val="873"/>
              </a:lnSpc>
              <a:spcAft>
                <a:spcPts val="56"/>
              </a:spcAft>
              <a:buSzPct val="100000"/>
              <a:buFont typeface="+mj-lt"/>
              <a:buAutoNum type="arabicPeriod" startAt="1"/>
            </a:pPr>
            <a:r>
              <a:rPr lang="en-US" sz="800" dirty="0">
                <a:solidFill>
                  <a:srgbClr val="14171F"/>
                </a:solidFill>
                <a:latin typeface="Carlito" pitchFamily="34" charset="0"/>
                <a:ea typeface="Carlito" pitchFamily="34" charset="-122"/>
                <a:cs typeface="Carlito" pitchFamily="34" charset="-120"/>
              </a:rPr>
              <a:t>Repeat.</a:t>
            </a:r>
            <a:endParaRPr lang="en-US" sz="800" dirty="0"/>
          </a:p>
        </p:txBody>
      </p:sp>
      <p:sp>
        <p:nvSpPr>
          <p:cNvPr id="34" name="Text 27"/>
          <p:cNvSpPr/>
          <p:nvPr/>
        </p:nvSpPr>
        <p:spPr>
          <a:xfrm>
            <a:off x="4930973" y="2845668"/>
            <a:ext cx="3698677" cy="487003"/>
          </a:xfrm>
          <a:prstGeom prst="roundRect">
            <a:avLst>
              <a:gd name="adj" fmla="val 7823"/>
            </a:avLst>
          </a:prstGeom>
          <a:solidFill>
            <a:srgbClr val="FCEFD9"/>
          </a:solidFill>
          <a:ln/>
        </p:spPr>
        <p:txBody>
          <a:bodyPr wrap="square" rtlCol="0" anchor="ctr"/>
          <a:lstStyle/>
          <a:p>
            <a:pPr indent="0" marL="0">
              <a:buNone/>
            </a:pPr>
            <a:endParaRPr lang="en-US" dirty="0"/>
          </a:p>
        </p:txBody>
      </p:sp>
      <p:sp>
        <p:nvSpPr>
          <p:cNvPr id="35" name="Shape 28"/>
          <p:cNvSpPr/>
          <p:nvPr/>
        </p:nvSpPr>
        <p:spPr>
          <a:xfrm>
            <a:off x="4945261" y="2845668"/>
            <a:ext cx="0" cy="487003"/>
          </a:xfrm>
          <a:prstGeom prst="line">
            <a:avLst/>
          </a:prstGeom>
          <a:noFill/>
          <a:ln w="28575">
            <a:solidFill>
              <a:srgbClr val="E07B00"/>
            </a:solidFill>
            <a:prstDash val="solid"/>
          </a:ln>
        </p:spPr>
      </p:sp>
      <p:sp>
        <p:nvSpPr>
          <p:cNvPr id="36" name="Text 29"/>
          <p:cNvSpPr/>
          <p:nvPr/>
        </p:nvSpPr>
        <p:spPr>
          <a:xfrm>
            <a:off x="5045273" y="2902818"/>
            <a:ext cx="3498652" cy="104727"/>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E07B00"/>
                </a:solidFill>
                <a:latin typeface="Carlito" pitchFamily="34" charset="0"/>
                <a:ea typeface="Carlito" pitchFamily="34" charset="-122"/>
                <a:cs typeface="Carlito" pitchFamily="34" charset="-120"/>
              </a:rPr>
              <a:t>ACCURACY</a:t>
            </a:r>
            <a:endParaRPr lang="en-US" sz="800" dirty="0"/>
          </a:p>
        </p:txBody>
      </p:sp>
      <p:sp>
        <p:nvSpPr>
          <p:cNvPr id="37" name="Text 30"/>
          <p:cNvSpPr/>
          <p:nvPr/>
        </p:nvSpPr>
        <p:spPr>
          <a:xfrm>
            <a:off x="5045273" y="3034978"/>
            <a:ext cx="3498652" cy="240543"/>
          </a:xfrm>
          <a:prstGeom prst="rect">
            <a:avLst/>
          </a:prstGeom>
          <a:noFill/>
          <a:ln/>
        </p:spPr>
        <p:txBody>
          <a:bodyPr wrap="square" lIns="0" tIns="0" rIns="0" bIns="0" rtlCol="0" anchor="t"/>
          <a:lstStyle/>
          <a:p>
            <a:pPr algn="l" indent="0" marL="0">
              <a:lnSpc>
                <a:spcPts val="873"/>
              </a:lnSpc>
              <a:buNone/>
            </a:pPr>
            <a:r>
              <a:rPr lang="en-US" sz="800" dirty="0">
                <a:solidFill>
                  <a:srgbClr val="14171F"/>
                </a:solidFill>
                <a:latin typeface="Carlito" pitchFamily="34" charset="0"/>
                <a:ea typeface="Carlito" pitchFamily="34" charset="-122"/>
                <a:cs typeface="Carlito" pitchFamily="34" charset="-120"/>
              </a:rPr>
              <a:t>Local error: O(h5). Global error: O(h4). 4× the work of Euler per step, but ~1000× more accurate. The default choice in MATLAB, SciPy, and engineering software.</a:t>
            </a:r>
            <a:endParaRPr lang="en-US" sz="800" dirty="0"/>
          </a:p>
        </p:txBody>
      </p:sp>
      <p:sp>
        <p:nvSpPr>
          <p:cNvPr id="38" name="Text 3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33 / 38</a:t>
            </a:r>
            <a:endParaRPr lang="en-US" sz="800" dirty="0"/>
          </a:p>
        </p:txBody>
      </p:sp>
      <p:pic>
        <p:nvPicPr>
          <p:cNvPr id="39" name="Image 5" descr="preencoded.png">    </p:cNvPr>
          <p:cNvPicPr>
            <a:picLocks noChangeAspect="1"/>
          </p:cNvPicPr>
          <p:nvPr/>
        </p:nvPicPr>
        <p:blipFill>
          <a:blip r:embed="rId6"/>
          <a:stretch>
            <a:fillRect/>
          </a:stretch>
        </p:blipFill>
        <p:spPr>
          <a:xfrm>
            <a:off x="0" y="0"/>
            <a:ext cx="17145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2609442"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LIVE MATHEMATICS</a:t>
            </a:r>
            <a:endParaRPr lang="en-US" sz="844" dirty="0"/>
          </a:p>
        </p:txBody>
      </p:sp>
      <p:sp>
        <p:nvSpPr>
          <p:cNvPr id="3" name="Text 1"/>
          <p:cNvSpPr/>
          <p:nvPr/>
        </p:nvSpPr>
        <p:spPr>
          <a:xfrm>
            <a:off x="685800" y="716161"/>
            <a:ext cx="8458200" cy="214004"/>
          </a:xfrm>
          <a:prstGeom prst="rect">
            <a:avLst/>
          </a:prstGeom>
          <a:noFill/>
          <a:ln/>
        </p:spPr>
        <p:txBody>
          <a:bodyPr wrap="square" lIns="0" tIns="0" rIns="0" bIns="0" rtlCol="0" anchor="t">
            <a:normAutofit/>
          </a:bodyPr>
          <a:lstStyle/>
          <a:p>
            <a:pPr algn="l" indent="0" marL="0">
              <a:lnSpc>
                <a:spcPts val="1733"/>
              </a:lnSpc>
              <a:buNone/>
            </a:pPr>
            <a:r>
              <a:rPr lang="en-US" sz="1575" b="1" dirty="0">
                <a:solidFill>
                  <a:srgbClr val="1A2A4F"/>
                </a:solidFill>
                <a:latin typeface="Carlito" pitchFamily="34" charset="0"/>
                <a:ea typeface="Carlito" pitchFamily="34" charset="-122"/>
                <a:cs typeface="Carlito" pitchFamily="34" charset="-120"/>
              </a:rPr>
              <a:t>Worked Example — Three Methods Compared</a:t>
            </a:r>
            <a:endParaRPr lang="en-US" sz="1575" dirty="0"/>
          </a:p>
        </p:txBody>
      </p:sp>
      <p:sp>
        <p:nvSpPr>
          <p:cNvPr id="4" name="Text 2"/>
          <p:cNvSpPr/>
          <p:nvPr/>
        </p:nvSpPr>
        <p:spPr>
          <a:xfrm>
            <a:off x="685800" y="957597"/>
            <a:ext cx="8458200" cy="185166"/>
          </a:xfrm>
          <a:prstGeom prst="rect">
            <a:avLst/>
          </a:prstGeom>
          <a:noFill/>
          <a:ln/>
        </p:spPr>
        <p:txBody>
          <a:bodyPr wrap="none" lIns="0" tIns="0" rIns="0" bIns="0" rtlCol="0" anchor="t"/>
          <a:lstStyle/>
          <a:p>
            <a:pPr algn="l" indent="0" marL="0">
              <a:lnSpc>
                <a:spcPts val="1350"/>
              </a:lnSpc>
              <a:buNone/>
            </a:pPr>
            <a:r>
              <a:rPr lang="en-US" sz="900" i="1" dirty="0">
                <a:solidFill>
                  <a:srgbClr val="1F61C9"/>
                </a:solidFill>
                <a:latin typeface="Liberation Sans Narrow" pitchFamily="34" charset="0"/>
                <a:ea typeface="Liberation Sans Narrow" pitchFamily="34" charset="-122"/>
                <a:cs typeface="Liberation Sans Narrow" pitchFamily="34" charset="-120"/>
              </a:rPr>
              <a:t>dy/dx = y, y(0) = 1, h = 0.1</a:t>
            </a:r>
            <a:endParaRPr lang="en-US" sz="900" dirty="0"/>
          </a:p>
        </p:txBody>
      </p:sp>
      <p:sp>
        <p:nvSpPr>
          <p:cNvPr id="5" name="Text 3"/>
          <p:cNvSpPr/>
          <p:nvPr/>
        </p:nvSpPr>
        <p:spPr>
          <a:xfrm>
            <a:off x="685800" y="1186197"/>
            <a:ext cx="7943850" cy="770297"/>
          </a:xfrm>
          <a:prstGeom prst="roundRect">
            <a:avLst>
              <a:gd name="adj" fmla="val 4946"/>
            </a:avLst>
          </a:prstGeom>
          <a:solidFill>
            <a:srgbClr val="F6F7FB"/>
          </a:solidFill>
          <a:ln/>
        </p:spPr>
        <p:txBody>
          <a:bodyPr wrap="square" rtlCol="0" anchor="ctr"/>
          <a:lstStyle/>
          <a:p>
            <a:pPr indent="0" marL="0">
              <a:buNone/>
            </a:pPr>
            <a:endParaRPr lang="en-US" dirty="0"/>
          </a:p>
        </p:txBody>
      </p:sp>
      <p:sp>
        <p:nvSpPr>
          <p:cNvPr id="6" name="Shape 4"/>
          <p:cNvSpPr/>
          <p:nvPr/>
        </p:nvSpPr>
        <p:spPr>
          <a:xfrm>
            <a:off x="700088" y="1186197"/>
            <a:ext cx="0" cy="770297"/>
          </a:xfrm>
          <a:prstGeom prst="line">
            <a:avLst/>
          </a:prstGeom>
          <a:noFill/>
          <a:ln w="28575">
            <a:solidFill>
              <a:srgbClr val="1F61C9"/>
            </a:solidFill>
            <a:prstDash val="solid"/>
          </a:ln>
        </p:spPr>
      </p:sp>
      <p:sp>
        <p:nvSpPr>
          <p:cNvPr id="7" name="Text 5"/>
          <p:cNvSpPr/>
          <p:nvPr/>
        </p:nvSpPr>
        <p:spPr>
          <a:xfrm>
            <a:off x="814388" y="1250491"/>
            <a:ext cx="7715250" cy="111871"/>
          </a:xfrm>
          <a:prstGeom prst="rect">
            <a:avLst/>
          </a:prstGeom>
          <a:noFill/>
          <a:ln/>
        </p:spPr>
        <p:txBody>
          <a:bodyPr wrap="none" lIns="0" tIns="0" rIns="0" bIns="0" rtlCol="0" anchor="t">
            <a:normAutofit/>
          </a:bodyPr>
          <a:lstStyle/>
          <a:p>
            <a:pPr algn="l" indent="0" marL="0">
              <a:lnSpc>
                <a:spcPts val="928"/>
              </a:lnSpc>
              <a:buNone/>
            </a:pPr>
            <a:r>
              <a:rPr lang="en-US" sz="800" b="1" spc="50" kern="0" dirty="0">
                <a:solidFill>
                  <a:srgbClr val="1F61C9"/>
                </a:solidFill>
                <a:latin typeface="Carlito" pitchFamily="34" charset="0"/>
                <a:ea typeface="Carlito" pitchFamily="34" charset="-122"/>
                <a:cs typeface="Carlito" pitchFamily="34" charset="-120"/>
              </a:rPr>
              <a:t>Problem Statement</a:t>
            </a:r>
            <a:endParaRPr lang="en-US" sz="800" dirty="0"/>
          </a:p>
        </p:txBody>
      </p:sp>
      <p:sp>
        <p:nvSpPr>
          <p:cNvPr id="8" name="Text 6"/>
          <p:cNvSpPr/>
          <p:nvPr/>
        </p:nvSpPr>
        <p:spPr>
          <a:xfrm>
            <a:off x="814388" y="1389794"/>
            <a:ext cx="7715250" cy="167012"/>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14171F"/>
                </a:solidFill>
                <a:latin typeface="Carlito" pitchFamily="34" charset="0"/>
                <a:ea typeface="Carlito" pitchFamily="34" charset="-122"/>
                <a:cs typeface="Carlito" pitchFamily="34" charset="-120"/>
              </a:rPr>
              <a:t>Solve y′ = y with y(0) = 1 on [0, 0.3] using step size h = 0.1. Compare to the exact solution y = e</a:t>
            </a:r>
            <a:pPr algn="l" indent="0" marL="0">
              <a:lnSpc>
                <a:spcPts val="1024"/>
              </a:lnSpc>
              <a:buNone/>
            </a:pPr>
            <a:r>
              <a:rPr lang="en-US" sz="800" baseline="30000" dirty="0">
                <a:solidFill>
                  <a:srgbClr val="14171F"/>
                </a:solidFill>
                <a:latin typeface="Carlito" pitchFamily="34" charset="0"/>
                <a:ea typeface="Carlito" pitchFamily="34" charset="-122"/>
                <a:cs typeface="Carlito" pitchFamily="34" charset="-120"/>
              </a:rPr>
              <a:t>x</a:t>
            </a:r>
            <a:pPr algn="l" indent="0" marL="0">
              <a:lnSpc>
                <a:spcPts val="1024"/>
              </a:lnSpc>
              <a:buNone/>
            </a:pPr>
            <a:r>
              <a:rPr lang="en-US" sz="800" dirty="0">
                <a:solidFill>
                  <a:srgbClr val="14171F"/>
                </a:solidFill>
                <a:latin typeface="Carlito" pitchFamily="34" charset="0"/>
                <a:ea typeface="Carlito" pitchFamily="34" charset="-122"/>
                <a:cs typeface="Carlito" pitchFamily="34" charset="-120"/>
              </a:rPr>
              <a:t>.</a:t>
            </a:r>
            <a:endParaRPr lang="en-US" sz="800" dirty="0"/>
          </a:p>
        </p:txBody>
      </p:sp>
      <p:pic>
        <p:nvPicPr>
          <p:cNvPr id="9" name="Image 0" descr="/tmp/h2p-svg-1781853766822-7mbq8s.png">    </p:cNvPr>
          <p:cNvPicPr>
            <a:picLocks noChangeAspect="1"/>
          </p:cNvPicPr>
          <p:nvPr/>
        </p:nvPicPr>
        <p:blipFill>
          <a:blip r:embed="rId1"/>
          <a:stretch>
            <a:fillRect/>
          </a:stretch>
        </p:blipFill>
        <p:spPr>
          <a:xfrm>
            <a:off x="3445743" y="1584238"/>
            <a:ext cx="2452539" cy="267221"/>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85800" y="2027932"/>
          <a:ext cx="7943850" cy="914400"/>
        </p:xfrm>
        <a:graphic>
          <a:graphicData uri="http://schemas.openxmlformats.org/drawingml/2006/table">
            <a:tbl>
              <a:tblPr/>
              <a:tblGrid>
                <a:gridCol w="1052029"/>
                <a:gridCol w="1580890"/>
                <a:gridCol w="1580890"/>
                <a:gridCol w="1580890"/>
                <a:gridCol w="2142009"/>
              </a:tblGrid>
              <a:tr h="0">
                <a:tc>
                  <a:txBody>
                    <a:bodyPr/>
                    <a:lstStyle/>
                    <a:p>
                      <a:pPr algn="ctr" indent="0" marL="0">
                        <a:buNone/>
                      </a:pPr>
                      <a:r>
                        <a:rPr lang="en-US" sz="800" b="1" dirty="0">
                          <a:solidFill>
                            <a:srgbClr val="FFFFFF"/>
                          </a:solidFill>
                          <a:latin typeface="Carlito" pitchFamily="34" charset="0"/>
                          <a:ea typeface="Carlito" pitchFamily="34" charset="-122"/>
                          <a:cs typeface="Carlito" pitchFamily="34" charset="-120"/>
                        </a:rPr>
                        <a:t>x</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r" indent="0" marL="0">
                        <a:buNone/>
                      </a:pPr>
                      <a:r>
                        <a:rPr lang="en-US" sz="800" b="1" dirty="0">
                          <a:solidFill>
                            <a:srgbClr val="FFFFFF"/>
                          </a:solidFill>
                          <a:latin typeface="Carlito" pitchFamily="34" charset="0"/>
                          <a:ea typeface="Carlito" pitchFamily="34" charset="-122"/>
                          <a:cs typeface="Carlito" pitchFamily="34" charset="-120"/>
                        </a:rPr>
                        <a:t>Euler</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r" indent="0" marL="0">
                        <a:buNone/>
                      </a:pPr>
                      <a:r>
                        <a:rPr lang="en-US" sz="800" b="1" dirty="0">
                          <a:solidFill>
                            <a:srgbClr val="FFFFFF"/>
                          </a:solidFill>
                          <a:latin typeface="Carlito" pitchFamily="34" charset="0"/>
                          <a:ea typeface="Carlito" pitchFamily="34" charset="-122"/>
                          <a:cs typeface="Carlito" pitchFamily="34" charset="-120"/>
                        </a:rPr>
                        <a:t>Heun</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r" indent="0" marL="0">
                        <a:buNone/>
                      </a:pPr>
                      <a:r>
                        <a:rPr lang="en-US" sz="800" b="1" dirty="0">
                          <a:solidFill>
                            <a:srgbClr val="FFFFFF"/>
                          </a:solidFill>
                          <a:latin typeface="Carlito" pitchFamily="34" charset="0"/>
                          <a:ea typeface="Carlito" pitchFamily="34" charset="-122"/>
                          <a:cs typeface="Carlito" pitchFamily="34" charset="-120"/>
                        </a:rPr>
                        <a:t>RK4</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r" indent="0" marL="0">
                        <a:buNone/>
                      </a:pPr>
                      <a:r>
                        <a:rPr lang="en-US" sz="800" b="1" dirty="0">
                          <a:solidFill>
                            <a:srgbClr val="FFFFFF"/>
                          </a:solidFill>
                          <a:latin typeface="Carlito" pitchFamily="34" charset="0"/>
                          <a:ea typeface="Carlito" pitchFamily="34" charset="-122"/>
                          <a:cs typeface="Carlito" pitchFamily="34" charset="-120"/>
                        </a:rPr>
                        <a:t>Exact (ex)</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447A0"/>
                    </a:solidFill>
                  </a:tcPr>
                </a:tc>
              </a:tr>
              <a:tr h="0">
                <a:tc>
                  <a:txBody>
                    <a:bodyPr/>
                    <a:lstStyle/>
                    <a:p>
                      <a:pPr algn="ctr" indent="0" marL="0">
                        <a:buNone/>
                      </a:pPr>
                      <a:r>
                        <a:rPr lang="en-US" sz="800" b="1" dirty="0">
                          <a:solidFill>
                            <a:srgbClr val="1A2A4F"/>
                          </a:solidFill>
                          <a:latin typeface="Courier New" pitchFamily="34" charset="0"/>
                          <a:ea typeface="Courier New" pitchFamily="34" charset="-122"/>
                          <a:cs typeface="Courier New" pitchFamily="34" charset="-120"/>
                        </a:rPr>
                        <a:t>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1.0000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1.0000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1.0000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2A4F"/>
                          </a:solidFill>
                          <a:latin typeface="Courier New" pitchFamily="34" charset="0"/>
                          <a:ea typeface="Courier New" pitchFamily="34" charset="-122"/>
                          <a:cs typeface="Courier New" pitchFamily="34" charset="-120"/>
                        </a:rPr>
                        <a:t>1.0000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EAF1FC"/>
                    </a:solidFill>
                  </a:tcPr>
                </a:tc>
              </a:tr>
              <a:tr h="0">
                <a:tc>
                  <a:txBody>
                    <a:bodyPr/>
                    <a:lstStyle/>
                    <a:p>
                      <a:pPr algn="ctr" indent="0" marL="0">
                        <a:buNone/>
                      </a:pPr>
                      <a:r>
                        <a:rPr lang="en-US" sz="800" b="1" dirty="0">
                          <a:solidFill>
                            <a:srgbClr val="1A2A4F"/>
                          </a:solidFill>
                          <a:latin typeface="Courier New" pitchFamily="34" charset="0"/>
                          <a:ea typeface="Courier New" pitchFamily="34" charset="-122"/>
                          <a:cs typeface="Courier New" pitchFamily="34" charset="-120"/>
                        </a:rPr>
                        <a:t>0.1</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1.1000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1.1050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1.1052</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A2A4F"/>
                          </a:solidFill>
                          <a:latin typeface="Courier New" pitchFamily="34" charset="0"/>
                          <a:ea typeface="Courier New" pitchFamily="34" charset="-122"/>
                          <a:cs typeface="Courier New" pitchFamily="34" charset="-120"/>
                        </a:rPr>
                        <a:t>1.1052</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EAF1FC"/>
                    </a:solidFill>
                  </a:tcPr>
                </a:tc>
              </a:tr>
              <a:tr h="0">
                <a:tc>
                  <a:txBody>
                    <a:bodyPr/>
                    <a:lstStyle/>
                    <a:p>
                      <a:pPr algn="ctr" indent="0" marL="0">
                        <a:buNone/>
                      </a:pPr>
                      <a:r>
                        <a:rPr lang="en-US" sz="800" b="1" dirty="0">
                          <a:solidFill>
                            <a:srgbClr val="1A2A4F"/>
                          </a:solidFill>
                          <a:latin typeface="Courier New" pitchFamily="34" charset="0"/>
                          <a:ea typeface="Courier New" pitchFamily="34" charset="-122"/>
                          <a:cs typeface="Courier New" pitchFamily="34" charset="-120"/>
                        </a:rPr>
                        <a:t>0.2</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1.2100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1.2210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1.2214</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2A4F"/>
                          </a:solidFill>
                          <a:latin typeface="Courier New" pitchFamily="34" charset="0"/>
                          <a:ea typeface="Courier New" pitchFamily="34" charset="-122"/>
                          <a:cs typeface="Courier New" pitchFamily="34" charset="-120"/>
                        </a:rPr>
                        <a:t>1.2214</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EAF1FC"/>
                    </a:solidFill>
                  </a:tcPr>
                </a:tc>
              </a:tr>
              <a:tr h="0">
                <a:tc>
                  <a:txBody>
                    <a:bodyPr/>
                    <a:lstStyle/>
                    <a:p>
                      <a:pPr algn="ctr" indent="0" marL="0">
                        <a:buNone/>
                      </a:pPr>
                      <a:r>
                        <a:rPr lang="en-US" sz="800" b="1" dirty="0">
                          <a:solidFill>
                            <a:srgbClr val="1A2A4F"/>
                          </a:solidFill>
                          <a:latin typeface="Courier New" pitchFamily="34" charset="0"/>
                          <a:ea typeface="Courier New" pitchFamily="34" charset="-122"/>
                          <a:cs typeface="Courier New" pitchFamily="34" charset="-120"/>
                        </a:rPr>
                        <a:t>0.3</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1.3310</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1.3492</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4171F"/>
                          </a:solidFill>
                          <a:latin typeface="Courier New" pitchFamily="34" charset="0"/>
                          <a:ea typeface="Courier New" pitchFamily="34" charset="-122"/>
                          <a:cs typeface="Courier New" pitchFamily="34" charset="-120"/>
                        </a:rPr>
                        <a:t>1.3499</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r" indent="0" marL="0">
                        <a:buNone/>
                      </a:pPr>
                      <a:r>
                        <a:rPr lang="en-US" sz="800" dirty="0">
                          <a:solidFill>
                            <a:srgbClr val="1A2A4F"/>
                          </a:solidFill>
                          <a:latin typeface="Courier New" pitchFamily="34" charset="0"/>
                          <a:ea typeface="Courier New" pitchFamily="34" charset="-122"/>
                          <a:cs typeface="Courier New" pitchFamily="34" charset="-120"/>
                        </a:rPr>
                        <a:t>1.3499</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EAF1FC"/>
                    </a:solidFill>
                  </a:tcPr>
                </a:tc>
              </a:tr>
            </a:tbl>
          </a:graphicData>
        </a:graphic>
      </p:graphicFrame>
      <p:sp>
        <p:nvSpPr>
          <p:cNvPr id="11" name="Text 7"/>
          <p:cNvSpPr/>
          <p:nvPr/>
        </p:nvSpPr>
        <p:spPr>
          <a:xfrm>
            <a:off x="685800" y="3369729"/>
            <a:ext cx="7943850" cy="865398"/>
          </a:xfrm>
          <a:prstGeom prst="roundRect">
            <a:avLst>
              <a:gd name="adj" fmla="val 4403"/>
            </a:avLst>
          </a:prstGeom>
          <a:solidFill>
            <a:srgbClr val="FCEFD9"/>
          </a:solidFill>
          <a:ln/>
        </p:spPr>
        <p:txBody>
          <a:bodyPr wrap="square" rtlCol="0" anchor="ctr"/>
          <a:lstStyle/>
          <a:p>
            <a:pPr indent="0" marL="0">
              <a:buNone/>
            </a:pPr>
            <a:endParaRPr lang="en-US" dirty="0"/>
          </a:p>
        </p:txBody>
      </p:sp>
      <p:sp>
        <p:nvSpPr>
          <p:cNvPr id="12" name="Shape 8"/>
          <p:cNvSpPr/>
          <p:nvPr/>
        </p:nvSpPr>
        <p:spPr>
          <a:xfrm>
            <a:off x="700088" y="3369729"/>
            <a:ext cx="0" cy="865398"/>
          </a:xfrm>
          <a:prstGeom prst="line">
            <a:avLst/>
          </a:prstGeom>
          <a:noFill/>
          <a:ln w="28575">
            <a:solidFill>
              <a:srgbClr val="E07B00"/>
            </a:solidFill>
            <a:prstDash val="solid"/>
          </a:ln>
        </p:spPr>
      </p:sp>
      <p:sp>
        <p:nvSpPr>
          <p:cNvPr id="13" name="Text 9"/>
          <p:cNvSpPr/>
          <p:nvPr/>
        </p:nvSpPr>
        <p:spPr>
          <a:xfrm>
            <a:off x="814388" y="3434023"/>
            <a:ext cx="7715250" cy="129731"/>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E07B00"/>
                </a:solidFill>
                <a:latin typeface="Liberation Sans Narrow" pitchFamily="34" charset="0"/>
                <a:ea typeface="Liberation Sans Narrow" pitchFamily="34" charset="-122"/>
                <a:cs typeface="Liberation Sans Narrow" pitchFamily="34" charset="-120"/>
              </a:rPr>
              <a:t>Error at x = 0.3</a:t>
            </a:r>
            <a:endParaRPr lang="en-US" sz="800" dirty="0"/>
          </a:p>
        </p:txBody>
      </p:sp>
      <p:pic>
        <p:nvPicPr>
          <p:cNvPr id="14" name="Image 1" descr="/tmp/h2p-svg-1781853766822-hm2k3s.png">    </p:cNvPr>
          <p:cNvPicPr>
            <a:picLocks noChangeAspect="1"/>
          </p:cNvPicPr>
          <p:nvPr/>
        </p:nvPicPr>
        <p:blipFill>
          <a:blip r:embed="rId2"/>
          <a:stretch>
            <a:fillRect/>
          </a:stretch>
        </p:blipFill>
        <p:spPr>
          <a:xfrm>
            <a:off x="3194038" y="3591185"/>
            <a:ext cx="2955950" cy="129257"/>
          </a:xfrm>
          <a:prstGeom prst="rect">
            <a:avLst/>
          </a:prstGeom>
        </p:spPr>
      </p:pic>
      <p:pic>
        <p:nvPicPr>
          <p:cNvPr id="15" name="Image 2" descr="/tmp/h2p-svg-1781853766822-35qu4y.png">    </p:cNvPr>
          <p:cNvPicPr>
            <a:picLocks noChangeAspect="1"/>
          </p:cNvPicPr>
          <p:nvPr/>
        </p:nvPicPr>
        <p:blipFill>
          <a:blip r:embed="rId3"/>
          <a:stretch>
            <a:fillRect/>
          </a:stretch>
        </p:blipFill>
        <p:spPr>
          <a:xfrm>
            <a:off x="3164570" y="3737297"/>
            <a:ext cx="3014774" cy="129257"/>
          </a:xfrm>
          <a:prstGeom prst="rect">
            <a:avLst/>
          </a:prstGeom>
        </p:spPr>
      </p:pic>
      <p:pic>
        <p:nvPicPr>
          <p:cNvPr id="16" name="Image 3" descr="/tmp/h2p-svg-1781853766822-zr7gv3.png">    </p:cNvPr>
          <p:cNvPicPr>
            <a:picLocks noChangeAspect="1"/>
          </p:cNvPicPr>
          <p:nvPr/>
        </p:nvPicPr>
        <p:blipFill>
          <a:blip r:embed="rId4"/>
          <a:stretch>
            <a:fillRect/>
          </a:stretch>
        </p:blipFill>
        <p:spPr>
          <a:xfrm>
            <a:off x="2703575" y="3883409"/>
            <a:ext cx="3936876" cy="129257"/>
          </a:xfrm>
          <a:prstGeom prst="rect">
            <a:avLst/>
          </a:prstGeom>
        </p:spPr>
      </p:pic>
      <p:sp>
        <p:nvSpPr>
          <p:cNvPr id="17" name="Text 10"/>
          <p:cNvSpPr/>
          <p:nvPr/>
        </p:nvSpPr>
        <p:spPr>
          <a:xfrm>
            <a:off x="814388" y="4055864"/>
            <a:ext cx="7715250" cy="114970"/>
          </a:xfrm>
          <a:prstGeom prst="rect">
            <a:avLst/>
          </a:prstGeom>
          <a:noFill/>
          <a:ln/>
        </p:spPr>
        <p:txBody>
          <a:bodyPr wrap="square" lIns="0" tIns="0" rIns="0" bIns="0" rtlCol="0" anchor="t"/>
          <a:lstStyle/>
          <a:p>
            <a:pPr algn="l" indent="0" marL="0">
              <a:lnSpc>
                <a:spcPts val="906"/>
              </a:lnSpc>
              <a:buNone/>
            </a:pPr>
            <a:r>
              <a:rPr lang="en-US" sz="800" i="1" dirty="0">
                <a:solidFill>
                  <a:srgbClr val="4A5160"/>
                </a:solidFill>
                <a:latin typeface="Carlito" pitchFamily="34" charset="0"/>
                <a:ea typeface="Carlito" pitchFamily="34" charset="-122"/>
                <a:cs typeface="Carlito" pitchFamily="34" charset="-120"/>
              </a:rPr>
              <a:t>For the same step size, RK4 is ~200× more accurate than Euler and ~7× more accurate than Heun. The cost: 4 slope evaluations per step vs 1 (Euler) or 2 (Heun).</a:t>
            </a:r>
            <a:endParaRPr lang="en-US" sz="800" dirty="0"/>
          </a:p>
        </p:txBody>
      </p:sp>
      <p:sp>
        <p:nvSpPr>
          <p:cNvPr id="18" name="Text 1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34 / 38</a:t>
            </a:r>
            <a:endParaRPr lang="en-US" sz="800" dirty="0"/>
          </a:p>
        </p:txBody>
      </p:sp>
      <p:pic>
        <p:nvPicPr>
          <p:cNvPr id="19" name="Image 4" descr="preencoded.png">    </p:cNvPr>
          <p:cNvPicPr>
            <a:picLocks noChangeAspect="1"/>
          </p:cNvPicPr>
          <p:nvPr/>
        </p:nvPicPr>
        <p:blipFill>
          <a:blip r:embed="rId5"/>
          <a:stretch>
            <a:fillRect/>
          </a:stretch>
        </p:blipFill>
        <p:spPr>
          <a:xfrm>
            <a:off x="0" y="0"/>
            <a:ext cx="17145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5414"/>
            <a:ext cx="3336484"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5 · SUMMARY &amp; DECISION GUIDE</a:t>
            </a:r>
            <a:endParaRPr lang="en-US" sz="844" dirty="0"/>
          </a:p>
        </p:txBody>
      </p:sp>
      <p:sp>
        <p:nvSpPr>
          <p:cNvPr id="3" name="Text 1"/>
          <p:cNvSpPr/>
          <p:nvPr/>
        </p:nvSpPr>
        <p:spPr>
          <a:xfrm>
            <a:off x="685800" y="716161"/>
            <a:ext cx="8458200" cy="214004"/>
          </a:xfrm>
          <a:prstGeom prst="rect">
            <a:avLst/>
          </a:prstGeom>
          <a:noFill/>
          <a:ln/>
        </p:spPr>
        <p:txBody>
          <a:bodyPr wrap="square" lIns="0" tIns="0" rIns="0" bIns="0" rtlCol="0" anchor="t">
            <a:normAutofit/>
          </a:bodyPr>
          <a:lstStyle/>
          <a:p>
            <a:pPr algn="l" indent="0" marL="0">
              <a:lnSpc>
                <a:spcPts val="1733"/>
              </a:lnSpc>
              <a:buNone/>
            </a:pPr>
            <a:r>
              <a:rPr lang="en-US" sz="1575" b="1" dirty="0">
                <a:solidFill>
                  <a:srgbClr val="1A2A4F"/>
                </a:solidFill>
                <a:latin typeface="Carlito" pitchFamily="34" charset="0"/>
                <a:ea typeface="Carlito" pitchFamily="34" charset="-122"/>
                <a:cs typeface="Carlito" pitchFamily="34" charset="-120"/>
              </a:rPr>
              <a:t>Error Comparison &amp; When to Use Which</a:t>
            </a:r>
            <a:endParaRPr lang="en-US" sz="1575" dirty="0"/>
          </a:p>
        </p:txBody>
      </p:sp>
      <p:sp>
        <p:nvSpPr>
          <p:cNvPr id="4" name="Text 2"/>
          <p:cNvSpPr/>
          <p:nvPr/>
        </p:nvSpPr>
        <p:spPr>
          <a:xfrm>
            <a:off x="685800" y="957597"/>
            <a:ext cx="8458200" cy="185166"/>
          </a:xfrm>
          <a:prstGeom prst="rect">
            <a:avLst/>
          </a:prstGeom>
          <a:noFill/>
          <a:ln/>
        </p:spPr>
        <p:txBody>
          <a:bodyPr wrap="square" lIns="0" tIns="0" rIns="0" bIns="0" rtlCol="0" anchor="t"/>
          <a:lstStyle/>
          <a:p>
            <a:pPr algn="l" indent="0" marL="0">
              <a:lnSpc>
                <a:spcPts val="1350"/>
              </a:lnSpc>
              <a:buNone/>
            </a:pPr>
            <a:r>
              <a:rPr lang="en-US" sz="900" i="1" dirty="0">
                <a:solidFill>
                  <a:srgbClr val="1F61C9"/>
                </a:solidFill>
                <a:latin typeface="Carlito" pitchFamily="34" charset="0"/>
                <a:ea typeface="Carlito" pitchFamily="34" charset="-122"/>
                <a:cs typeface="Carlito" pitchFamily="34" charset="-120"/>
              </a:rPr>
              <a:t>Matching the Method to the Problem</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85800" y="1186197"/>
          <a:ext cx="7943850" cy="914400"/>
        </p:xfrm>
        <a:graphic>
          <a:graphicData uri="http://schemas.openxmlformats.org/drawingml/2006/table">
            <a:tbl>
              <a:tblPr/>
              <a:tblGrid>
                <a:gridCol w="1173807"/>
                <a:gridCol w="678656"/>
                <a:gridCol w="785813"/>
                <a:gridCol w="785813"/>
                <a:gridCol w="4512618"/>
              </a:tblGrid>
              <a:tr h="0">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Method</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ctr" indent="0" marL="0">
                        <a:buNone/>
                      </a:pPr>
                      <a:r>
                        <a:rPr lang="en-US" sz="800" b="1" dirty="0">
                          <a:solidFill>
                            <a:srgbClr val="FFFFFF"/>
                          </a:solidFill>
                          <a:latin typeface="Carlito" pitchFamily="34" charset="0"/>
                          <a:ea typeface="Carlito" pitchFamily="34" charset="-122"/>
                          <a:cs typeface="Carlito" pitchFamily="34" charset="-120"/>
                        </a:rPr>
                        <a:t>Slope Evals / Step</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ctr" indent="0" marL="0">
                        <a:buNone/>
                      </a:pPr>
                      <a:r>
                        <a:rPr lang="en-US" sz="800" b="1" dirty="0">
                          <a:solidFill>
                            <a:srgbClr val="FFFFFF"/>
                          </a:solidFill>
                          <a:latin typeface="Carlito" pitchFamily="34" charset="0"/>
                          <a:ea typeface="Carlito" pitchFamily="34" charset="-122"/>
                          <a:cs typeface="Carlito" pitchFamily="34" charset="-120"/>
                        </a:rPr>
                        <a:t>Local Error</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ctr" indent="0" marL="0">
                        <a:buNone/>
                      </a:pPr>
                      <a:r>
                        <a:rPr lang="en-US" sz="800" b="1" dirty="0">
                          <a:solidFill>
                            <a:srgbClr val="FFFFFF"/>
                          </a:solidFill>
                          <a:latin typeface="Carlito" pitchFamily="34" charset="0"/>
                          <a:ea typeface="Carlito" pitchFamily="34" charset="-122"/>
                          <a:cs typeface="Carlito" pitchFamily="34" charset="-120"/>
                        </a:rPr>
                        <a:t>Global Error</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Best For</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1F61C9"/>
                    </a:solidFill>
                  </a:tcPr>
                </a:tc>
              </a:tr>
              <a:tr h="0">
                <a:tc>
                  <a:txBody>
                    <a:bodyPr/>
                    <a:lstStyle/>
                    <a:p>
                      <a:pPr algn="l" indent="0" marL="0">
                        <a:buNone/>
                      </a:pPr>
                      <a:r>
                        <a:rPr lang="en-US" sz="800" b="1" dirty="0">
                          <a:solidFill>
                            <a:srgbClr val="1A2A4F"/>
                          </a:solidFill>
                          <a:latin typeface="Carlito" pitchFamily="34" charset="0"/>
                          <a:ea typeface="Carlito" pitchFamily="34" charset="-122"/>
                          <a:cs typeface="Carlito" pitchFamily="34" charset="-120"/>
                        </a:rPr>
                        <a:t>Euler</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O(h²)</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4171F"/>
                          </a:solidFill>
                          <a:latin typeface="Carlito" pitchFamily="34" charset="0"/>
                          <a:ea typeface="Carlito" pitchFamily="34" charset="-122"/>
                          <a:cs typeface="Carlito" pitchFamily="34" charset="-120"/>
                        </a:rPr>
                        <a:t>Quick estimates, teaching, real-time with tiny h</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r>
              <a:tr h="0">
                <a:tc>
                  <a:txBody>
                    <a:bodyPr/>
                    <a:lstStyle/>
                    <a:p>
                      <a:pPr algn="l" indent="0" marL="0">
                        <a:buNone/>
                      </a:pPr>
                      <a:r>
                        <a:rPr lang="en-US" sz="800" b="1" dirty="0">
                          <a:solidFill>
                            <a:srgbClr val="1A2A4F"/>
                          </a:solidFill>
                          <a:latin typeface="Carlito" pitchFamily="34" charset="0"/>
                          <a:ea typeface="Carlito" pitchFamily="34" charset="-122"/>
                          <a:cs typeface="Carlito" pitchFamily="34" charset="-120"/>
                        </a:rPr>
                        <a:t>Heun</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O(h³)</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O(h²)</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c>
                  <a:txBody>
                    <a:bodyPr/>
                    <a:lstStyle/>
                    <a:p>
                      <a:pPr algn="l" indent="0" marL="0">
                        <a:buNone/>
                      </a:pPr>
                      <a:r>
                        <a:rPr lang="en-US" sz="800" dirty="0">
                          <a:solidFill>
                            <a:srgbClr val="14171F"/>
                          </a:solidFill>
                          <a:latin typeface="Carlito" pitchFamily="34" charset="0"/>
                          <a:ea typeface="Carlito" pitchFamily="34" charset="-122"/>
                          <a:cs typeface="Carlito" pitchFamily="34" charset="-120"/>
                        </a:rPr>
                        <a:t>Moderate accuracy, smooth ODEs</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6F7FB"/>
                    </a:solidFill>
                  </a:tcPr>
                </a:tc>
              </a:tr>
              <a:tr h="0">
                <a:tc>
                  <a:txBody>
                    <a:bodyPr/>
                    <a:lstStyle/>
                    <a:p>
                      <a:pPr algn="l" indent="0" marL="0">
                        <a:buNone/>
                      </a:pPr>
                      <a:r>
                        <a:rPr lang="en-US" sz="800" b="1" dirty="0">
                          <a:solidFill>
                            <a:srgbClr val="1A2A4F"/>
                          </a:solidFill>
                          <a:latin typeface="Carlito" pitchFamily="34" charset="0"/>
                          <a:ea typeface="Carlito" pitchFamily="34" charset="-122"/>
                          <a:cs typeface="Carlito" pitchFamily="34" charset="-120"/>
                        </a:rPr>
                        <a:t>RK4</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O(h⁵)</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71F"/>
                          </a:solidFill>
                          <a:latin typeface="Courier New" pitchFamily="34" charset="0"/>
                          <a:ea typeface="Courier New" pitchFamily="34" charset="-122"/>
                          <a:cs typeface="Courier New" pitchFamily="34" charset="-120"/>
                        </a:rPr>
                        <a:t>O(h⁴)</a:t>
                      </a:r>
                      <a:endParaRPr lang="en-US" sz="800" dirty="0">
                        <a:latin typeface="Courier New" charset="0"/>
                        <a:ea typeface="Courier New" charset="0"/>
                        <a:cs typeface="Courier New"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4171F"/>
                          </a:solidFill>
                          <a:latin typeface="Carlito" pitchFamily="34" charset="0"/>
                          <a:ea typeface="Carlito" pitchFamily="34" charset="-122"/>
                          <a:cs typeface="Carlito" pitchFamily="34" charset="-120"/>
                        </a:rPr>
                        <a:t>General-purpose, high accuracy, industry default</a:t>
                      </a:r>
                      <a:endParaRPr lang="en-US" sz="800" dirty="0">
                        <a:latin typeface="Carlito" charset="0"/>
                        <a:ea typeface="Carlito" charset="0"/>
                        <a:cs typeface="Carlito" charset="0"/>
                      </a:endParaRPr>
                    </a:p>
                  </a:txBody>
                  <a:tcPr marL="50006" marR="85725" marT="85725" marB="50006" anchor="ctr">
                    <a:lnL w="7144" cap="flat" cmpd="sng" algn="ctr">
                      <a:solidFill>
                        <a:srgbClr val="E3E6EE"/>
                      </a:solidFill>
                      <a:prstDash val="solid"/>
                      <a:round/>
                      <a:headEnd type="none" w="med" len="med"/>
                      <a:tailEnd type="none" w="med" len="med"/>
                    </a:lnL>
                    <a:lnR w="7144" cap="flat" cmpd="sng" algn="ctr">
                      <a:solidFill>
                        <a:srgbClr val="E3E6EE"/>
                      </a:solidFill>
                      <a:prstDash val="solid"/>
                      <a:round/>
                      <a:headEnd type="none" w="med" len="med"/>
                      <a:tailEnd type="none" w="med" len="med"/>
                    </a:lnR>
                    <a:lnT w="7144" cap="flat" cmpd="sng" algn="ctr">
                      <a:solidFill>
                        <a:srgbClr val="E3E6EE"/>
                      </a:solidFill>
                      <a:prstDash val="solid"/>
                      <a:round/>
                      <a:headEnd type="none" w="med" len="med"/>
                      <a:tailEnd type="none" w="med" len="med"/>
                    </a:lnT>
                    <a:lnB w="7144" cap="flat" cmpd="sng" algn="ctr">
                      <a:solidFill>
                        <a:srgbClr val="E3E6EE"/>
                      </a:solidFill>
                      <a:prstDash val="solid"/>
                      <a:round/>
                      <a:headEnd type="none" w="med" len="med"/>
                      <a:tailEnd type="none" w="med" len="med"/>
                    </a:lnB>
                    <a:solidFill>
                      <a:srgbClr val="FFFFFF"/>
                    </a:solidFill>
                  </a:tcPr>
                </a:tc>
              </a:tr>
            </a:tbl>
          </a:graphicData>
        </a:graphic>
      </p:graphicFrame>
      <p:sp>
        <p:nvSpPr>
          <p:cNvPr id="6" name="Text 3"/>
          <p:cNvSpPr/>
          <p:nvPr/>
        </p:nvSpPr>
        <p:spPr>
          <a:xfrm>
            <a:off x="685800" y="2522079"/>
            <a:ext cx="2581238" cy="932259"/>
          </a:xfrm>
          <a:prstGeom prst="roundRect">
            <a:avLst>
              <a:gd name="adj" fmla="val 4087"/>
            </a:avLst>
          </a:prstGeom>
          <a:solidFill>
            <a:srgbClr val="F6F7FB"/>
          </a:solidFill>
          <a:ln/>
        </p:spPr>
        <p:txBody>
          <a:bodyPr wrap="square" rtlCol="0" anchor="ctr"/>
          <a:lstStyle/>
          <a:p>
            <a:pPr indent="0" marL="0">
              <a:buNone/>
            </a:pPr>
            <a:endParaRPr lang="en-US" dirty="0"/>
          </a:p>
        </p:txBody>
      </p:sp>
      <p:sp>
        <p:nvSpPr>
          <p:cNvPr id="7" name="Shape 4"/>
          <p:cNvSpPr/>
          <p:nvPr/>
        </p:nvSpPr>
        <p:spPr>
          <a:xfrm>
            <a:off x="700088" y="2522079"/>
            <a:ext cx="0" cy="932259"/>
          </a:xfrm>
          <a:prstGeom prst="line">
            <a:avLst/>
          </a:prstGeom>
          <a:noFill/>
          <a:ln w="28575">
            <a:solidFill>
              <a:srgbClr val="1F61C9"/>
            </a:solidFill>
            <a:prstDash val="solid"/>
          </a:ln>
        </p:spPr>
      </p:sp>
      <p:sp>
        <p:nvSpPr>
          <p:cNvPr id="8" name="Text 5"/>
          <p:cNvSpPr/>
          <p:nvPr/>
        </p:nvSpPr>
        <p:spPr>
          <a:xfrm>
            <a:off x="814388" y="2593516"/>
            <a:ext cx="2352638" cy="136874"/>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1F61C9"/>
                </a:solidFill>
                <a:latin typeface="Carlito" pitchFamily="34" charset="0"/>
                <a:ea typeface="Carlito" pitchFamily="34" charset="-122"/>
                <a:cs typeface="Carlito" pitchFamily="34" charset="-120"/>
              </a:rPr>
              <a:t>USE EULER WHEN</a:t>
            </a:r>
            <a:endParaRPr lang="en-US" sz="800" dirty="0"/>
          </a:p>
        </p:txBody>
      </p:sp>
      <p:sp>
        <p:nvSpPr>
          <p:cNvPr id="9" name="Text 6"/>
          <p:cNvSpPr/>
          <p:nvPr/>
        </p:nvSpPr>
        <p:spPr>
          <a:xfrm>
            <a:off x="814388" y="2757822"/>
            <a:ext cx="2352638" cy="625078"/>
          </a:xfrm>
          <a:prstGeom prst="rect">
            <a:avLst/>
          </a:prstGeom>
          <a:noFill/>
          <a:ln/>
        </p:spPr>
        <p:txBody>
          <a:bodyPr wrap="square" lIns="0" tIns="0" rIns="0" bIns="0" rtlCol="0" anchor="t"/>
          <a:lstStyle/>
          <a:p>
            <a:pPr algn="l" indent="0" marL="0">
              <a:lnSpc>
                <a:spcPts val="984"/>
              </a:lnSpc>
              <a:buNone/>
            </a:pPr>
            <a:r>
              <a:rPr lang="en-US" sz="800" dirty="0">
                <a:solidFill>
                  <a:srgbClr val="14171F"/>
                </a:solidFill>
                <a:latin typeface="Carlito" pitchFamily="34" charset="0"/>
                <a:ea typeface="Carlito" pitchFamily="34" charset="-122"/>
                <a:cs typeface="Carlito" pitchFamily="34" charset="-120"/>
              </a:rPr>
              <a:t>You need a quick ballpark estimate, the ODE is very smooth, or you are teaching the concept. Also useful in real-time systems where each slope evaluation is expensive and a tiny h compensates for the low order.</a:t>
            </a:r>
            <a:endParaRPr lang="en-US" sz="800" dirty="0"/>
          </a:p>
        </p:txBody>
      </p:sp>
      <p:sp>
        <p:nvSpPr>
          <p:cNvPr id="10" name="Text 7"/>
          <p:cNvSpPr/>
          <p:nvPr/>
        </p:nvSpPr>
        <p:spPr>
          <a:xfrm>
            <a:off x="3367050" y="2522079"/>
            <a:ext cx="2581238" cy="932259"/>
          </a:xfrm>
          <a:prstGeom prst="roundRect">
            <a:avLst>
              <a:gd name="adj" fmla="val 4087"/>
            </a:avLst>
          </a:prstGeom>
          <a:solidFill>
            <a:srgbClr val="F6F7FB"/>
          </a:solidFill>
          <a:ln/>
        </p:spPr>
        <p:txBody>
          <a:bodyPr wrap="square" rtlCol="0" anchor="ctr"/>
          <a:lstStyle/>
          <a:p>
            <a:pPr indent="0" marL="0">
              <a:buNone/>
            </a:pPr>
            <a:endParaRPr lang="en-US" dirty="0"/>
          </a:p>
        </p:txBody>
      </p:sp>
      <p:sp>
        <p:nvSpPr>
          <p:cNvPr id="11" name="Shape 8"/>
          <p:cNvSpPr/>
          <p:nvPr/>
        </p:nvSpPr>
        <p:spPr>
          <a:xfrm>
            <a:off x="3381338" y="2522079"/>
            <a:ext cx="0" cy="932259"/>
          </a:xfrm>
          <a:prstGeom prst="line">
            <a:avLst/>
          </a:prstGeom>
          <a:noFill/>
          <a:ln w="28575">
            <a:solidFill>
              <a:srgbClr val="1F61C9"/>
            </a:solidFill>
            <a:prstDash val="solid"/>
          </a:ln>
        </p:spPr>
      </p:sp>
      <p:sp>
        <p:nvSpPr>
          <p:cNvPr id="12" name="Text 9"/>
          <p:cNvSpPr/>
          <p:nvPr/>
        </p:nvSpPr>
        <p:spPr>
          <a:xfrm>
            <a:off x="3495638" y="2593516"/>
            <a:ext cx="2352638" cy="136874"/>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1F61C9"/>
                </a:solidFill>
                <a:latin typeface="Carlito" pitchFamily="34" charset="0"/>
                <a:ea typeface="Carlito" pitchFamily="34" charset="-122"/>
                <a:cs typeface="Carlito" pitchFamily="34" charset="-120"/>
              </a:rPr>
              <a:t>USE HEUN WHEN</a:t>
            </a:r>
            <a:endParaRPr lang="en-US" sz="800" dirty="0"/>
          </a:p>
        </p:txBody>
      </p:sp>
      <p:sp>
        <p:nvSpPr>
          <p:cNvPr id="13" name="Text 10"/>
          <p:cNvSpPr/>
          <p:nvPr/>
        </p:nvSpPr>
        <p:spPr>
          <a:xfrm>
            <a:off x="3495638" y="2757822"/>
            <a:ext cx="2352638" cy="614477"/>
          </a:xfrm>
          <a:prstGeom prst="rect">
            <a:avLst/>
          </a:prstGeom>
          <a:noFill/>
          <a:ln/>
        </p:spPr>
        <p:txBody>
          <a:bodyPr wrap="square" lIns="0" tIns="0" rIns="0" bIns="0" rtlCol="0" anchor="t"/>
          <a:lstStyle/>
          <a:p>
            <a:pPr algn="l" indent="0" marL="0">
              <a:lnSpc>
                <a:spcPts val="984"/>
              </a:lnSpc>
              <a:buNone/>
            </a:pPr>
            <a:r>
              <a:rPr lang="en-US" sz="800" dirty="0">
                <a:solidFill>
                  <a:srgbClr val="14171F"/>
                </a:solidFill>
                <a:latin typeface="Carlito" pitchFamily="34" charset="0"/>
                <a:ea typeface="Carlito" pitchFamily="34" charset="-122"/>
                <a:cs typeface="Carlito" pitchFamily="34" charset="-120"/>
              </a:rPr>
              <a:t>You need moderate accuracy (2–3 decimal places) and the ODE is smooth. Heun is the sweet spot for hand calculations and simple simulations where RK4's 4 evaluations per step feel excessive.</a:t>
            </a:r>
            <a:endParaRPr lang="en-US" sz="800" dirty="0"/>
          </a:p>
        </p:txBody>
      </p:sp>
      <p:sp>
        <p:nvSpPr>
          <p:cNvPr id="14" name="Text 11"/>
          <p:cNvSpPr/>
          <p:nvPr/>
        </p:nvSpPr>
        <p:spPr>
          <a:xfrm>
            <a:off x="6048301" y="2522079"/>
            <a:ext cx="2581349" cy="932259"/>
          </a:xfrm>
          <a:prstGeom prst="roundRect">
            <a:avLst>
              <a:gd name="adj" fmla="val 4087"/>
            </a:avLst>
          </a:prstGeom>
          <a:solidFill>
            <a:srgbClr val="FCEFD9"/>
          </a:solidFill>
          <a:ln/>
        </p:spPr>
        <p:txBody>
          <a:bodyPr wrap="square" rtlCol="0" anchor="ctr"/>
          <a:lstStyle/>
          <a:p>
            <a:pPr indent="0" marL="0">
              <a:buNone/>
            </a:pPr>
            <a:endParaRPr lang="en-US" dirty="0"/>
          </a:p>
        </p:txBody>
      </p:sp>
      <p:sp>
        <p:nvSpPr>
          <p:cNvPr id="15" name="Shape 12"/>
          <p:cNvSpPr/>
          <p:nvPr/>
        </p:nvSpPr>
        <p:spPr>
          <a:xfrm>
            <a:off x="6062588" y="2522079"/>
            <a:ext cx="0" cy="932259"/>
          </a:xfrm>
          <a:prstGeom prst="line">
            <a:avLst/>
          </a:prstGeom>
          <a:noFill/>
          <a:ln w="28575">
            <a:solidFill>
              <a:srgbClr val="E07B00"/>
            </a:solidFill>
            <a:prstDash val="solid"/>
          </a:ln>
        </p:spPr>
      </p:sp>
      <p:sp>
        <p:nvSpPr>
          <p:cNvPr id="16" name="Text 13"/>
          <p:cNvSpPr/>
          <p:nvPr/>
        </p:nvSpPr>
        <p:spPr>
          <a:xfrm>
            <a:off x="6176888" y="2593516"/>
            <a:ext cx="2352749" cy="136874"/>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E07B00"/>
                </a:solidFill>
                <a:latin typeface="Liberation Sans Narrow" pitchFamily="34" charset="0"/>
                <a:ea typeface="Liberation Sans Narrow" pitchFamily="34" charset="-122"/>
                <a:cs typeface="Liberation Sans Narrow" pitchFamily="34" charset="-120"/>
              </a:rPr>
              <a:t>USE RK4 WHEN</a:t>
            </a:r>
            <a:endParaRPr lang="en-US" sz="800" dirty="0"/>
          </a:p>
        </p:txBody>
      </p:sp>
      <p:sp>
        <p:nvSpPr>
          <p:cNvPr id="17" name="Text 14"/>
          <p:cNvSpPr/>
          <p:nvPr/>
        </p:nvSpPr>
        <p:spPr>
          <a:xfrm>
            <a:off x="6176888" y="2757822"/>
            <a:ext cx="2352749" cy="625078"/>
          </a:xfrm>
          <a:prstGeom prst="rect">
            <a:avLst/>
          </a:prstGeom>
          <a:noFill/>
          <a:ln/>
        </p:spPr>
        <p:txBody>
          <a:bodyPr wrap="square" lIns="0" tIns="0" rIns="0" bIns="0" rtlCol="0" anchor="t"/>
          <a:lstStyle/>
          <a:p>
            <a:pPr algn="l" indent="0" marL="0">
              <a:lnSpc>
                <a:spcPts val="984"/>
              </a:lnSpc>
              <a:buNone/>
            </a:pPr>
            <a:r>
              <a:rPr lang="en-US" sz="800" dirty="0">
                <a:solidFill>
                  <a:srgbClr val="14171F"/>
                </a:solidFill>
                <a:latin typeface="Carlito" pitchFamily="34" charset="0"/>
                <a:ea typeface="Carlito" pitchFamily="34" charset="-122"/>
                <a:cs typeface="Carlito" pitchFamily="34" charset="-120"/>
              </a:rPr>
              <a:t>You need high accuracy (4+ decimal places), the ODE may be stiff or rapidly varying, or you are using production software. RK4 is the default in MATLAB's ode45, SciPy's solve_ivp (RK45), and most engineering codes.</a:t>
            </a:r>
            <a:endParaRPr lang="en-US" sz="800" dirty="0"/>
          </a:p>
        </p:txBody>
      </p:sp>
      <p:sp>
        <p:nvSpPr>
          <p:cNvPr id="18" name="Text 15"/>
          <p:cNvSpPr/>
          <p:nvPr/>
        </p:nvSpPr>
        <p:spPr>
          <a:xfrm>
            <a:off x="685800" y="3540063"/>
            <a:ext cx="7943850" cy="703883"/>
          </a:xfrm>
          <a:prstGeom prst="roundRect">
            <a:avLst>
              <a:gd name="adj" fmla="val 5413"/>
            </a:avLst>
          </a:prstGeom>
          <a:solidFill>
            <a:srgbClr val="F3ECF8"/>
          </a:solidFill>
          <a:ln/>
        </p:spPr>
        <p:txBody>
          <a:bodyPr wrap="square" rtlCol="0" anchor="ctr"/>
          <a:lstStyle/>
          <a:p>
            <a:pPr indent="0" marL="0">
              <a:buNone/>
            </a:pPr>
            <a:endParaRPr lang="en-US" dirty="0"/>
          </a:p>
        </p:txBody>
      </p:sp>
      <p:sp>
        <p:nvSpPr>
          <p:cNvPr id="19" name="Shape 16"/>
          <p:cNvSpPr/>
          <p:nvPr/>
        </p:nvSpPr>
        <p:spPr>
          <a:xfrm>
            <a:off x="700088" y="3540063"/>
            <a:ext cx="0" cy="703883"/>
          </a:xfrm>
          <a:prstGeom prst="line">
            <a:avLst/>
          </a:prstGeom>
          <a:noFill/>
          <a:ln w="28575">
            <a:solidFill>
              <a:srgbClr val="6B2FA0"/>
            </a:solidFill>
            <a:prstDash val="solid"/>
          </a:ln>
        </p:spPr>
      </p:sp>
      <p:sp>
        <p:nvSpPr>
          <p:cNvPr id="20" name="Text 17"/>
          <p:cNvSpPr/>
          <p:nvPr/>
        </p:nvSpPr>
        <p:spPr>
          <a:xfrm>
            <a:off x="814388" y="3611500"/>
            <a:ext cx="7715250" cy="129731"/>
          </a:xfrm>
          <a:prstGeom prst="rect">
            <a:avLst/>
          </a:prstGeom>
          <a:noFill/>
          <a:ln/>
        </p:spPr>
        <p:txBody>
          <a:bodyPr wrap="none" lIns="0" tIns="0" rIns="0" bIns="0" rtlCol="0" anchor="t">
            <a:normAutofit/>
          </a:bodyPr>
          <a:lstStyle/>
          <a:p>
            <a:pPr algn="l" indent="0" marL="0">
              <a:lnSpc>
                <a:spcPts val="1013"/>
              </a:lnSpc>
              <a:buNone/>
            </a:pPr>
            <a:r>
              <a:rPr lang="en-US" sz="800" b="1" spc="54" kern="0" dirty="0">
                <a:solidFill>
                  <a:srgbClr val="6B2FA0"/>
                </a:solidFill>
                <a:latin typeface="Carlito" pitchFamily="34" charset="0"/>
                <a:ea typeface="Carlito" pitchFamily="34" charset="-122"/>
                <a:cs typeface="Carlito" pitchFamily="34" charset="-120"/>
              </a:rPr>
              <a:t>THE PRACTICAL TAKEAWAY</a:t>
            </a:r>
            <a:endParaRPr lang="en-US" sz="800" dirty="0"/>
          </a:p>
        </p:txBody>
      </p:sp>
      <p:sp>
        <p:nvSpPr>
          <p:cNvPr id="21" name="Text 18"/>
          <p:cNvSpPr/>
          <p:nvPr/>
        </p:nvSpPr>
        <p:spPr>
          <a:xfrm>
            <a:off x="814388" y="3768663"/>
            <a:ext cx="7715250" cy="403845"/>
          </a:xfrm>
          <a:prstGeom prst="rect">
            <a:avLst/>
          </a:prstGeom>
          <a:noFill/>
          <a:ln/>
        </p:spPr>
        <p:txBody>
          <a:bodyPr wrap="square" lIns="0" tIns="0" rIns="0" bIns="0" rtlCol="0" anchor="t"/>
          <a:lstStyle/>
          <a:p>
            <a:pPr algn="l" indent="0" marL="0">
              <a:lnSpc>
                <a:spcPts val="1060"/>
              </a:lnSpc>
              <a:buNone/>
            </a:pPr>
            <a:r>
              <a:rPr lang="en-US" sz="800" i="1" dirty="0">
                <a:solidFill>
                  <a:srgbClr val="14171F"/>
                </a:solidFill>
                <a:latin typeface="Carlito" pitchFamily="34" charset="0"/>
                <a:ea typeface="Carlito" pitchFamily="34" charset="-122"/>
                <a:cs typeface="Carlito" pitchFamily="34" charset="-120"/>
              </a:rPr>
              <a:t>For 95% of practical problems, RK4 with an adaptive step size is the right choice. The other 5% — stiff systems, Hamiltonian dynamics, long-time integration — require specialized methods (implicit, symplectic) beyond first-order ODEs. But the conceptual foundation is right here: step along the slope field, sample it well, and bound your error.</a:t>
            </a:r>
            <a:endParaRPr lang="en-US" sz="800" dirty="0"/>
          </a:p>
        </p:txBody>
      </p:sp>
      <p:sp>
        <p:nvSpPr>
          <p:cNvPr id="22" name="Text 19"/>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35 / 38</a:t>
            </a:r>
            <a:endParaRPr lang="en-US" sz="800" dirty="0"/>
          </a:p>
        </p:txBody>
      </p:sp>
      <p:pic>
        <p:nvPicPr>
          <p:cNvPr id="23" name="Image 0" descr="preencoded.png">    </p:cNvPr>
          <p:cNvPicPr>
            <a:picLocks noChangeAspect="1"/>
          </p:cNvPicPr>
          <p:nvPr/>
        </p:nvPicPr>
        <p:blipFill>
          <a:blip r:embed="rId1"/>
          <a:stretch>
            <a:fillRect/>
          </a:stretch>
        </p:blipFill>
        <p:spPr>
          <a:xfrm>
            <a:off x="0" y="0"/>
            <a:ext cx="17145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A4F"/>
        </a:solidFill>
      </p:bgPr>
    </p:bg>
    <p:spTree>
      <p:nvGrpSpPr>
        <p:cNvPr id="1" name=""/>
        <p:cNvGrpSpPr/>
        <p:nvPr/>
      </p:nvGrpSpPr>
      <p:grpSpPr>
        <a:xfrm>
          <a:off x="0" y="0"/>
          <a:ext cx="0" cy="0"/>
          <a:chOff x="0" y="0"/>
          <a:chExt cx="0" cy="0"/>
        </a:xfrm>
      </p:grpSpPr>
      <p:sp>
        <p:nvSpPr>
          <p:cNvPr id="2" name="Text 0"/>
          <p:cNvSpPr/>
          <p:nvPr/>
        </p:nvSpPr>
        <p:spPr>
          <a:xfrm>
            <a:off x="5894487" y="-285750"/>
            <a:ext cx="3249513" cy="3549015"/>
          </a:xfrm>
          <a:prstGeom prst="rect">
            <a:avLst/>
          </a:prstGeom>
          <a:noFill/>
          <a:ln/>
        </p:spPr>
        <p:txBody>
          <a:bodyPr wrap="square" lIns="0" tIns="0" rIns="0" bIns="0" rtlCol="0" anchor="t"/>
          <a:lstStyle/>
          <a:p>
            <a:pPr algn="l" indent="0" marL="0">
              <a:lnSpc>
                <a:spcPts val="25875"/>
              </a:lnSpc>
              <a:buNone/>
            </a:pPr>
            <a:r>
              <a:rPr lang="en-US" sz="25875" b="1" spc="-1035" kern="0" dirty="0">
                <a:solidFill>
                  <a:srgbClr val="FFFFFF">
                    <a:alpha val="10000"/>
                  </a:srgbClr>
                </a:solidFill>
                <a:latin typeface="Liberation Sans Narrow" pitchFamily="34" charset="0"/>
                <a:ea typeface="Liberation Sans Narrow" pitchFamily="34" charset="-122"/>
                <a:cs typeface="Liberation Sans Narrow" pitchFamily="34" charset="-120"/>
              </a:rPr>
              <a:t>05</a:t>
            </a:r>
            <a:endParaRPr lang="en-US" sz="25875" dirty="0"/>
          </a:p>
        </p:txBody>
      </p:sp>
      <p:sp>
        <p:nvSpPr>
          <p:cNvPr id="3" name="Text 1"/>
          <p:cNvSpPr/>
          <p:nvPr/>
        </p:nvSpPr>
        <p:spPr>
          <a:xfrm>
            <a:off x="571500" y="457200"/>
            <a:ext cx="8572500" cy="164592"/>
          </a:xfrm>
          <a:prstGeom prst="rect">
            <a:avLst/>
          </a:prstGeom>
          <a:noFill/>
          <a:ln/>
        </p:spPr>
        <p:txBody>
          <a:bodyPr wrap="none" lIns="0" tIns="0" rIns="0" bIns="0" rtlCol="0" anchor="t"/>
          <a:lstStyle/>
          <a:p>
            <a:pPr algn="l" indent="0" marL="0">
              <a:lnSpc>
                <a:spcPts val="1181"/>
              </a:lnSpc>
              <a:buNone/>
            </a:pPr>
            <a:r>
              <a:rPr lang="en-US" sz="800" spc="157" kern="0" dirty="0">
                <a:solidFill>
                  <a:srgbClr val="FFFFFF">
                    <a:alpha val="85000"/>
                  </a:srgbClr>
                </a:solidFill>
                <a:latin typeface="Liberation Sans Narrow" pitchFamily="34" charset="0"/>
                <a:ea typeface="Liberation Sans Narrow" pitchFamily="34" charset="-122"/>
                <a:cs typeface="Liberation Sans Narrow" pitchFamily="34" charset="-120"/>
              </a:rPr>
              <a:t>CHAPTER 05 / 05</a:t>
            </a:r>
            <a:endParaRPr lang="en-US" sz="800" dirty="0"/>
          </a:p>
        </p:txBody>
      </p:sp>
      <p:sp>
        <p:nvSpPr>
          <p:cNvPr id="4" name="Text 2"/>
          <p:cNvSpPr/>
          <p:nvPr/>
        </p:nvSpPr>
        <p:spPr>
          <a:xfrm>
            <a:off x="7790036" y="4747022"/>
            <a:ext cx="988570" cy="164592"/>
          </a:xfrm>
          <a:prstGeom prst="rect">
            <a:avLst/>
          </a:prstGeom>
          <a:noFill/>
          <a:ln/>
        </p:spPr>
        <p:txBody>
          <a:bodyPr wrap="none" lIns="0" tIns="0" rIns="0" bIns="0" rtlCol="0" anchor="t"/>
          <a:lstStyle/>
          <a:p>
            <a:pPr algn="l" indent="0" marL="0">
              <a:lnSpc>
                <a:spcPts val="1097"/>
              </a:lnSpc>
              <a:buNone/>
            </a:pPr>
            <a:r>
              <a:rPr lang="en-US" sz="800" spc="73" kern="0" dirty="0">
                <a:solidFill>
                  <a:srgbClr val="FFFFFF">
                    <a:alpha val="60000"/>
                  </a:srgbClr>
                </a:solidFill>
                <a:latin typeface="Liberation Sans Narrow" pitchFamily="34" charset="0"/>
                <a:ea typeface="Liberation Sans Narrow" pitchFamily="34" charset="-122"/>
                <a:cs typeface="Liberation Sans Narrow" pitchFamily="34" charset="-120"/>
              </a:rPr>
              <a:t>Slides 37–38</a:t>
            </a:r>
            <a:endParaRPr lang="en-US" sz="800" dirty="0"/>
          </a:p>
        </p:txBody>
      </p:sp>
      <p:sp>
        <p:nvSpPr>
          <p:cNvPr id="5" name="Text 3"/>
          <p:cNvSpPr/>
          <p:nvPr/>
        </p:nvSpPr>
        <p:spPr>
          <a:xfrm>
            <a:off x="571500" y="2178844"/>
            <a:ext cx="6429375" cy="1036737"/>
          </a:xfrm>
          <a:prstGeom prst="rect">
            <a:avLst/>
          </a:prstGeom>
          <a:noFill/>
          <a:ln/>
        </p:spPr>
        <p:txBody>
          <a:bodyPr wrap="square" lIns="0" tIns="0" rIns="0" bIns="0" rtlCol="0" anchor="t"/>
          <a:lstStyle/>
          <a:p>
            <a:pPr algn="l" indent="0" marL="0">
              <a:lnSpc>
                <a:spcPts val="3780"/>
              </a:lnSpc>
              <a:buNone/>
            </a:pPr>
            <a:r>
              <a:rPr lang="en-US" sz="3600" b="1" spc="-54" kern="0" dirty="0">
                <a:solidFill>
                  <a:srgbClr val="FFFFFF"/>
                </a:solidFill>
                <a:latin typeface="Carlito" pitchFamily="34" charset="0"/>
                <a:ea typeface="Carlito" pitchFamily="34" charset="-122"/>
                <a:cs typeface="Carlito" pitchFamily="34" charset="-120"/>
              </a:rPr>
              <a:t>The Cognitive Map — Unit-Economy</a:t>
            </a:r>
            <a:endParaRPr lang="en-US" sz="3600" dirty="0"/>
          </a:p>
        </p:txBody>
      </p:sp>
      <p:sp>
        <p:nvSpPr>
          <p:cNvPr id="6" name="Text 4"/>
          <p:cNvSpPr/>
          <p:nvPr/>
        </p:nvSpPr>
        <p:spPr>
          <a:xfrm>
            <a:off x="571500" y="3267373"/>
            <a:ext cx="5857875" cy="536933"/>
          </a:xfrm>
          <a:prstGeom prst="rect">
            <a:avLst/>
          </a:prstGeom>
          <a:noFill/>
          <a:ln/>
        </p:spPr>
        <p:txBody>
          <a:bodyPr wrap="square" lIns="0" tIns="0" rIns="0" bIns="0" rtlCol="0" anchor="t"/>
          <a:lstStyle/>
          <a:p>
            <a:pPr algn="l" indent="0" marL="0">
              <a:lnSpc>
                <a:spcPts val="1958"/>
              </a:lnSpc>
              <a:buNone/>
            </a:pPr>
            <a:r>
              <a:rPr lang="en-US" sz="1350" i="1" dirty="0">
                <a:solidFill>
                  <a:srgbClr val="FFFFFF">
                    <a:alpha val="80000"/>
                  </a:srgbClr>
                </a:solidFill>
                <a:latin typeface="Carlito" pitchFamily="34" charset="0"/>
                <a:ea typeface="Carlito" pitchFamily="34" charset="-122"/>
                <a:cs typeface="Carlito" pitchFamily="34" charset="-120"/>
              </a:rPr>
              <a:t>The mind can only hold a few items in focus at once. When confronted with an ODE, do not guess — ask the right questions, in strict hierarchical order.</a:t>
            </a:r>
            <a:endParaRPr lang="en-US" sz="1350" dirty="0"/>
          </a:p>
        </p:txBody>
      </p:sp>
      <p:sp>
        <p:nvSpPr>
          <p:cNvPr id="7" name="Text 5"/>
          <p:cNvSpPr/>
          <p:nvPr/>
        </p:nvSpPr>
        <p:spPr>
          <a:xfrm>
            <a:off x="571500" y="3964558"/>
            <a:ext cx="571500" cy="21431"/>
          </a:xfrm>
          <a:prstGeom prst="rect">
            <a:avLst/>
          </a:prstGeom>
          <a:solidFill>
            <a:srgbClr val="E07B00"/>
          </a:solidFill>
          <a:ln/>
        </p:spPr>
        <p:txBody>
          <a:bodyPr wrap="square" rtlCol="0" anchor="ctr"/>
          <a:lstStyle/>
          <a:p>
            <a:pPr indent="0" marL="0">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12539"/>
            <a:ext cx="2828965" cy="173593"/>
          </a:xfrm>
          <a:prstGeom prst="rect">
            <a:avLst/>
          </a:prstGeom>
          <a:noFill/>
          <a:ln/>
        </p:spPr>
        <p:txBody>
          <a:bodyPr wrap="none" lIns="0" tIns="0" rIns="0" bIns="0" rtlCol="0" anchor="t"/>
          <a:lstStyle/>
          <a:p>
            <a:pPr algn="l" indent="0" marL="0">
              <a:lnSpc>
                <a:spcPts val="1266"/>
              </a:lnSpc>
              <a:buNone/>
            </a:pPr>
            <a:r>
              <a:rPr lang="en-US" sz="844" b="1" spc="68" kern="0" dirty="0">
                <a:solidFill>
                  <a:srgbClr val="1F61C9"/>
                </a:solidFill>
                <a:latin typeface="Liberation Sans Narrow" pitchFamily="34" charset="0"/>
                <a:ea typeface="Liberation Sans Narrow" pitchFamily="34" charset="-122"/>
                <a:cs typeface="Liberation Sans Narrow" pitchFamily="34" charset="-120"/>
              </a:rPr>
              <a:t>MODULE 4 · THE DECISION MATRIX</a:t>
            </a:r>
            <a:endParaRPr lang="en-US" sz="844" dirty="0"/>
          </a:p>
        </p:txBody>
      </p:sp>
      <p:sp>
        <p:nvSpPr>
          <p:cNvPr id="3" name="Text 1"/>
          <p:cNvSpPr/>
          <p:nvPr/>
        </p:nvSpPr>
        <p:spPr>
          <a:xfrm>
            <a:off x="685800" y="573286"/>
            <a:ext cx="8458200" cy="252514"/>
          </a:xfrm>
          <a:prstGeom prst="rect">
            <a:avLst/>
          </a:prstGeom>
          <a:noFill/>
          <a:ln/>
        </p:spPr>
        <p:txBody>
          <a:bodyPr wrap="square" lIns="0" tIns="0" rIns="0" bIns="0" rtlCol="0" anchor="t">
            <a:normAutofit/>
          </a:bodyPr>
          <a:lstStyle/>
          <a:p>
            <a:pPr algn="l" indent="0" marL="0">
              <a:lnSpc>
                <a:spcPts val="1980"/>
              </a:lnSpc>
              <a:buNone/>
            </a:pPr>
            <a:r>
              <a:rPr lang="en-US" sz="1800" b="1" spc="-22" kern="0" dirty="0">
                <a:solidFill>
                  <a:srgbClr val="1A2A4F"/>
                </a:solidFill>
                <a:latin typeface="Carlito" pitchFamily="34" charset="0"/>
                <a:ea typeface="Carlito" pitchFamily="34" charset="-122"/>
                <a:cs typeface="Carlito" pitchFamily="34" charset="-120"/>
              </a:rPr>
              <a:t>The Cognitive Map (Unit-Economy)</a:t>
            </a:r>
            <a:endParaRPr lang="en-US" sz="1800" dirty="0"/>
          </a:p>
        </p:txBody>
      </p:sp>
      <p:sp>
        <p:nvSpPr>
          <p:cNvPr id="4" name="Text 2"/>
          <p:cNvSpPr/>
          <p:nvPr/>
        </p:nvSpPr>
        <p:spPr>
          <a:xfrm>
            <a:off x="685800" y="853232"/>
            <a:ext cx="7715250" cy="322165"/>
          </a:xfrm>
          <a:prstGeom prst="rect">
            <a:avLst/>
          </a:prstGeom>
          <a:noFill/>
          <a:ln/>
        </p:spPr>
        <p:txBody>
          <a:bodyPr wrap="square" lIns="0" tIns="0" rIns="0" bIns="0" rtlCol="0" anchor="t">
            <a:normAutofit/>
          </a:bodyPr>
          <a:lstStyle/>
          <a:p>
            <a:pPr algn="l" indent="0" marL="0">
              <a:lnSpc>
                <a:spcPts val="1264"/>
              </a:lnSpc>
              <a:buNone/>
            </a:pPr>
            <a:r>
              <a:rPr lang="en-US" sz="816" dirty="0">
                <a:solidFill>
                  <a:srgbClr val="14171F"/>
                </a:solidFill>
                <a:latin typeface="Carlito" pitchFamily="34" charset="0"/>
                <a:ea typeface="Carlito" pitchFamily="34" charset="-122"/>
                <a:cs typeface="Carlito" pitchFamily="34" charset="-120"/>
              </a:rPr>
              <a:t>The mind can only hold a few items in focus at once (Unit-Economy). When confronted with an ODE, do not guess. Ask these questions in strict hierarchical order.</a:t>
            </a:r>
            <a:endParaRPr lang="en-US" sz="816" dirty="0"/>
          </a:p>
        </p:txBody>
      </p:sp>
      <p:sp>
        <p:nvSpPr>
          <p:cNvPr id="5" name="Text 3"/>
          <p:cNvSpPr/>
          <p:nvPr/>
        </p:nvSpPr>
        <p:spPr>
          <a:xfrm>
            <a:off x="685800" y="1202829"/>
            <a:ext cx="7943850" cy="286131"/>
          </a:xfrm>
          <a:prstGeom prst="rect">
            <a:avLst/>
          </a:prstGeom>
          <a:noFill/>
          <a:ln/>
        </p:spPr>
        <p:txBody>
          <a:bodyPr wrap="square" lIns="0" tIns="0" rIns="0" bIns="0" rtlCol="0" anchor="t"/>
          <a:lstStyle/>
          <a:p>
            <a:pPr algn="l" indent="0" marL="0">
              <a:lnSpc>
                <a:spcPts val="1139"/>
              </a:lnSpc>
              <a:buNone/>
            </a:pPr>
            <a:r>
              <a:rPr lang="en-US" sz="800" i="1" dirty="0">
                <a:solidFill>
                  <a:srgbClr val="4A5160"/>
                </a:solidFill>
                <a:latin typeface="Liberation Sans Narrow" pitchFamily="34" charset="0"/>
                <a:ea typeface="Liberation Sans Narrow" pitchFamily="34" charset="-122"/>
                <a:cs typeface="Liberation Sans Narrow" pitchFamily="34" charset="-120"/>
              </a:rPr>
              <a:t>Given dydx=f(x,y) or Mdx+Ndy=0:</a:t>
            </a:r>
            <a:endParaRPr lang="en-US" sz="800" dirty="0"/>
          </a:p>
        </p:txBody>
      </p:sp>
      <p:sp>
        <p:nvSpPr>
          <p:cNvPr id="6" name="Text 4"/>
          <p:cNvSpPr/>
          <p:nvPr/>
        </p:nvSpPr>
        <p:spPr>
          <a:xfrm>
            <a:off x="689372" y="1543608"/>
            <a:ext cx="7936706" cy="579313"/>
          </a:xfrm>
          <a:prstGeom prst="roundRect">
            <a:avLst>
              <a:gd name="adj" fmla="val 9865"/>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7" name="Text 5"/>
          <p:cNvSpPr/>
          <p:nvPr/>
        </p:nvSpPr>
        <p:spPr>
          <a:xfrm>
            <a:off x="807244" y="1632905"/>
            <a:ext cx="257175" cy="257175"/>
          </a:xfrm>
          <a:prstGeom prst="ellipse">
            <a:avLst/>
          </a:prstGeom>
          <a:solidFill>
            <a:srgbClr val="1F61C9"/>
          </a:solidFill>
          <a:ln/>
        </p:spPr>
        <p:txBody>
          <a:bodyPr wrap="square" rtlCol="0" anchor="ctr"/>
          <a:lstStyle/>
          <a:p>
            <a:pPr indent="0" marL="0">
              <a:buNone/>
            </a:pPr>
            <a:endParaRPr lang="en-US" dirty="0"/>
          </a:p>
        </p:txBody>
      </p:sp>
      <p:sp>
        <p:nvSpPr>
          <p:cNvPr id="8" name="Text 6"/>
          <p:cNvSpPr/>
          <p:nvPr/>
        </p:nvSpPr>
        <p:spPr>
          <a:xfrm>
            <a:off x="807244" y="1632905"/>
            <a:ext cx="257175"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1</a:t>
            </a:r>
            <a:endParaRPr lang="en-US" sz="900" dirty="0"/>
          </a:p>
        </p:txBody>
      </p:sp>
      <p:sp>
        <p:nvSpPr>
          <p:cNvPr id="9" name="Text 7"/>
          <p:cNvSpPr/>
          <p:nvPr/>
        </p:nvSpPr>
        <p:spPr>
          <a:xfrm>
            <a:off x="1235869" y="1618617"/>
            <a:ext cx="4973952" cy="113657"/>
          </a:xfrm>
          <a:prstGeom prst="rect">
            <a:avLst/>
          </a:prstGeom>
          <a:noFill/>
          <a:ln/>
        </p:spPr>
        <p:txBody>
          <a:bodyPr wrap="none" lIns="0" tIns="0" rIns="0" bIns="0" rtlCol="0" anchor="t">
            <a:normAutofit/>
          </a:bodyPr>
          <a:lstStyle/>
          <a:p>
            <a:pPr algn="l" indent="0" marL="0">
              <a:lnSpc>
                <a:spcPts val="886"/>
              </a:lnSpc>
              <a:buNone/>
            </a:pPr>
            <a:r>
              <a:rPr lang="en-US" sz="800" b="1" spc="95" kern="0" dirty="0">
                <a:solidFill>
                  <a:srgbClr val="1F61C9"/>
                </a:solidFill>
                <a:latin typeface="Carlito" pitchFamily="34" charset="0"/>
                <a:ea typeface="Carlito" pitchFamily="34" charset="-122"/>
                <a:cs typeface="Carlito" pitchFamily="34" charset="-120"/>
              </a:rPr>
              <a:t>QUESTION</a:t>
            </a:r>
            <a:endParaRPr lang="en-US" sz="800" dirty="0"/>
          </a:p>
        </p:txBody>
      </p:sp>
      <p:sp>
        <p:nvSpPr>
          <p:cNvPr id="10" name="Text 8"/>
          <p:cNvSpPr/>
          <p:nvPr/>
        </p:nvSpPr>
        <p:spPr>
          <a:xfrm>
            <a:off x="1235869" y="1759707"/>
            <a:ext cx="3842195" cy="162265"/>
          </a:xfrm>
          <a:prstGeom prst="rect">
            <a:avLst/>
          </a:prstGeom>
          <a:noFill/>
          <a:ln/>
        </p:spPr>
        <p:txBody>
          <a:bodyPr wrap="square" lIns="0" tIns="0" rIns="0" bIns="0" rtlCol="0" anchor="t"/>
          <a:lstStyle/>
          <a:p>
            <a:pPr algn="l" indent="0" marL="0">
              <a:lnSpc>
                <a:spcPts val="1142"/>
              </a:lnSpc>
              <a:buNone/>
            </a:pPr>
            <a:r>
              <a:rPr lang="en-US" sz="800" b="1" dirty="0">
                <a:solidFill>
                  <a:srgbClr val="14171F"/>
                </a:solidFill>
                <a:latin typeface="Carlito" pitchFamily="34" charset="0"/>
                <a:ea typeface="Carlito" pitchFamily="34" charset="-122"/>
                <a:cs typeface="Carlito" pitchFamily="34" charset="-120"/>
              </a:rPr>
              <a:t>Does f(x,y) factor into g(x)h(y)?</a:t>
            </a:r>
            <a:endParaRPr lang="en-US" sz="800" dirty="0"/>
          </a:p>
        </p:txBody>
      </p:sp>
      <p:sp>
        <p:nvSpPr>
          <p:cNvPr id="11" name="Shape 9"/>
          <p:cNvSpPr/>
          <p:nvPr/>
        </p:nvSpPr>
        <p:spPr>
          <a:xfrm>
            <a:off x="4957763" y="1618617"/>
            <a:ext cx="0" cy="429295"/>
          </a:xfrm>
          <a:prstGeom prst="line">
            <a:avLst/>
          </a:prstGeom>
          <a:noFill/>
          <a:ln w="14288">
            <a:solidFill>
              <a:srgbClr val="6B2FA0"/>
            </a:solidFill>
            <a:prstDash val="solid"/>
          </a:ln>
        </p:spPr>
      </p:sp>
      <p:sp>
        <p:nvSpPr>
          <p:cNvPr id="12" name="Text 10"/>
          <p:cNvSpPr/>
          <p:nvPr/>
        </p:nvSpPr>
        <p:spPr>
          <a:xfrm>
            <a:off x="5064919" y="1618617"/>
            <a:ext cx="3443288" cy="106513"/>
          </a:xfrm>
          <a:prstGeom prst="rect">
            <a:avLst/>
          </a:prstGeom>
          <a:noFill/>
          <a:ln/>
        </p:spPr>
        <p:txBody>
          <a:bodyPr wrap="none" lIns="0" tIns="0" rIns="0" bIns="0" rtlCol="0" anchor="t">
            <a:normAutofit/>
          </a:bodyPr>
          <a:lstStyle/>
          <a:p>
            <a:pPr algn="l" indent="0" marL="0">
              <a:lnSpc>
                <a:spcPts val="886"/>
              </a:lnSpc>
              <a:buNone/>
            </a:pPr>
            <a:r>
              <a:rPr lang="en-US" sz="800" b="1" spc="83" kern="0" dirty="0">
                <a:solidFill>
                  <a:srgbClr val="6B2FA0"/>
                </a:solidFill>
                <a:latin typeface="Carlito" pitchFamily="34" charset="0"/>
                <a:ea typeface="Carlito" pitchFamily="34" charset="-122"/>
                <a:cs typeface="Carlito" pitchFamily="34" charset="-120"/>
              </a:rPr>
              <a:t>YES → SEPARABLE</a:t>
            </a:r>
            <a:endParaRPr lang="en-US" sz="800" dirty="0"/>
          </a:p>
        </p:txBody>
      </p:sp>
      <p:sp>
        <p:nvSpPr>
          <p:cNvPr id="13" name="Text 11"/>
          <p:cNvSpPr/>
          <p:nvPr/>
        </p:nvSpPr>
        <p:spPr>
          <a:xfrm>
            <a:off x="5064919" y="1752563"/>
            <a:ext cx="3443288" cy="126159"/>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4171F"/>
                </a:solidFill>
                <a:latin typeface="Carlito" pitchFamily="34" charset="0"/>
                <a:ea typeface="Carlito" pitchFamily="34" charset="-122"/>
                <a:cs typeface="Carlito" pitchFamily="34" charset="-120"/>
              </a:rPr>
              <a:t>Separate and integrate.</a:t>
            </a:r>
            <a:endParaRPr lang="en-US" sz="800" dirty="0"/>
          </a:p>
        </p:txBody>
      </p:sp>
      <p:sp>
        <p:nvSpPr>
          <p:cNvPr id="14" name="Text 12"/>
          <p:cNvSpPr/>
          <p:nvPr/>
        </p:nvSpPr>
        <p:spPr>
          <a:xfrm>
            <a:off x="5064919" y="1906153"/>
            <a:ext cx="3553015" cy="141759"/>
          </a:xfrm>
          <a:prstGeom prst="rect">
            <a:avLst/>
          </a:prstGeom>
          <a:noFill/>
          <a:ln/>
        </p:spPr>
        <p:txBody>
          <a:bodyPr wrap="square" lIns="0" tIns="0" rIns="0" bIns="0" rtlCol="0" anchor="t"/>
          <a:lstStyle/>
          <a:p>
            <a:pPr algn="l" indent="0" marL="0">
              <a:lnSpc>
                <a:spcPts val="1060"/>
              </a:lnSpc>
              <a:buNone/>
            </a:pPr>
            <a:r>
              <a:rPr lang="en-US" sz="800" dirty="0">
                <a:solidFill>
                  <a:srgbClr val="14171F"/>
                </a:solidFill>
                <a:latin typeface="Liberation Sans Narrow" pitchFamily="34" charset="0"/>
                <a:ea typeface="Liberation Sans Narrow" pitchFamily="34" charset="-122"/>
                <a:cs typeface="Liberation Sans Narrow" pitchFamily="34" charset="-120"/>
              </a:rPr>
              <a:t>Check h(y)=0 for equilibria.</a:t>
            </a:r>
            <a:endParaRPr lang="en-US" sz="800" dirty="0"/>
          </a:p>
        </p:txBody>
      </p:sp>
      <p:sp>
        <p:nvSpPr>
          <p:cNvPr id="15" name="Text 13"/>
          <p:cNvSpPr/>
          <p:nvPr/>
        </p:nvSpPr>
        <p:spPr>
          <a:xfrm>
            <a:off x="689372" y="2187215"/>
            <a:ext cx="7936706" cy="599852"/>
          </a:xfrm>
          <a:prstGeom prst="roundRect">
            <a:avLst>
              <a:gd name="adj" fmla="val 9527"/>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16" name="Text 14"/>
          <p:cNvSpPr/>
          <p:nvPr/>
        </p:nvSpPr>
        <p:spPr>
          <a:xfrm>
            <a:off x="807244" y="2276512"/>
            <a:ext cx="257175" cy="257175"/>
          </a:xfrm>
          <a:prstGeom prst="ellipse">
            <a:avLst/>
          </a:prstGeom>
          <a:solidFill>
            <a:srgbClr val="1F61C9"/>
          </a:solidFill>
          <a:ln/>
        </p:spPr>
        <p:txBody>
          <a:bodyPr wrap="square" rtlCol="0" anchor="ctr"/>
          <a:lstStyle/>
          <a:p>
            <a:pPr indent="0" marL="0">
              <a:buNone/>
            </a:pPr>
            <a:endParaRPr lang="en-US" dirty="0"/>
          </a:p>
        </p:txBody>
      </p:sp>
      <p:sp>
        <p:nvSpPr>
          <p:cNvPr id="17" name="Text 15"/>
          <p:cNvSpPr/>
          <p:nvPr/>
        </p:nvSpPr>
        <p:spPr>
          <a:xfrm>
            <a:off x="807244" y="2276512"/>
            <a:ext cx="257175"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2</a:t>
            </a:r>
            <a:endParaRPr lang="en-US" sz="900" dirty="0"/>
          </a:p>
        </p:txBody>
      </p:sp>
      <p:sp>
        <p:nvSpPr>
          <p:cNvPr id="18" name="Text 16"/>
          <p:cNvSpPr/>
          <p:nvPr/>
        </p:nvSpPr>
        <p:spPr>
          <a:xfrm>
            <a:off x="1235869" y="2262225"/>
            <a:ext cx="4973952" cy="113657"/>
          </a:xfrm>
          <a:prstGeom prst="rect">
            <a:avLst/>
          </a:prstGeom>
          <a:noFill/>
          <a:ln/>
        </p:spPr>
        <p:txBody>
          <a:bodyPr wrap="none" lIns="0" tIns="0" rIns="0" bIns="0" rtlCol="0" anchor="t">
            <a:normAutofit/>
          </a:bodyPr>
          <a:lstStyle/>
          <a:p>
            <a:pPr algn="l" indent="0" marL="0">
              <a:lnSpc>
                <a:spcPts val="886"/>
              </a:lnSpc>
              <a:buNone/>
            </a:pPr>
            <a:r>
              <a:rPr lang="en-US" sz="800" b="1" spc="95" kern="0" dirty="0">
                <a:solidFill>
                  <a:srgbClr val="1F61C9"/>
                </a:solidFill>
                <a:latin typeface="Carlito" pitchFamily="34" charset="0"/>
                <a:ea typeface="Carlito" pitchFamily="34" charset="-122"/>
                <a:cs typeface="Carlito" pitchFamily="34" charset="-120"/>
              </a:rPr>
              <a:t>QUESTION</a:t>
            </a:r>
            <a:endParaRPr lang="en-US" sz="800" dirty="0"/>
          </a:p>
        </p:txBody>
      </p:sp>
      <p:sp>
        <p:nvSpPr>
          <p:cNvPr id="19" name="Text 17"/>
          <p:cNvSpPr/>
          <p:nvPr/>
        </p:nvSpPr>
        <p:spPr>
          <a:xfrm>
            <a:off x="1235869" y="2403314"/>
            <a:ext cx="3842195" cy="162265"/>
          </a:xfrm>
          <a:prstGeom prst="rect">
            <a:avLst/>
          </a:prstGeom>
          <a:noFill/>
          <a:ln/>
        </p:spPr>
        <p:txBody>
          <a:bodyPr wrap="square" lIns="0" tIns="0" rIns="0" bIns="0" rtlCol="0" anchor="t"/>
          <a:lstStyle/>
          <a:p>
            <a:pPr algn="l" indent="0" marL="0">
              <a:lnSpc>
                <a:spcPts val="1142"/>
              </a:lnSpc>
              <a:buNone/>
            </a:pPr>
            <a:r>
              <a:rPr lang="en-US" sz="800" b="1" dirty="0">
                <a:solidFill>
                  <a:srgbClr val="14171F"/>
                </a:solidFill>
                <a:latin typeface="Carlito" pitchFamily="34" charset="0"/>
                <a:ea typeface="Carlito" pitchFamily="34" charset="-122"/>
                <a:cs typeface="Carlito" pitchFamily="34" charset="-120"/>
              </a:rPr>
              <a:t>Can it be written as y′+P(x)y=Q(x)?</a:t>
            </a:r>
            <a:endParaRPr lang="en-US" sz="800" dirty="0"/>
          </a:p>
        </p:txBody>
      </p:sp>
      <p:sp>
        <p:nvSpPr>
          <p:cNvPr id="20" name="Shape 18"/>
          <p:cNvSpPr/>
          <p:nvPr/>
        </p:nvSpPr>
        <p:spPr>
          <a:xfrm>
            <a:off x="4957763" y="2262225"/>
            <a:ext cx="0" cy="449833"/>
          </a:xfrm>
          <a:prstGeom prst="line">
            <a:avLst/>
          </a:prstGeom>
          <a:noFill/>
          <a:ln w="14288">
            <a:solidFill>
              <a:srgbClr val="6B2FA0"/>
            </a:solidFill>
            <a:prstDash val="solid"/>
          </a:ln>
        </p:spPr>
      </p:sp>
      <p:sp>
        <p:nvSpPr>
          <p:cNvPr id="21" name="Text 19"/>
          <p:cNvSpPr/>
          <p:nvPr/>
        </p:nvSpPr>
        <p:spPr>
          <a:xfrm>
            <a:off x="5064919" y="2262225"/>
            <a:ext cx="3443288" cy="106513"/>
          </a:xfrm>
          <a:prstGeom prst="rect">
            <a:avLst/>
          </a:prstGeom>
          <a:noFill/>
          <a:ln/>
        </p:spPr>
        <p:txBody>
          <a:bodyPr wrap="none" lIns="0" tIns="0" rIns="0" bIns="0" rtlCol="0" anchor="t">
            <a:normAutofit/>
          </a:bodyPr>
          <a:lstStyle/>
          <a:p>
            <a:pPr algn="l" indent="0" marL="0">
              <a:lnSpc>
                <a:spcPts val="886"/>
              </a:lnSpc>
              <a:buNone/>
            </a:pPr>
            <a:r>
              <a:rPr lang="en-US" sz="800" b="1" spc="83" kern="0" dirty="0">
                <a:solidFill>
                  <a:srgbClr val="6B2FA0"/>
                </a:solidFill>
                <a:latin typeface="Carlito" pitchFamily="34" charset="0"/>
                <a:ea typeface="Carlito" pitchFamily="34" charset="-122"/>
                <a:cs typeface="Carlito" pitchFamily="34" charset="-120"/>
              </a:rPr>
              <a:t>YES → LINEAR</a:t>
            </a:r>
            <a:endParaRPr lang="en-US" sz="800" dirty="0"/>
          </a:p>
        </p:txBody>
      </p:sp>
      <p:sp>
        <p:nvSpPr>
          <p:cNvPr id="22" name="Text 20"/>
          <p:cNvSpPr/>
          <p:nvPr/>
        </p:nvSpPr>
        <p:spPr>
          <a:xfrm>
            <a:off x="5064919" y="2396170"/>
            <a:ext cx="3443288" cy="126159"/>
          </a:xfrm>
          <a:prstGeom prst="rect">
            <a:avLst/>
          </a:prstGeom>
          <a:noFill/>
          <a:ln/>
        </p:spPr>
        <p:txBody>
          <a:bodyPr wrap="square" lIns="0" tIns="0" rIns="0" bIns="0" rtlCol="0" anchor="t">
            <a:normAutofit/>
          </a:bodyPr>
          <a:lstStyle/>
          <a:p>
            <a:pPr algn="l" indent="0" marL="0">
              <a:lnSpc>
                <a:spcPts val="1097"/>
              </a:lnSpc>
              <a:buNone/>
            </a:pPr>
            <a:r>
              <a:rPr lang="en-US" sz="800" b="1" dirty="0">
                <a:solidFill>
                  <a:srgbClr val="14171F"/>
                </a:solidFill>
                <a:latin typeface="Carlito" pitchFamily="34" charset="0"/>
                <a:ea typeface="Carlito" pitchFamily="34" charset="-122"/>
                <a:cs typeface="Carlito" pitchFamily="34" charset="-120"/>
              </a:rPr>
              <a:t>Multiply by integrating factor &amp; collapse product rule.</a:t>
            </a:r>
            <a:endParaRPr lang="en-US" sz="800" dirty="0"/>
          </a:p>
        </p:txBody>
      </p:sp>
      <p:sp>
        <p:nvSpPr>
          <p:cNvPr id="23" name="Text 21"/>
          <p:cNvSpPr/>
          <p:nvPr/>
        </p:nvSpPr>
        <p:spPr>
          <a:xfrm>
            <a:off x="5064919" y="2549761"/>
            <a:ext cx="3443288" cy="162297"/>
          </a:xfrm>
          <a:prstGeom prst="rect">
            <a:avLst/>
          </a:prstGeom>
          <a:noFill/>
          <a:ln/>
        </p:spPr>
        <p:txBody>
          <a:bodyPr wrap="none" lIns="0" tIns="0" rIns="0" bIns="0" rtlCol="0" anchor="t"/>
          <a:lstStyle/>
          <a:p>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μ=e∫Pdx, then integrate.</a:t>
            </a:r>
            <a:endParaRPr lang="en-US" sz="800" dirty="0"/>
          </a:p>
        </p:txBody>
      </p:sp>
      <p:sp>
        <p:nvSpPr>
          <p:cNvPr id="24" name="Text 22"/>
          <p:cNvSpPr/>
          <p:nvPr/>
        </p:nvSpPr>
        <p:spPr>
          <a:xfrm>
            <a:off x="689372" y="2851361"/>
            <a:ext cx="7936706" cy="891741"/>
          </a:xfrm>
          <a:prstGeom prst="roundRect">
            <a:avLst>
              <a:gd name="adj" fmla="val 6409"/>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25" name="Text 23"/>
          <p:cNvSpPr/>
          <p:nvPr/>
        </p:nvSpPr>
        <p:spPr>
          <a:xfrm>
            <a:off x="807244" y="2940658"/>
            <a:ext cx="257175" cy="257175"/>
          </a:xfrm>
          <a:prstGeom prst="ellipse">
            <a:avLst/>
          </a:prstGeom>
          <a:solidFill>
            <a:srgbClr val="1F61C9"/>
          </a:solidFill>
          <a:ln/>
        </p:spPr>
        <p:txBody>
          <a:bodyPr wrap="square" rtlCol="0" anchor="ctr"/>
          <a:lstStyle/>
          <a:p>
            <a:pPr indent="0" marL="0">
              <a:buNone/>
            </a:pPr>
            <a:endParaRPr lang="en-US" dirty="0"/>
          </a:p>
        </p:txBody>
      </p:sp>
      <p:sp>
        <p:nvSpPr>
          <p:cNvPr id="26" name="Text 24"/>
          <p:cNvSpPr/>
          <p:nvPr/>
        </p:nvSpPr>
        <p:spPr>
          <a:xfrm>
            <a:off x="807244" y="2940658"/>
            <a:ext cx="257175"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3</a:t>
            </a:r>
            <a:endParaRPr lang="en-US" sz="900" dirty="0"/>
          </a:p>
        </p:txBody>
      </p:sp>
      <p:sp>
        <p:nvSpPr>
          <p:cNvPr id="27" name="Text 25"/>
          <p:cNvSpPr/>
          <p:nvPr/>
        </p:nvSpPr>
        <p:spPr>
          <a:xfrm>
            <a:off x="1235869" y="2926370"/>
            <a:ext cx="4973952" cy="113657"/>
          </a:xfrm>
          <a:prstGeom prst="rect">
            <a:avLst/>
          </a:prstGeom>
          <a:noFill/>
          <a:ln/>
        </p:spPr>
        <p:txBody>
          <a:bodyPr wrap="none" lIns="0" tIns="0" rIns="0" bIns="0" rtlCol="0" anchor="t">
            <a:normAutofit/>
          </a:bodyPr>
          <a:lstStyle/>
          <a:p>
            <a:pPr algn="l" indent="0" marL="0">
              <a:lnSpc>
                <a:spcPts val="886"/>
              </a:lnSpc>
              <a:buNone/>
            </a:pPr>
            <a:r>
              <a:rPr lang="en-US" sz="800" b="1" spc="95" kern="0" dirty="0">
                <a:solidFill>
                  <a:srgbClr val="1F61C9"/>
                </a:solidFill>
                <a:latin typeface="Carlito" pitchFamily="34" charset="0"/>
                <a:ea typeface="Carlito" pitchFamily="34" charset="-122"/>
                <a:cs typeface="Carlito" pitchFamily="34" charset="-120"/>
              </a:rPr>
              <a:t>QUESTION</a:t>
            </a:r>
            <a:endParaRPr lang="en-US" sz="800" dirty="0"/>
          </a:p>
        </p:txBody>
      </p:sp>
      <p:sp>
        <p:nvSpPr>
          <p:cNvPr id="28" name="Text 26"/>
          <p:cNvSpPr/>
          <p:nvPr/>
        </p:nvSpPr>
        <p:spPr>
          <a:xfrm>
            <a:off x="1235869" y="3067459"/>
            <a:ext cx="3842195" cy="162265"/>
          </a:xfrm>
          <a:prstGeom prst="rect">
            <a:avLst/>
          </a:prstGeom>
          <a:noFill/>
          <a:ln/>
        </p:spPr>
        <p:txBody>
          <a:bodyPr wrap="square" lIns="0" tIns="0" rIns="0" bIns="0" rtlCol="0" anchor="t"/>
          <a:lstStyle/>
          <a:p>
            <a:pPr algn="l" indent="0" marL="0">
              <a:lnSpc>
                <a:spcPts val="1142"/>
              </a:lnSpc>
              <a:buNone/>
            </a:pPr>
            <a:r>
              <a:rPr lang="en-US" sz="800" b="1" dirty="0">
                <a:solidFill>
                  <a:srgbClr val="14171F"/>
                </a:solidFill>
                <a:latin typeface="Liberation Sans Narrow" pitchFamily="34" charset="0"/>
                <a:ea typeface="Liberation Sans Narrow" pitchFamily="34" charset="-122"/>
                <a:cs typeface="Liberation Sans Narrow" pitchFamily="34" charset="-120"/>
              </a:rPr>
              <a:t>In form Mdx+Ndy=0, is My=Nx?</a:t>
            </a:r>
            <a:endParaRPr lang="en-US" sz="800" dirty="0"/>
          </a:p>
        </p:txBody>
      </p:sp>
      <p:sp>
        <p:nvSpPr>
          <p:cNvPr id="29" name="Shape 27"/>
          <p:cNvSpPr/>
          <p:nvPr/>
        </p:nvSpPr>
        <p:spPr>
          <a:xfrm>
            <a:off x="4957763" y="2926370"/>
            <a:ext cx="0" cy="741722"/>
          </a:xfrm>
          <a:prstGeom prst="line">
            <a:avLst/>
          </a:prstGeom>
          <a:noFill/>
          <a:ln w="14288">
            <a:solidFill>
              <a:srgbClr val="6B2FA0"/>
            </a:solidFill>
            <a:prstDash val="solid"/>
          </a:ln>
        </p:spPr>
      </p:sp>
      <p:sp>
        <p:nvSpPr>
          <p:cNvPr id="30" name="Text 28"/>
          <p:cNvSpPr/>
          <p:nvPr/>
        </p:nvSpPr>
        <p:spPr>
          <a:xfrm>
            <a:off x="5064919" y="2926370"/>
            <a:ext cx="3443288" cy="106513"/>
          </a:xfrm>
          <a:prstGeom prst="rect">
            <a:avLst/>
          </a:prstGeom>
          <a:noFill/>
          <a:ln/>
        </p:spPr>
        <p:txBody>
          <a:bodyPr wrap="none" lIns="0" tIns="0" rIns="0" bIns="0" rtlCol="0" anchor="t">
            <a:normAutofit/>
          </a:bodyPr>
          <a:lstStyle/>
          <a:p>
            <a:pPr algn="l" indent="0" marL="0">
              <a:lnSpc>
                <a:spcPts val="886"/>
              </a:lnSpc>
              <a:buNone/>
            </a:pPr>
            <a:r>
              <a:rPr lang="en-US" sz="800" b="1" spc="83" kern="0" dirty="0">
                <a:solidFill>
                  <a:srgbClr val="6B2FA0"/>
                </a:solidFill>
                <a:latin typeface="Carlito" pitchFamily="34" charset="0"/>
                <a:ea typeface="Carlito" pitchFamily="34" charset="-122"/>
                <a:cs typeface="Carlito" pitchFamily="34" charset="-120"/>
              </a:rPr>
              <a:t>YES → EXACT</a:t>
            </a:r>
            <a:endParaRPr lang="en-US" sz="800" dirty="0"/>
          </a:p>
        </p:txBody>
      </p:sp>
      <p:sp>
        <p:nvSpPr>
          <p:cNvPr id="31" name="Text 29"/>
          <p:cNvSpPr/>
          <p:nvPr/>
        </p:nvSpPr>
        <p:spPr>
          <a:xfrm>
            <a:off x="5064919" y="3060316"/>
            <a:ext cx="3443288" cy="167889"/>
          </a:xfrm>
          <a:prstGeom prst="rect">
            <a:avLst/>
          </a:prstGeom>
          <a:noFill/>
          <a:ln/>
        </p:spPr>
        <p:txBody>
          <a:bodyPr wrap="none" lIns="0" tIns="0" rIns="0" bIns="0" rtlCol="0" anchor="t"/>
          <a:lstStyle/>
          <a:p>
            <a:pPr algn="l" indent="0" marL="0">
              <a:lnSpc>
                <a:spcPts val="1097"/>
              </a:lnSpc>
              <a:buNone/>
            </a:pPr>
            <a:r>
              <a:rPr lang="en-US" sz="800" b="1" dirty="0">
                <a:solidFill>
                  <a:srgbClr val="14171F"/>
                </a:solidFill>
                <a:latin typeface="Carlito" pitchFamily="34" charset="0"/>
                <a:ea typeface="Carlito" pitchFamily="34" charset="-122"/>
                <a:cs typeface="Carlito" pitchFamily="34" charset="-120"/>
              </a:rPr>
              <a:t>Find potential F(x,y)=C.</a:t>
            </a:r>
            <a:endParaRPr lang="en-US" sz="800" dirty="0"/>
          </a:p>
        </p:txBody>
      </p:sp>
      <p:sp>
        <p:nvSpPr>
          <p:cNvPr id="32" name="Shape 30"/>
          <p:cNvSpPr/>
          <p:nvPr/>
        </p:nvSpPr>
        <p:spPr>
          <a:xfrm>
            <a:off x="5072063" y="3259559"/>
            <a:ext cx="0" cy="408533"/>
          </a:xfrm>
          <a:prstGeom prst="line">
            <a:avLst/>
          </a:prstGeom>
          <a:noFill/>
          <a:ln w="14288">
            <a:solidFill>
              <a:srgbClr val="4A5160"/>
            </a:solidFill>
            <a:prstDash val="solid"/>
          </a:ln>
        </p:spPr>
      </p:sp>
      <p:sp>
        <p:nvSpPr>
          <p:cNvPr id="33" name="Text 31"/>
          <p:cNvSpPr/>
          <p:nvPr/>
        </p:nvSpPr>
        <p:spPr>
          <a:xfrm>
            <a:off x="5179219" y="3259559"/>
            <a:ext cx="3438715" cy="106513"/>
          </a:xfrm>
          <a:prstGeom prst="rect">
            <a:avLst/>
          </a:prstGeom>
          <a:noFill/>
          <a:ln/>
        </p:spPr>
        <p:txBody>
          <a:bodyPr wrap="square" lIns="0" tIns="0" rIns="0" bIns="0" rtlCol="0" anchor="t">
            <a:normAutofit/>
          </a:bodyPr>
          <a:lstStyle/>
          <a:p>
            <a:pPr algn="l" indent="0" marL="0">
              <a:lnSpc>
                <a:spcPts val="886"/>
              </a:lnSpc>
              <a:buNone/>
            </a:pPr>
            <a:r>
              <a:rPr lang="en-US" sz="800" b="1" spc="83" kern="0" dirty="0">
                <a:solidFill>
                  <a:srgbClr val="4A5160"/>
                </a:solidFill>
                <a:latin typeface="Carlito" pitchFamily="34" charset="0"/>
                <a:ea typeface="Carlito" pitchFamily="34" charset="-122"/>
                <a:cs typeface="Carlito" pitchFamily="34" charset="-120"/>
              </a:rPr>
              <a:t>NO → TEST FOR INTEGRATING FACTOR</a:t>
            </a:r>
            <a:endParaRPr lang="en-US" sz="800" dirty="0"/>
          </a:p>
        </p:txBody>
      </p:sp>
      <p:sp>
        <p:nvSpPr>
          <p:cNvPr id="34" name="Text 32"/>
          <p:cNvSpPr/>
          <p:nvPr/>
        </p:nvSpPr>
        <p:spPr>
          <a:xfrm>
            <a:off x="5179219" y="3393504"/>
            <a:ext cx="3328988" cy="274588"/>
          </a:xfrm>
          <a:prstGeom prst="rect">
            <a:avLst/>
          </a:prstGeom>
          <a:noFill/>
          <a:ln/>
        </p:spPr>
        <p:txBody>
          <a:bodyPr wrap="square" lIns="0" tIns="0" rIns="0" bIns="0" rtlCol="0" anchor="t"/>
          <a:lstStyle/>
          <a:p>
            <a:pPr algn="l" indent="0" marL="0">
              <a:lnSpc>
                <a:spcPts val="1060"/>
              </a:lnSpc>
              <a:buNone/>
            </a:pPr>
            <a:r>
              <a:rPr lang="en-US" sz="800" dirty="0">
                <a:solidFill>
                  <a:srgbClr val="14171F"/>
                </a:solidFill>
                <a:latin typeface="Carlito" pitchFamily="34" charset="0"/>
                <a:ea typeface="Carlito" pitchFamily="34" charset="-122"/>
                <a:cs typeface="Carlito" pitchFamily="34" charset="-120"/>
              </a:rPr>
              <a:t>Test My−NxN or Nx−MyM for an integrating factor μ.</a:t>
            </a:r>
            <a:endParaRPr lang="en-US" sz="800" dirty="0"/>
          </a:p>
        </p:txBody>
      </p:sp>
      <p:sp>
        <p:nvSpPr>
          <p:cNvPr id="35" name="Text 33"/>
          <p:cNvSpPr/>
          <p:nvPr/>
        </p:nvSpPr>
        <p:spPr>
          <a:xfrm>
            <a:off x="689372" y="3807396"/>
            <a:ext cx="7936706" cy="579313"/>
          </a:xfrm>
          <a:prstGeom prst="roundRect">
            <a:avLst>
              <a:gd name="adj" fmla="val 9865"/>
            </a:avLst>
          </a:prstGeom>
          <a:solidFill>
            <a:srgbClr val="F6F7FB"/>
          </a:solidFill>
          <a:ln w="7144">
            <a:solidFill>
              <a:srgbClr val="E3E6EE"/>
            </a:solidFill>
            <a:prstDash val="solid"/>
          </a:ln>
        </p:spPr>
        <p:txBody>
          <a:bodyPr wrap="square" rtlCol="0" anchor="ctr"/>
          <a:lstStyle/>
          <a:p>
            <a:pPr indent="0" marL="0">
              <a:buNone/>
            </a:pPr>
            <a:endParaRPr lang="en-US" dirty="0"/>
          </a:p>
        </p:txBody>
      </p:sp>
      <p:sp>
        <p:nvSpPr>
          <p:cNvPr id="36" name="Text 34"/>
          <p:cNvSpPr/>
          <p:nvPr/>
        </p:nvSpPr>
        <p:spPr>
          <a:xfrm>
            <a:off x="807244" y="3896692"/>
            <a:ext cx="257175" cy="257175"/>
          </a:xfrm>
          <a:prstGeom prst="ellipse">
            <a:avLst/>
          </a:prstGeom>
          <a:solidFill>
            <a:srgbClr val="1F61C9"/>
          </a:solidFill>
          <a:ln/>
        </p:spPr>
        <p:txBody>
          <a:bodyPr wrap="square" rtlCol="0" anchor="ctr"/>
          <a:lstStyle/>
          <a:p>
            <a:pPr indent="0" marL="0">
              <a:buNone/>
            </a:pPr>
            <a:endParaRPr lang="en-US" dirty="0"/>
          </a:p>
        </p:txBody>
      </p:sp>
      <p:sp>
        <p:nvSpPr>
          <p:cNvPr id="37" name="Text 35"/>
          <p:cNvSpPr/>
          <p:nvPr/>
        </p:nvSpPr>
        <p:spPr>
          <a:xfrm>
            <a:off x="807244" y="3896692"/>
            <a:ext cx="257175"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4</a:t>
            </a:r>
            <a:endParaRPr lang="en-US" sz="900" dirty="0"/>
          </a:p>
        </p:txBody>
      </p:sp>
      <p:sp>
        <p:nvSpPr>
          <p:cNvPr id="38" name="Text 36"/>
          <p:cNvSpPr/>
          <p:nvPr/>
        </p:nvSpPr>
        <p:spPr>
          <a:xfrm>
            <a:off x="1235869" y="3882405"/>
            <a:ext cx="4973952" cy="113657"/>
          </a:xfrm>
          <a:prstGeom prst="rect">
            <a:avLst/>
          </a:prstGeom>
          <a:noFill/>
          <a:ln/>
        </p:spPr>
        <p:txBody>
          <a:bodyPr wrap="none" lIns="0" tIns="0" rIns="0" bIns="0" rtlCol="0" anchor="t">
            <a:normAutofit/>
          </a:bodyPr>
          <a:lstStyle/>
          <a:p>
            <a:pPr algn="l" indent="0" marL="0">
              <a:lnSpc>
                <a:spcPts val="886"/>
              </a:lnSpc>
              <a:buNone/>
            </a:pPr>
            <a:r>
              <a:rPr lang="en-US" sz="800" b="1" spc="95" kern="0" dirty="0">
                <a:solidFill>
                  <a:srgbClr val="1F61C9"/>
                </a:solidFill>
                <a:latin typeface="Carlito" pitchFamily="34" charset="0"/>
                <a:ea typeface="Carlito" pitchFamily="34" charset="-122"/>
                <a:cs typeface="Carlito" pitchFamily="34" charset="-120"/>
              </a:rPr>
              <a:t>QUESTION</a:t>
            </a:r>
            <a:endParaRPr lang="en-US" sz="800" dirty="0"/>
          </a:p>
        </p:txBody>
      </p:sp>
      <p:sp>
        <p:nvSpPr>
          <p:cNvPr id="39" name="Text 37"/>
          <p:cNvSpPr/>
          <p:nvPr/>
        </p:nvSpPr>
        <p:spPr>
          <a:xfrm>
            <a:off x="1235869" y="4023494"/>
            <a:ext cx="3842195" cy="159081"/>
          </a:xfrm>
          <a:prstGeom prst="rect">
            <a:avLst/>
          </a:prstGeom>
          <a:noFill/>
          <a:ln/>
        </p:spPr>
        <p:txBody>
          <a:bodyPr wrap="square" lIns="0" tIns="0" rIns="0" bIns="0" rtlCol="0" anchor="t"/>
          <a:lstStyle/>
          <a:p>
            <a:pPr algn="l" indent="0" marL="0">
              <a:lnSpc>
                <a:spcPts val="1142"/>
              </a:lnSpc>
              <a:buNone/>
            </a:pPr>
            <a:r>
              <a:rPr lang="en-US" sz="800" b="1" dirty="0">
                <a:solidFill>
                  <a:srgbClr val="14171F"/>
                </a:solidFill>
                <a:latin typeface="Carlito" pitchFamily="34" charset="0"/>
                <a:ea typeface="Carlito" pitchFamily="34" charset="-122"/>
                <a:cs typeface="Carlito" pitchFamily="34" charset="-120"/>
              </a:rPr>
              <a:t>Need a numerical value but no closed form exists?</a:t>
            </a:r>
            <a:endParaRPr lang="en-US" sz="800" dirty="0"/>
          </a:p>
        </p:txBody>
      </p:sp>
      <p:sp>
        <p:nvSpPr>
          <p:cNvPr id="40" name="Shape 38"/>
          <p:cNvSpPr/>
          <p:nvPr/>
        </p:nvSpPr>
        <p:spPr>
          <a:xfrm>
            <a:off x="4957763" y="3882405"/>
            <a:ext cx="0" cy="429295"/>
          </a:xfrm>
          <a:prstGeom prst="line">
            <a:avLst/>
          </a:prstGeom>
          <a:noFill/>
          <a:ln w="14288">
            <a:solidFill>
              <a:srgbClr val="6B2FA0"/>
            </a:solidFill>
            <a:prstDash val="solid"/>
          </a:ln>
        </p:spPr>
      </p:sp>
      <p:sp>
        <p:nvSpPr>
          <p:cNvPr id="41" name="Text 39"/>
          <p:cNvSpPr/>
          <p:nvPr/>
        </p:nvSpPr>
        <p:spPr>
          <a:xfrm>
            <a:off x="5064919" y="3882405"/>
            <a:ext cx="3443288" cy="106513"/>
          </a:xfrm>
          <a:prstGeom prst="rect">
            <a:avLst/>
          </a:prstGeom>
          <a:noFill/>
          <a:ln/>
        </p:spPr>
        <p:txBody>
          <a:bodyPr wrap="none" lIns="0" tIns="0" rIns="0" bIns="0" rtlCol="0" anchor="t">
            <a:normAutofit/>
          </a:bodyPr>
          <a:lstStyle/>
          <a:p>
            <a:pPr algn="l" indent="0" marL="0">
              <a:lnSpc>
                <a:spcPts val="886"/>
              </a:lnSpc>
              <a:buNone/>
            </a:pPr>
            <a:r>
              <a:rPr lang="en-US" sz="800" b="1" spc="83" kern="0" dirty="0">
                <a:solidFill>
                  <a:srgbClr val="6B2FA0"/>
                </a:solidFill>
                <a:latin typeface="Carlito" pitchFamily="34" charset="0"/>
                <a:ea typeface="Carlito" pitchFamily="34" charset="-122"/>
                <a:cs typeface="Carlito" pitchFamily="34" charset="-120"/>
              </a:rPr>
              <a:t>YES → EULER’S METHOD</a:t>
            </a:r>
            <a:endParaRPr lang="en-US" sz="800" dirty="0"/>
          </a:p>
        </p:txBody>
      </p:sp>
      <p:sp>
        <p:nvSpPr>
          <p:cNvPr id="42" name="Text 40"/>
          <p:cNvSpPr/>
          <p:nvPr/>
        </p:nvSpPr>
        <p:spPr>
          <a:xfrm>
            <a:off x="5064919" y="4016350"/>
            <a:ext cx="3443288" cy="126159"/>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4171F"/>
                </a:solidFill>
                <a:latin typeface="Carlito" pitchFamily="34" charset="0"/>
                <a:ea typeface="Carlito" pitchFamily="34" charset="-122"/>
                <a:cs typeface="Carlito" pitchFamily="34" charset="-120"/>
              </a:rPr>
              <a:t>Step along tangents.</a:t>
            </a:r>
            <a:endParaRPr lang="en-US" sz="800" dirty="0"/>
          </a:p>
        </p:txBody>
      </p:sp>
      <p:pic>
        <p:nvPicPr>
          <p:cNvPr id="43" name="Image 0" descr="/tmp/h2p-svg-1781853767370-b2flj4.png">    </p:cNvPr>
          <p:cNvPicPr>
            <a:picLocks noChangeAspect="1"/>
          </p:cNvPicPr>
          <p:nvPr/>
        </p:nvPicPr>
        <p:blipFill>
          <a:blip r:embed="rId1"/>
          <a:stretch>
            <a:fillRect/>
          </a:stretch>
        </p:blipFill>
        <p:spPr>
          <a:xfrm>
            <a:off x="5064919" y="4172955"/>
            <a:ext cx="1298935" cy="129257"/>
          </a:xfrm>
          <a:prstGeom prst="rect">
            <a:avLst/>
          </a:prstGeom>
        </p:spPr>
      </p:pic>
      <p:sp>
        <p:nvSpPr>
          <p:cNvPr id="44" name="Text 41"/>
          <p:cNvSpPr/>
          <p:nvPr/>
        </p:nvSpPr>
        <p:spPr>
          <a:xfrm>
            <a:off x="685800" y="4476006"/>
            <a:ext cx="7943850" cy="262533"/>
          </a:xfrm>
          <a:prstGeom prst="roundRect">
            <a:avLst>
              <a:gd name="adj" fmla="val 14512"/>
            </a:avLst>
          </a:prstGeom>
          <a:solidFill>
            <a:srgbClr val="FCEFD9"/>
          </a:solidFill>
          <a:ln/>
        </p:spPr>
        <p:txBody>
          <a:bodyPr wrap="square" rtlCol="0" anchor="ctr"/>
          <a:lstStyle/>
          <a:p>
            <a:pPr indent="0" marL="0">
              <a:buNone/>
            </a:pPr>
            <a:endParaRPr lang="en-US" dirty="0"/>
          </a:p>
        </p:txBody>
      </p:sp>
      <p:sp>
        <p:nvSpPr>
          <p:cNvPr id="45" name="Shape 42"/>
          <p:cNvSpPr/>
          <p:nvPr/>
        </p:nvSpPr>
        <p:spPr>
          <a:xfrm>
            <a:off x="700088" y="4476006"/>
            <a:ext cx="0" cy="262533"/>
          </a:xfrm>
          <a:prstGeom prst="line">
            <a:avLst/>
          </a:prstGeom>
          <a:noFill/>
          <a:ln w="28575">
            <a:solidFill>
              <a:srgbClr val="E07B00"/>
            </a:solidFill>
            <a:prstDash val="solid"/>
          </a:ln>
        </p:spPr>
      </p:sp>
      <p:sp>
        <p:nvSpPr>
          <p:cNvPr id="46" name="Text 43"/>
          <p:cNvSpPr/>
          <p:nvPr/>
        </p:nvSpPr>
        <p:spPr>
          <a:xfrm>
            <a:off x="685800" y="4476006"/>
            <a:ext cx="7943850" cy="322600"/>
          </a:xfrm>
          <a:prstGeom prst="rect">
            <a:avLst/>
          </a:prstGeom>
          <a:noFill/>
          <a:ln/>
        </p:spPr>
        <p:txBody>
          <a:bodyPr wrap="square" lIns="114300" tIns="64294" rIns="114300" bIns="64294" rtlCol="0" anchor="t"/>
          <a:lstStyle/>
          <a:p>
            <a:pPr algn="l" indent="0" marL="0">
              <a:lnSpc>
                <a:spcPts val="1055"/>
              </a:lnSpc>
              <a:buNone/>
            </a:pPr>
            <a:r>
              <a:rPr lang="en-US" sz="800" b="1" i="1" spc="87" kern="0" dirty="0">
                <a:solidFill>
                  <a:srgbClr val="E07B00"/>
                </a:solidFill>
                <a:latin typeface="Carlito" pitchFamily="34" charset="0"/>
                <a:ea typeface="Carlito" pitchFamily="34" charset="-122"/>
                <a:cs typeface="Carlito" pitchFamily="34" charset="-120"/>
              </a:rPr>
              <a:t>NOTE</a:t>
            </a:r>
            <a:pPr algn="l" indent="0" marL="0">
              <a:lnSpc>
                <a:spcPts val="1055"/>
              </a:lnSpc>
              <a:buNone/>
            </a:pPr>
            <a:r>
              <a:rPr lang="en-US" sz="800" i="1" dirty="0">
                <a:solidFill>
                  <a:srgbClr val="14171F"/>
                </a:solidFill>
                <a:latin typeface="Carlito" pitchFamily="34" charset="0"/>
                <a:ea typeface="Carlito" pitchFamily="34" charset="-122"/>
                <a:cs typeface="Carlito" pitchFamily="34" charset="-120"/>
              </a:rPr>
              <a:t>Many equations fit multiple categories (e.g., a homogeneous linear ODE is also separable). Always choose the path of least cognitive resistance.</a:t>
            </a:r>
            <a:endParaRPr lang="en-US" sz="800" dirty="0"/>
          </a:p>
        </p:txBody>
      </p:sp>
      <p:sp>
        <p:nvSpPr>
          <p:cNvPr id="47" name="Text 44"/>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37 / 38</a:t>
            </a:r>
            <a:endParaRPr lang="en-US" sz="800" dirty="0"/>
          </a:p>
        </p:txBody>
      </p:sp>
      <p:pic>
        <p:nvPicPr>
          <p:cNvPr id="48" name="Image 1" descr="preencoded.png">    </p:cNvPr>
          <p:cNvPicPr>
            <a:picLocks noChangeAspect="1"/>
          </p:cNvPicPr>
          <p:nvPr/>
        </p:nvPicPr>
        <p:blipFill>
          <a:blip r:embed="rId2"/>
          <a:stretch>
            <a:fillRect/>
          </a:stretch>
        </p:blipFill>
        <p:spPr>
          <a:xfrm>
            <a:off x="0" y="0"/>
            <a:ext cx="17145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98264"/>
            <a:ext cx="3384222" cy="173593"/>
          </a:xfrm>
          <a:prstGeom prst="rect">
            <a:avLst/>
          </a:prstGeom>
          <a:noFill/>
          <a:ln/>
        </p:spPr>
        <p:txBody>
          <a:bodyPr wrap="square" lIns="0" tIns="0" rIns="0" bIns="0" rtlCol="0" anchor="t"/>
          <a:lstStyle/>
          <a:p>
            <a:pPr algn="l" indent="0" marL="0">
              <a:lnSpc>
                <a:spcPts val="1266"/>
              </a:lnSpc>
              <a:buNone/>
            </a:pPr>
            <a:r>
              <a:rPr lang="en-US" sz="844" b="1" spc="68" kern="0" dirty="0">
                <a:solidFill>
                  <a:srgbClr val="1F61C9"/>
                </a:solidFill>
                <a:latin typeface="Carlito" pitchFamily="34" charset="0"/>
                <a:ea typeface="Carlito" pitchFamily="34" charset="-122"/>
                <a:cs typeface="Carlito" pitchFamily="34" charset="-120"/>
              </a:rPr>
              <a:t>CONCLUSION · MASTERING THE DYNAMICS</a:t>
            </a:r>
            <a:endParaRPr lang="en-US" sz="844" dirty="0"/>
          </a:p>
        </p:txBody>
      </p:sp>
      <p:sp>
        <p:nvSpPr>
          <p:cNvPr id="3" name="Text 1"/>
          <p:cNvSpPr/>
          <p:nvPr/>
        </p:nvSpPr>
        <p:spPr>
          <a:xfrm>
            <a:off x="685800" y="659011"/>
            <a:ext cx="7943850" cy="322473"/>
          </a:xfrm>
          <a:prstGeom prst="rect">
            <a:avLst/>
          </a:prstGeom>
          <a:noFill/>
          <a:ln/>
        </p:spPr>
        <p:txBody>
          <a:bodyPr wrap="square" lIns="0" tIns="0" rIns="0" bIns="0" rtlCol="0" anchor="t"/>
          <a:lstStyle/>
          <a:p>
            <a:pPr algn="l" indent="0" marL="0">
              <a:lnSpc>
                <a:spcPts val="2351"/>
              </a:lnSpc>
              <a:buNone/>
            </a:pPr>
            <a:r>
              <a:rPr lang="en-US" sz="2138" b="1" spc="-26" kern="0" dirty="0">
                <a:solidFill>
                  <a:srgbClr val="1A2A4F"/>
                </a:solidFill>
                <a:latin typeface="Carlito" pitchFamily="34" charset="0"/>
                <a:ea typeface="Carlito" pitchFamily="34" charset="-122"/>
                <a:cs typeface="Carlito" pitchFamily="34" charset="-120"/>
              </a:rPr>
              <a:t>Summary &amp; Philosophical Conclusion</a:t>
            </a:r>
            <a:endParaRPr lang="en-US" sz="2138" dirty="0"/>
          </a:p>
        </p:txBody>
      </p:sp>
      <p:sp>
        <p:nvSpPr>
          <p:cNvPr id="4" name="Shape 2"/>
          <p:cNvSpPr/>
          <p:nvPr/>
        </p:nvSpPr>
        <p:spPr>
          <a:xfrm>
            <a:off x="685800" y="1354075"/>
            <a:ext cx="4403341" cy="0"/>
          </a:xfrm>
          <a:prstGeom prst="line">
            <a:avLst/>
          </a:prstGeom>
          <a:noFill/>
          <a:ln w="7144">
            <a:solidFill>
              <a:srgbClr val="1F61C9"/>
            </a:solidFill>
            <a:prstDash val="solid"/>
          </a:ln>
        </p:spPr>
      </p:sp>
      <p:sp>
        <p:nvSpPr>
          <p:cNvPr id="5" name="Text 3"/>
          <p:cNvSpPr/>
          <p:nvPr/>
        </p:nvSpPr>
        <p:spPr>
          <a:xfrm>
            <a:off x="685800" y="1129047"/>
            <a:ext cx="5537201" cy="250807"/>
          </a:xfrm>
          <a:prstGeom prst="rect">
            <a:avLst/>
          </a:prstGeom>
          <a:noFill/>
          <a:ln/>
        </p:spPr>
        <p:txBody>
          <a:bodyPr wrap="none" lIns="0" tIns="0" rIns="0" bIns="71438" rtlCol="0" anchor="t"/>
          <a:lstStyle/>
          <a:p>
            <a:pPr algn="l" indent="0" marL="0">
              <a:lnSpc>
                <a:spcPts val="1181"/>
              </a:lnSpc>
              <a:buNone/>
            </a:pPr>
            <a:r>
              <a:rPr lang="en-US" sz="800" b="1" spc="126" kern="0" dirty="0">
                <a:solidFill>
                  <a:srgbClr val="1F61C9"/>
                </a:solidFill>
                <a:latin typeface="Carlito" pitchFamily="34" charset="0"/>
                <a:ea typeface="Carlito" pitchFamily="34" charset="-122"/>
                <a:cs typeface="Carlito" pitchFamily="34" charset="-120"/>
              </a:rPr>
              <a:t>WHAT WE HAVE ACCOMPLISHED</a:t>
            </a:r>
            <a:endParaRPr lang="en-US" sz="800" dirty="0"/>
          </a:p>
        </p:txBody>
      </p:sp>
      <p:sp>
        <p:nvSpPr>
          <p:cNvPr id="6" name="Text 4"/>
          <p:cNvSpPr/>
          <p:nvPr/>
        </p:nvSpPr>
        <p:spPr>
          <a:xfrm>
            <a:off x="685800" y="1457660"/>
            <a:ext cx="4403341" cy="2050221"/>
          </a:xfrm>
          <a:prstGeom prst="rect">
            <a:avLst/>
          </a:prstGeom>
          <a:noFill/>
          <a:ln/>
        </p:spPr>
        <p:txBody>
          <a:bodyPr wrap="square" lIns="0" tIns="0" rIns="0" bIns="0" rtlCol="0" anchor="t"/>
          <a:lstStyle/>
          <a:p>
            <a:pPr algn="l" marL="342900" indent="-342900">
              <a:lnSpc>
                <a:spcPts val="1223"/>
              </a:lnSpc>
              <a:buSzPct val="100000"/>
              <a:buChar char="•"/>
            </a:pPr>
            <a:endParaRPr lang="en-US" sz="816" dirty="0"/>
          </a:p>
          <a:p>
            <a:pPr algn="l" indent="0" marL="0">
              <a:lnSpc>
                <a:spcPts val="1223"/>
              </a:lnSpc>
              <a:buNone/>
            </a:pPr>
            <a:r>
              <a:rPr lang="en-US" sz="816" b="1" dirty="0">
                <a:solidFill>
                  <a:srgbClr val="14171F"/>
                </a:solidFill>
                <a:latin typeface="Carlito" pitchFamily="34" charset="0"/>
                <a:ea typeface="Carlito" pitchFamily="34" charset="-122"/>
                <a:cs typeface="Carlito" pitchFamily="34" charset="-120"/>
              </a:rPr>
              <a:t>NATIVE LANGUAGE —</a:t>
            </a:r>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 Established that ODEs are the native language of dynamic systems across physics, biology, and finance.</a:t>
            </a:r>
            <a:endParaRPr lang="en-US" sz="816" dirty="0"/>
          </a:p>
          <a:p>
            <a:pPr algn="l" marL="342900" indent="-342900">
              <a:lnSpc>
                <a:spcPts val="1223"/>
              </a:lnSpc>
              <a:buSzPct val="100000"/>
              <a:buChar char="•"/>
            </a:pPr>
            <a:endParaRPr lang="en-US" sz="816" dirty="0"/>
          </a:p>
          <a:p>
            <a:pPr algn="l" indent="0" marL="0">
              <a:lnSpc>
                <a:spcPts val="1223"/>
              </a:lnSpc>
              <a:buNone/>
            </a:pPr>
            <a:r>
              <a:rPr lang="en-US" sz="816" b="1" dirty="0">
                <a:solidFill>
                  <a:srgbClr val="14171F"/>
                </a:solidFill>
                <a:latin typeface="Carlito" pitchFamily="34" charset="0"/>
                <a:ea typeface="Carlito" pitchFamily="34" charset="-122"/>
                <a:cs typeface="Carlito" pitchFamily="34" charset="-120"/>
              </a:rPr>
              <a:t>FIRST PRINCIPLES —</a:t>
            </a:r>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 Grounded every solution in its underlying logic: Separation is u-substitution; Integrating Factors are manufactured product rules; Exact Equations are multivariable potentials.</a:t>
            </a:r>
            <a:endParaRPr lang="en-US" sz="816" dirty="0"/>
          </a:p>
          <a:p>
            <a:pPr algn="l" marL="342900" indent="-342900">
              <a:lnSpc>
                <a:spcPts val="1223"/>
              </a:lnSpc>
              <a:buSzPct val="100000"/>
              <a:buChar char="•"/>
            </a:pPr>
            <a:endParaRPr lang="en-US" sz="816" dirty="0"/>
          </a:p>
          <a:p>
            <a:pPr algn="l" indent="0" marL="0">
              <a:lnSpc>
                <a:spcPts val="1223"/>
              </a:lnSpc>
              <a:buNone/>
            </a:pPr>
            <a:r>
              <a:rPr lang="en-US" sz="816" b="1" dirty="0">
                <a:solidFill>
                  <a:srgbClr val="14171F"/>
                </a:solidFill>
                <a:latin typeface="Carlito" pitchFamily="34" charset="0"/>
                <a:ea typeface="Carlito" pitchFamily="34" charset="-122"/>
                <a:cs typeface="Carlito" pitchFamily="34" charset="-120"/>
              </a:rPr>
              <a:t>CONTROL OF ERROR —</a:t>
            </a:r>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 Implemented a strict verification discipline by back-substituting every solution into the original ODE.</a:t>
            </a:r>
            <a:endParaRPr lang="en-US" sz="816" dirty="0"/>
          </a:p>
          <a:p>
            <a:pPr algn="l" marL="342900" indent="-342900">
              <a:lnSpc>
                <a:spcPts val="1223"/>
              </a:lnSpc>
              <a:buSzPct val="100000"/>
              <a:buChar char="•"/>
            </a:pPr>
            <a:endParaRPr lang="en-US" sz="816" dirty="0"/>
          </a:p>
          <a:p>
            <a:pPr algn="l" indent="0" marL="0">
              <a:lnSpc>
                <a:spcPts val="1223"/>
              </a:lnSpc>
              <a:buNone/>
            </a:pPr>
            <a:r>
              <a:rPr lang="en-US" sz="816" b="1" dirty="0">
                <a:solidFill>
                  <a:srgbClr val="14171F"/>
                </a:solidFill>
                <a:latin typeface="Carlito" pitchFamily="34" charset="0"/>
                <a:ea typeface="Carlito" pitchFamily="34" charset="-122"/>
                <a:cs typeface="Carlito" pitchFamily="34" charset="-120"/>
              </a:rPr>
              <a:t>UNIT-ECONOMY —</a:t>
            </a:r>
            <a:pPr algn="l" indent="0" marL="0">
              <a:lnSpc>
                <a:spcPts val="1223"/>
              </a:lnSpc>
              <a:buNone/>
            </a:pPr>
            <a:r>
              <a:rPr lang="en-US" sz="816" dirty="0">
                <a:solidFill>
                  <a:srgbClr val="14171F"/>
                </a:solidFill>
                <a:latin typeface="Carlito" pitchFamily="34" charset="0"/>
                <a:ea typeface="Carlito" pitchFamily="34" charset="-122"/>
                <a:cs typeface="Carlito" pitchFamily="34" charset="-120"/>
              </a:rPr>
              <a:t> Organized all possible first-order equations into a single, graspable Decision Map.</a:t>
            </a:r>
            <a:endParaRPr lang="en-US" sz="816" dirty="0"/>
          </a:p>
        </p:txBody>
      </p:sp>
      <p:sp>
        <p:nvSpPr>
          <p:cNvPr id="7" name="Text 5"/>
          <p:cNvSpPr/>
          <p:nvPr/>
        </p:nvSpPr>
        <p:spPr>
          <a:xfrm>
            <a:off x="5374891" y="1129047"/>
            <a:ext cx="3254648" cy="1405979"/>
          </a:xfrm>
          <a:prstGeom prst="roundRect">
            <a:avLst>
              <a:gd name="adj" fmla="val 2710"/>
            </a:avLst>
          </a:prstGeom>
          <a:solidFill>
            <a:srgbClr val="F6F7FB"/>
          </a:solidFill>
          <a:ln/>
        </p:spPr>
        <p:txBody>
          <a:bodyPr wrap="square" rtlCol="0" anchor="ctr"/>
          <a:lstStyle/>
          <a:p>
            <a:pPr indent="0" marL="0">
              <a:buNone/>
            </a:pPr>
            <a:endParaRPr lang="en-US" dirty="0"/>
          </a:p>
        </p:txBody>
      </p:sp>
      <p:sp>
        <p:nvSpPr>
          <p:cNvPr id="8" name="Shape 6"/>
          <p:cNvSpPr/>
          <p:nvPr/>
        </p:nvSpPr>
        <p:spPr>
          <a:xfrm>
            <a:off x="5389178" y="1129047"/>
            <a:ext cx="0" cy="1405979"/>
          </a:xfrm>
          <a:prstGeom prst="line">
            <a:avLst/>
          </a:prstGeom>
          <a:noFill/>
          <a:ln w="28575">
            <a:solidFill>
              <a:srgbClr val="1F61C9"/>
            </a:solidFill>
            <a:prstDash val="solid"/>
          </a:ln>
        </p:spPr>
      </p:sp>
      <p:sp>
        <p:nvSpPr>
          <p:cNvPr id="9" name="Text 7"/>
          <p:cNvSpPr/>
          <p:nvPr/>
        </p:nvSpPr>
        <p:spPr>
          <a:xfrm>
            <a:off x="5560628" y="1257635"/>
            <a:ext cx="2911748" cy="164592"/>
          </a:xfrm>
          <a:prstGeom prst="rect">
            <a:avLst/>
          </a:prstGeom>
          <a:noFill/>
          <a:ln/>
        </p:spPr>
        <p:txBody>
          <a:bodyPr wrap="none" lIns="0" tIns="0" rIns="0" bIns="0" rtlCol="0" anchor="t"/>
          <a:lstStyle/>
          <a:p>
            <a:pPr algn="l" indent="0" marL="0">
              <a:lnSpc>
                <a:spcPts val="1181"/>
              </a:lnSpc>
              <a:buNone/>
            </a:pPr>
            <a:r>
              <a:rPr lang="en-US" sz="800" b="1" spc="126" kern="0" dirty="0">
                <a:solidFill>
                  <a:srgbClr val="1F61C9"/>
                </a:solidFill>
                <a:latin typeface="Carlito" pitchFamily="34" charset="0"/>
                <a:ea typeface="Carlito" pitchFamily="34" charset="-122"/>
                <a:cs typeface="Carlito" pitchFamily="34" charset="-120"/>
              </a:rPr>
              <a:t>THE FINAL PRINCIPLE</a:t>
            </a:r>
            <a:endParaRPr lang="en-US" sz="800" dirty="0"/>
          </a:p>
        </p:txBody>
      </p:sp>
      <p:sp>
        <p:nvSpPr>
          <p:cNvPr id="10" name="Text 8"/>
          <p:cNvSpPr/>
          <p:nvPr/>
        </p:nvSpPr>
        <p:spPr>
          <a:xfrm>
            <a:off x="5560628" y="1493379"/>
            <a:ext cx="2911748" cy="913061"/>
          </a:xfrm>
          <a:prstGeom prst="rect">
            <a:avLst/>
          </a:prstGeom>
          <a:noFill/>
          <a:ln/>
        </p:spPr>
        <p:txBody>
          <a:bodyPr wrap="square" lIns="0" tIns="0" rIns="0" bIns="0" rtlCol="0" anchor="t"/>
          <a:lstStyle/>
          <a:p>
            <a:pPr algn="l" indent="0" marL="0">
              <a:lnSpc>
                <a:spcPts val="1439"/>
              </a:lnSpc>
              <a:buNone/>
            </a:pPr>
            <a:r>
              <a:rPr lang="en-US" sz="928" i="1" dirty="0">
                <a:solidFill>
                  <a:srgbClr val="14171F"/>
                </a:solidFill>
                <a:latin typeface="Tinos" pitchFamily="34" charset="0"/>
                <a:ea typeface="Tinos" pitchFamily="34" charset="-122"/>
                <a:cs typeface="Tinos" pitchFamily="34" charset="-120"/>
              </a:rPr>
              <a:t>Mathematics is not a series of memorized formulas; it is the science of measurement applied to the dynamics of reality. By understanding the why behind every algebraic step, you transition from mimicking mathematics to truly doing mathematics.</a:t>
            </a:r>
            <a:endParaRPr lang="en-US" sz="928" dirty="0"/>
          </a:p>
        </p:txBody>
      </p:sp>
      <p:sp>
        <p:nvSpPr>
          <p:cNvPr id="11" name="Text 9"/>
          <p:cNvSpPr/>
          <p:nvPr/>
        </p:nvSpPr>
        <p:spPr>
          <a:xfrm>
            <a:off x="685800" y="3591855"/>
            <a:ext cx="7943850" cy="370386"/>
          </a:xfrm>
          <a:prstGeom prst="rect">
            <a:avLst/>
          </a:prstGeom>
          <a:noFill/>
          <a:ln/>
        </p:spPr>
        <p:txBody>
          <a:bodyPr wrap="square" lIns="0" tIns="100013" rIns="0" bIns="57150" rtlCol="0" anchor="t">
            <a:normAutofit/>
          </a:bodyPr>
          <a:lstStyle/>
          <a:p>
            <a:pPr algn="ctr" indent="0" marL="0">
              <a:lnSpc>
                <a:spcPts val="1671"/>
              </a:lnSpc>
              <a:buNone/>
            </a:pPr>
            <a:r>
              <a:rPr lang="en-US" sz="1238" spc="-6" kern="0" dirty="0">
                <a:solidFill>
                  <a:srgbClr val="6B2FA0"/>
                </a:solidFill>
                <a:latin typeface="Carlito" pitchFamily="34" charset="0"/>
                <a:ea typeface="Carlito" pitchFamily="34" charset="-122"/>
                <a:cs typeface="Carlito" pitchFamily="34" charset="-120"/>
              </a:rPr>
              <a:t>Master the purple live-steps; the black theoretical prose takes care of itself.</a:t>
            </a:r>
            <a:endParaRPr lang="en-US" sz="1238" dirty="0"/>
          </a:p>
        </p:txBody>
      </p:sp>
      <p:sp>
        <p:nvSpPr>
          <p:cNvPr id="12" name="Text 10"/>
          <p:cNvSpPr/>
          <p:nvPr/>
        </p:nvSpPr>
        <p:spPr>
          <a:xfrm>
            <a:off x="50292" y="3989673"/>
            <a:ext cx="8579358" cy="164592"/>
          </a:xfrm>
          <a:prstGeom prst="rect">
            <a:avLst/>
          </a:prstGeom>
          <a:noFill/>
          <a:ln/>
        </p:spPr>
        <p:txBody>
          <a:bodyPr wrap="square" lIns="0" tIns="0" rIns="0" bIns="0" rtlCol="0" anchor="t"/>
          <a:lstStyle/>
          <a:p>
            <a:pPr algn="r" indent="0" marL="0">
              <a:lnSpc>
                <a:spcPts val="1181"/>
              </a:lnSpc>
              <a:buNone/>
            </a:pPr>
            <a:r>
              <a:rPr lang="en-US" sz="800" dirty="0">
                <a:solidFill>
                  <a:srgbClr val="4A5160"/>
                </a:solidFill>
                <a:latin typeface="Carlito" pitchFamily="34" charset="0"/>
                <a:ea typeface="Carlito" pitchFamily="34" charset="-122"/>
                <a:cs typeface="Carlito" pitchFamily="34" charset="-120"/>
              </a:rPr>
              <a:t>— Adam Staples · Staples Education</a:t>
            </a:r>
            <a:endParaRPr lang="en-US" sz="800" dirty="0"/>
          </a:p>
        </p:txBody>
      </p:sp>
      <p:sp>
        <p:nvSpPr>
          <p:cNvPr id="13" name="Text 11"/>
          <p:cNvSpPr/>
          <p:nvPr/>
        </p:nvSpPr>
        <p:spPr>
          <a:xfrm>
            <a:off x="8244334" y="4857750"/>
            <a:ext cx="53703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4A5160"/>
                </a:solidFill>
                <a:latin typeface="Liberation Sans Narrow" pitchFamily="34" charset="0"/>
                <a:ea typeface="Liberation Sans Narrow" pitchFamily="34" charset="-122"/>
                <a:cs typeface="Liberation Sans Narrow" pitchFamily="34" charset="-120"/>
              </a:rPr>
              <a:t>38 / 38</a:t>
            </a:r>
            <a:endParaRPr lang="en-US" sz="800" dirty="0"/>
          </a:p>
        </p:txBody>
      </p:sp>
      <p:pic>
        <p:nvPicPr>
          <p:cNvPr id="14" name="Image 0" descr="preencoded.png">    </p:cNvPr>
          <p:cNvPicPr>
            <a:picLocks noChangeAspect="1"/>
          </p:cNvPicPr>
          <p:nvPr/>
        </p:nvPicPr>
        <p:blipFill>
          <a:blip r:embed="rId1"/>
          <a:stretch>
            <a:fillRect/>
          </a:stretch>
        </p:blipFill>
        <p:spPr>
          <a:xfrm>
            <a:off x="0" y="0"/>
            <a:ext cx="17145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2026-06-19T07:22:47Z</dcterms:created>
  <dcterms:modified xsi:type="dcterms:W3CDTF">2026-06-19T07:22:47Z</dcterms:modified>
</cp:coreProperties>
</file>